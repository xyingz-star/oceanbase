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3" r:id="rId10"/>
    <p:sldId id="269" r:id="rId11"/>
    <p:sldId id="267" r:id="rId12"/>
    <p:sldId id="266" r:id="rId13"/>
    <p:sldId id="265" r:id="rId14"/>
    <p:sldId id="271" r:id="rId15"/>
    <p:sldId id="272" r:id="rId16"/>
    <p:sldId id="273" r:id="rId17"/>
    <p:sldId id="274" r:id="rId18"/>
    <p:sldId id="275" r:id="rId19"/>
    <p:sldId id="270" r:id="rId20"/>
    <p:sldId id="276" r:id="rId21"/>
    <p:sldId id="277" r:id="rId22"/>
    <p:sldId id="278" r:id="rId23"/>
    <p:sldId id="279" r:id="rId24"/>
    <p:sldId id="281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5FC"/>
    <a:srgbClr val="F0F0F0"/>
    <a:srgbClr val="F59D11"/>
    <a:srgbClr val="FF01FF"/>
    <a:srgbClr val="B24C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11"/>
    <p:restoredTop sz="94834"/>
  </p:normalViewPr>
  <p:slideViewPr>
    <p:cSldViewPr snapToGrid="0">
      <p:cViewPr varScale="1">
        <p:scale>
          <a:sx n="92" d="100"/>
          <a:sy n="92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06FF96-EFA2-C146-BE22-D7B4E67438FD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F10C2-521A-C04D-9339-BCA6DF0A040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7579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3F10C2-521A-C04D-9339-BCA6DF0A0409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0836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3F10C2-521A-C04D-9339-BCA6DF0A0409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8972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5AE69-9BE8-2CC6-1D5C-09C3B3D16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638788-0CF4-B799-18BF-3C52F8D5D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86A8FD-7D57-018C-B17D-8270B170B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B30A-1403-2246-B78C-9EB9AA055909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76477C-6C46-A059-C083-0665DB141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122D56-17FF-B5E8-D747-10198A50D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EF63-05D1-AA47-A221-DE8D3B3A10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0752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EC5E50-09AA-F5B0-59E0-B1F66B36B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86148A-304D-A7E4-52C8-0F8B07CE3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6ADC15-03EF-8D1A-3F1D-61CA3F275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B30A-1403-2246-B78C-9EB9AA055909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A7C559-2A10-F387-63AB-49BA243B6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F30940-BF57-295A-273A-9E36BB83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EF63-05D1-AA47-A221-DE8D3B3A10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6734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0AAA24-4F87-5439-B75E-8715C40F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43BB1A-8CA1-06B1-DE23-635A4B3F8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AAAD3A-309A-0B42-0741-75E65C4F3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B30A-1403-2246-B78C-9EB9AA055909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0A408C-253F-C4F1-0F47-5AAD519F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F2D41A-DDD5-DCE9-237B-297B20BF9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EF63-05D1-AA47-A221-DE8D3B3A10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7237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D18365-9346-E877-619C-AC281BB3A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177EC9-2AE4-6489-6122-2DB02FDA4B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96CBEF-6014-DD99-2766-4CEB0F8D4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70FFBE-25BE-9452-A72F-BE1DC563B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B30A-1403-2246-B78C-9EB9AA055909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42D69E-EC35-CC27-E2BA-CD28FC656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64AAC2-A9DC-17A1-2A21-DC5C855EF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EF63-05D1-AA47-A221-DE8D3B3A10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7842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42ACD1-D5F4-6A2D-9799-2AF57EFB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6E6CE5-4319-C299-CE99-8D7FC1A15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8B4B94-D7EC-9F51-D19B-CAFF14816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1B677E-C9E7-479F-421D-F94D70B7E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67DC1B7-AB44-A0E9-E066-D07D79B912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043AE4-603F-A1D1-2D1E-D9193F0F4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B30A-1403-2246-B78C-9EB9AA055909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E664EC4-5AB0-76A9-B629-C64683E93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16BB071-618C-3266-29D1-3F471D1AE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EF63-05D1-AA47-A221-DE8D3B3A10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5304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B77555-0125-061B-A5AB-85B9A925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C69B7F-F1C6-F66E-DD6A-694CFA5C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B30A-1403-2246-B78C-9EB9AA055909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DB6C3F-90BF-4E25-F8A3-ED56D5F90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0902F1-1BE2-5398-B450-90995AB9A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EF63-05D1-AA47-A221-DE8D3B3A10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02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7C5C28F-F4A7-CC37-8A29-815DBFAB0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B30A-1403-2246-B78C-9EB9AA055909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7895DE5-115E-AED8-DB34-5867EA756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27E1EE-9D6E-EBC9-EA4A-F7839792D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EF63-05D1-AA47-A221-DE8D3B3A10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220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F7D3C-1B8F-0AC8-2084-6561E8EED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6913C0-B440-D662-2005-77DCC31AB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6DEC2F-3C18-B473-6C39-9BBEC43F8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2C5A4F-9471-0F52-CE2D-CC3B6A41A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B30A-1403-2246-B78C-9EB9AA055909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868EA1-48CD-F6CF-C915-8490DAD1A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C8AB2E-A60B-1925-375E-D76C19F48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EF63-05D1-AA47-A221-DE8D3B3A10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13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DF26A-84DB-4F73-13F9-BD1D0909A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FB2AC6A-CB62-2246-8378-60512BD472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A93F8B-8E51-0494-03EC-B802819D1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C91D14-88F9-CE61-0A9E-202BCCA2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B30A-1403-2246-B78C-9EB9AA055909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FFED9E-B6BA-F052-ABFE-5490F12B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A24171-9C2B-0C9F-7ADA-55296D53A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EF63-05D1-AA47-A221-DE8D3B3A10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8116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55DC90-9524-F7E8-39C3-B50BB21BA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55D99F-D212-39AA-755E-8176A6D53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53C327-557B-C325-9A3A-0040C40FC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B30A-1403-2246-B78C-9EB9AA055909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8D98A0-FBEF-1079-2634-11EE80BE5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F39892-1556-D3A6-35C5-74D71CE7C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EF63-05D1-AA47-A221-DE8D3B3A10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3265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57BA860-E5C7-C073-E258-370300D5ED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F39817-48B6-26F9-20D3-713ED428C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597F67-A021-63F2-EA2A-9D267A640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B30A-1403-2246-B78C-9EB9AA055909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72B60B-CA67-B2E8-5523-F8FB1142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6C7467-C761-06F6-78E4-C139353D2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EF63-05D1-AA47-A221-DE8D3B3A10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7563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AC88960-3322-B802-F701-BBB2F9B23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D3344F-D6FD-1DC4-D7ED-16A6D9AB0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469FA9-4A97-B4F4-D3BE-66283303A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6B30A-1403-2246-B78C-9EB9AA055909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7EF6EC-157A-70E8-A133-0D4594934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7B5E65-12FA-60F9-53AA-4CD84F0F9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6EF63-05D1-AA47-A221-DE8D3B3A10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504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">
            <a:extLst>
              <a:ext uri="{FF2B5EF4-FFF2-40B4-BE49-F238E27FC236}">
                <a16:creationId xmlns:a16="http://schemas.microsoft.com/office/drawing/2014/main" id="{489206FE-53E7-A62D-33FC-6D4ED34228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33655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BC3995-0890-9F8D-0289-213D3ED08C3C}"/>
              </a:ext>
            </a:extLst>
          </p:cNvPr>
          <p:cNvSpPr txBox="1"/>
          <p:nvPr/>
        </p:nvSpPr>
        <p:spPr>
          <a:xfrm>
            <a:off x="1261456" y="2780725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/>
              <a:t>向量检索系统性能优化（IVF）</a:t>
            </a:r>
          </a:p>
        </p:txBody>
      </p:sp>
    </p:spTree>
    <p:extLst>
      <p:ext uri="{BB962C8B-B14F-4D97-AF65-F5344CB8AC3E}">
        <p14:creationId xmlns:p14="http://schemas.microsoft.com/office/powerpoint/2010/main" val="6159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">
            <a:extLst>
              <a:ext uri="{FF2B5EF4-FFF2-40B4-BE49-F238E27FC236}">
                <a16:creationId xmlns:a16="http://schemas.microsoft.com/office/drawing/2014/main" id="{489206FE-53E7-A62D-33FC-6D4ED34228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33655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3C0D01B-6579-A983-8CF7-024A8BDE072D}"/>
              </a:ext>
            </a:extLst>
          </p:cNvPr>
          <p:cNvSpPr txBox="1"/>
          <p:nvPr/>
        </p:nvSpPr>
        <p:spPr>
          <a:xfrm>
            <a:off x="1623752" y="835950"/>
            <a:ext cx="4472248" cy="4632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sz="2400"/>
              <a:t>目录</a:t>
            </a:r>
            <a:endParaRPr kumimoji="1" lang="en-US" altLang="zh-CN" sz="2400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kumimoji="1" lang="en-US" altLang="zh-CN" dirty="0"/>
              <a:t>IVF</a:t>
            </a:r>
            <a:r>
              <a:rPr kumimoji="1" lang="zh-CN" altLang="en-US"/>
              <a:t> 索引介绍</a:t>
            </a:r>
            <a:endParaRPr kumimoji="1"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kumimoji="1" lang="zh-CN" altLang="en-US"/>
              <a:t>索引创建性能优化</a:t>
            </a:r>
            <a:endParaRPr kumimoji="1" lang="en-US" altLang="zh-CN" dirty="0"/>
          </a:p>
          <a:p>
            <a:pPr lvl="1">
              <a:lnSpc>
                <a:spcPct val="200000"/>
              </a:lnSpc>
            </a:pPr>
            <a:r>
              <a:rPr kumimoji="1" lang="en-US" altLang="zh-CN" dirty="0"/>
              <a:t>2.1</a:t>
            </a:r>
            <a:r>
              <a:rPr kumimoji="1" lang="zh-CN" altLang="en-US"/>
              <a:t> </a:t>
            </a:r>
            <a:r>
              <a:rPr lang="en" altLang="zh-CN" dirty="0">
                <a:effectLst/>
              </a:rPr>
              <a:t>CPU </a:t>
            </a:r>
            <a:r>
              <a:rPr kumimoji="1" lang="en-US" altLang="zh-CN" sz="1800" dirty="0"/>
              <a:t>K-Means</a:t>
            </a:r>
            <a:r>
              <a:rPr lang="en" altLang="zh-CN" dirty="0">
                <a:effectLst/>
              </a:rPr>
              <a:t> </a:t>
            </a:r>
            <a:r>
              <a:rPr lang="zh-CN" altLang="en-US">
                <a:effectLst/>
              </a:rPr>
              <a:t>批处理优化</a:t>
            </a:r>
          </a:p>
          <a:p>
            <a:pPr lvl="1">
              <a:lnSpc>
                <a:spcPct val="200000"/>
              </a:lnSpc>
            </a:pPr>
            <a:r>
              <a:rPr kumimoji="1" lang="en-US" altLang="zh-CN" dirty="0"/>
              <a:t>2.2</a:t>
            </a:r>
            <a:r>
              <a:rPr kumimoji="1" lang="zh-CN" altLang="en-US"/>
              <a:t> </a:t>
            </a:r>
            <a:r>
              <a:rPr lang="en" altLang="zh-CN" dirty="0">
                <a:effectLst/>
              </a:rPr>
              <a:t>GPU </a:t>
            </a:r>
            <a:r>
              <a:rPr kumimoji="1" lang="en-US" altLang="zh-CN" sz="1800" dirty="0"/>
              <a:t>K-Means</a:t>
            </a:r>
            <a:r>
              <a:rPr lang="en" altLang="zh-CN" dirty="0">
                <a:effectLst/>
              </a:rPr>
              <a:t> </a:t>
            </a:r>
            <a:r>
              <a:rPr lang="zh-CN" altLang="en-US">
                <a:effectLst/>
              </a:rPr>
              <a:t>算子移植</a:t>
            </a:r>
            <a:endParaRPr kumimoji="1"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kumimoji="1" lang="zh-CN" altLang="en-US"/>
              <a:t>向量检索性能优化</a:t>
            </a:r>
            <a:endParaRPr kumimoji="1" lang="en-US" altLang="zh-CN" dirty="0"/>
          </a:p>
          <a:p>
            <a:pPr lvl="1">
              <a:lnSpc>
                <a:spcPct val="200000"/>
              </a:lnSpc>
            </a:pPr>
            <a:r>
              <a:rPr kumimoji="1" lang="en-US" altLang="zh-CN" dirty="0"/>
              <a:t>3.1</a:t>
            </a:r>
            <a:r>
              <a:rPr kumimoji="1" lang="zh-CN" altLang="en-US"/>
              <a:t> </a:t>
            </a:r>
            <a:r>
              <a:rPr lang="en" altLang="zh-CN" dirty="0">
                <a:effectLst/>
              </a:rPr>
              <a:t>IVF</a:t>
            </a:r>
            <a:r>
              <a:rPr lang="zh-CN" altLang="en-US">
                <a:effectLst/>
              </a:rPr>
              <a:t> 存储访问优化</a:t>
            </a:r>
            <a:endParaRPr lang="en-US" altLang="zh-CN" dirty="0">
              <a:effectLst/>
            </a:endParaRPr>
          </a:p>
          <a:p>
            <a:pPr lvl="1">
              <a:lnSpc>
                <a:spcPct val="200000"/>
              </a:lnSpc>
            </a:pPr>
            <a:r>
              <a:rPr lang="en-US" altLang="zh-CN" dirty="0">
                <a:effectLst/>
              </a:rPr>
              <a:t>3.2</a:t>
            </a:r>
            <a:r>
              <a:rPr lang="zh-CN" altLang="en-US">
                <a:effectLst/>
              </a:rPr>
              <a:t> </a:t>
            </a:r>
            <a:r>
              <a:rPr lang="en" altLang="zh-CN" dirty="0">
                <a:solidFill>
                  <a:srgbClr val="0D1239"/>
                </a:solidFill>
                <a:effectLst/>
              </a:rPr>
              <a:t>I</a:t>
            </a:r>
            <a:r>
              <a:rPr lang="en" altLang="zh-CN" dirty="0">
                <a:effectLst/>
              </a:rPr>
              <a:t>VF-PQ </a:t>
            </a:r>
            <a:r>
              <a:rPr lang="zh-CN" altLang="en-US">
                <a:effectLst/>
              </a:rPr>
              <a:t>检索精度增强</a:t>
            </a:r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38009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B69B0C2-2D2B-BF3C-599B-632876D2D5BF}"/>
              </a:ext>
            </a:extLst>
          </p:cNvPr>
          <p:cNvSpPr txBox="1"/>
          <p:nvPr/>
        </p:nvSpPr>
        <p:spPr>
          <a:xfrm>
            <a:off x="1170017" y="836461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/>
              <a:t>1.</a:t>
            </a:r>
            <a:r>
              <a:rPr lang="zh-CN" altLang="en-US" sz="3200"/>
              <a:t> IVF 索引介绍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6E4E3F-4A97-00E7-B4CB-340A1D46CEB9}"/>
              </a:ext>
            </a:extLst>
          </p:cNvPr>
          <p:cNvSpPr txBox="1"/>
          <p:nvPr/>
        </p:nvSpPr>
        <p:spPr>
          <a:xfrm>
            <a:off x="1170017" y="1704109"/>
            <a:ext cx="5719579" cy="968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/>
              <a:t>全称：</a:t>
            </a:r>
            <a:r>
              <a:rPr lang="en" altLang="zh-CN" sz="2000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Inverted File Index</a:t>
            </a:r>
            <a:r>
              <a:rPr lang="zh-CN" altLang="en" sz="2000" i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，</a:t>
            </a:r>
            <a:r>
              <a:rPr lang="zh-CN" altLang="en-US" sz="2000" i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倒排文件索引</a:t>
            </a:r>
            <a:endParaRPr lang="en-US" altLang="zh-CN" sz="2000" i="0" dirty="0">
              <a:solidFill>
                <a:srgbClr val="1F1F1F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>
                <a:solidFill>
                  <a:srgbClr val="1F1F1F"/>
                </a:solidFill>
                <a:latin typeface="Arial" panose="020B0604020202020204" pitchFamily="34" charset="0"/>
              </a:rPr>
              <a:t>功能：用于</a:t>
            </a:r>
            <a:r>
              <a:rPr lang="zh-CN" altLang="en-US" sz="2000" b="0" i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近似最近邻搜索（图</a:t>
            </a:r>
            <a:r>
              <a:rPr lang="en-US" altLang="zh-CN" sz="20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3</a:t>
            </a:r>
            <a:r>
              <a:rPr lang="zh-CN" altLang="en-US" sz="2000" b="0" i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）</a:t>
            </a:r>
            <a:endParaRPr kumimoji="1"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4C8D2F-D2C6-93D3-02F0-EEFA77D7747F}"/>
              </a:ext>
            </a:extLst>
          </p:cNvPr>
          <p:cNvSpPr/>
          <p:nvPr/>
        </p:nvSpPr>
        <p:spPr>
          <a:xfrm>
            <a:off x="9237576" y="3336097"/>
            <a:ext cx="482138" cy="4405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C1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0B66E6-753D-CDC7-9315-F876F21F39AF}"/>
              </a:ext>
            </a:extLst>
          </p:cNvPr>
          <p:cNvSpPr/>
          <p:nvPr/>
        </p:nvSpPr>
        <p:spPr>
          <a:xfrm>
            <a:off x="7102711" y="4099370"/>
            <a:ext cx="482138" cy="4405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Q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696CFF-0B67-C32A-8C66-36F956532D0E}"/>
              </a:ext>
            </a:extLst>
          </p:cNvPr>
          <p:cNvSpPr txBox="1"/>
          <p:nvPr/>
        </p:nvSpPr>
        <p:spPr>
          <a:xfrm>
            <a:off x="6777615" y="3661111"/>
            <a:ext cx="125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/>
              <a:t>查询向量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1E6F36-A14F-795F-353D-BF9747BEB5B1}"/>
              </a:ext>
            </a:extLst>
          </p:cNvPr>
          <p:cNvSpPr txBox="1"/>
          <p:nvPr/>
        </p:nvSpPr>
        <p:spPr>
          <a:xfrm>
            <a:off x="9137711" y="2625392"/>
            <a:ext cx="1064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IVF</a:t>
            </a:r>
            <a:r>
              <a:rPr kumimoji="1" lang="zh-CN" altLang="en-US"/>
              <a:t>索引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5A12232-8704-1019-C9B5-544AE7F10C1A}"/>
              </a:ext>
            </a:extLst>
          </p:cNvPr>
          <p:cNvSpPr/>
          <p:nvPr/>
        </p:nvSpPr>
        <p:spPr>
          <a:xfrm>
            <a:off x="10661746" y="3305683"/>
            <a:ext cx="482138" cy="4405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V1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D4030E-FA76-B8B7-417A-F416E97BE4F8}"/>
              </a:ext>
            </a:extLst>
          </p:cNvPr>
          <p:cNvSpPr/>
          <p:nvPr/>
        </p:nvSpPr>
        <p:spPr>
          <a:xfrm>
            <a:off x="11143882" y="3305682"/>
            <a:ext cx="482138" cy="4405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V2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62274B1-BAF0-3EA1-4D5A-3A07338FFAEF}"/>
              </a:ext>
            </a:extLst>
          </p:cNvPr>
          <p:cNvSpPr/>
          <p:nvPr/>
        </p:nvSpPr>
        <p:spPr>
          <a:xfrm>
            <a:off x="10516271" y="3214784"/>
            <a:ext cx="1255222" cy="621760"/>
          </a:xfrm>
          <a:custGeom>
            <a:avLst/>
            <a:gdLst>
              <a:gd name="connsiteX0" fmla="*/ 0 w 1255222"/>
              <a:gd name="connsiteY0" fmla="*/ 103629 h 621760"/>
              <a:gd name="connsiteX1" fmla="*/ 103629 w 1255222"/>
              <a:gd name="connsiteY1" fmla="*/ 0 h 621760"/>
              <a:gd name="connsiteX2" fmla="*/ 648570 w 1255222"/>
              <a:gd name="connsiteY2" fmla="*/ 0 h 621760"/>
              <a:gd name="connsiteX3" fmla="*/ 1151593 w 1255222"/>
              <a:gd name="connsiteY3" fmla="*/ 0 h 621760"/>
              <a:gd name="connsiteX4" fmla="*/ 1255222 w 1255222"/>
              <a:gd name="connsiteY4" fmla="*/ 103629 h 621760"/>
              <a:gd name="connsiteX5" fmla="*/ 1255222 w 1255222"/>
              <a:gd name="connsiteY5" fmla="*/ 518131 h 621760"/>
              <a:gd name="connsiteX6" fmla="*/ 1151593 w 1255222"/>
              <a:gd name="connsiteY6" fmla="*/ 621760 h 621760"/>
              <a:gd name="connsiteX7" fmla="*/ 627611 w 1255222"/>
              <a:gd name="connsiteY7" fmla="*/ 621760 h 621760"/>
              <a:gd name="connsiteX8" fmla="*/ 103629 w 1255222"/>
              <a:gd name="connsiteY8" fmla="*/ 621760 h 621760"/>
              <a:gd name="connsiteX9" fmla="*/ 0 w 1255222"/>
              <a:gd name="connsiteY9" fmla="*/ 518131 h 621760"/>
              <a:gd name="connsiteX10" fmla="*/ 0 w 1255222"/>
              <a:gd name="connsiteY10" fmla="*/ 103629 h 621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55222" h="621760" extrusionOk="0">
                <a:moveTo>
                  <a:pt x="0" y="103629"/>
                </a:moveTo>
                <a:cubicBezTo>
                  <a:pt x="-3738" y="44090"/>
                  <a:pt x="44480" y="719"/>
                  <a:pt x="103629" y="0"/>
                </a:cubicBezTo>
                <a:cubicBezTo>
                  <a:pt x="256776" y="16344"/>
                  <a:pt x="525491" y="164"/>
                  <a:pt x="648570" y="0"/>
                </a:cubicBezTo>
                <a:cubicBezTo>
                  <a:pt x="771649" y="-164"/>
                  <a:pt x="1036384" y="6130"/>
                  <a:pt x="1151593" y="0"/>
                </a:cubicBezTo>
                <a:cubicBezTo>
                  <a:pt x="1201893" y="-3793"/>
                  <a:pt x="1262249" y="49754"/>
                  <a:pt x="1255222" y="103629"/>
                </a:cubicBezTo>
                <a:cubicBezTo>
                  <a:pt x="1270584" y="274588"/>
                  <a:pt x="1237561" y="380704"/>
                  <a:pt x="1255222" y="518131"/>
                </a:cubicBezTo>
                <a:cubicBezTo>
                  <a:pt x="1258199" y="570520"/>
                  <a:pt x="1203901" y="626088"/>
                  <a:pt x="1151593" y="621760"/>
                </a:cubicBezTo>
                <a:cubicBezTo>
                  <a:pt x="1011792" y="611623"/>
                  <a:pt x="804746" y="597480"/>
                  <a:pt x="627611" y="621760"/>
                </a:cubicBezTo>
                <a:cubicBezTo>
                  <a:pt x="450476" y="646040"/>
                  <a:pt x="291630" y="614927"/>
                  <a:pt x="103629" y="621760"/>
                </a:cubicBezTo>
                <a:cubicBezTo>
                  <a:pt x="34733" y="621093"/>
                  <a:pt x="685" y="573486"/>
                  <a:pt x="0" y="518131"/>
                </a:cubicBezTo>
                <a:cubicBezTo>
                  <a:pt x="6938" y="376858"/>
                  <a:pt x="-7616" y="199033"/>
                  <a:pt x="0" y="103629"/>
                </a:cubicBezTo>
                <a:close/>
              </a:path>
            </a:pathLst>
          </a:custGeom>
          <a:noFill/>
          <a:ln>
            <a:solidFill>
              <a:srgbClr val="0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42DFE5A-8BD4-A2DE-42C7-A8F57637518E}"/>
              </a:ext>
            </a:extLst>
          </p:cNvPr>
          <p:cNvSpPr txBox="1"/>
          <p:nvPr/>
        </p:nvSpPr>
        <p:spPr>
          <a:xfrm>
            <a:off x="685903" y="5162629"/>
            <a:ext cx="2327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>
                <a:solidFill>
                  <a:srgbClr val="FF0000"/>
                </a:solidFill>
              </a:rPr>
              <a:t>如何得知数据集中离该查询向量最近的向量？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8AFE6F0-0C34-9B9C-80A6-BE9AE284E194}"/>
              </a:ext>
            </a:extLst>
          </p:cNvPr>
          <p:cNvSpPr txBox="1"/>
          <p:nvPr/>
        </p:nvSpPr>
        <p:spPr>
          <a:xfrm>
            <a:off x="10150890" y="2490507"/>
            <a:ext cx="1909917" cy="646331"/>
          </a:xfrm>
          <a:custGeom>
            <a:avLst/>
            <a:gdLst>
              <a:gd name="connsiteX0" fmla="*/ 0 w 1909917"/>
              <a:gd name="connsiteY0" fmla="*/ 0 h 646331"/>
              <a:gd name="connsiteX1" fmla="*/ 477479 w 1909917"/>
              <a:gd name="connsiteY1" fmla="*/ 0 h 646331"/>
              <a:gd name="connsiteX2" fmla="*/ 897661 w 1909917"/>
              <a:gd name="connsiteY2" fmla="*/ 0 h 646331"/>
              <a:gd name="connsiteX3" fmla="*/ 1375140 w 1909917"/>
              <a:gd name="connsiteY3" fmla="*/ 0 h 646331"/>
              <a:gd name="connsiteX4" fmla="*/ 1909917 w 1909917"/>
              <a:gd name="connsiteY4" fmla="*/ 0 h 646331"/>
              <a:gd name="connsiteX5" fmla="*/ 1909917 w 1909917"/>
              <a:gd name="connsiteY5" fmla="*/ 303776 h 646331"/>
              <a:gd name="connsiteX6" fmla="*/ 1909917 w 1909917"/>
              <a:gd name="connsiteY6" fmla="*/ 646331 h 646331"/>
              <a:gd name="connsiteX7" fmla="*/ 1432438 w 1909917"/>
              <a:gd name="connsiteY7" fmla="*/ 646331 h 646331"/>
              <a:gd name="connsiteX8" fmla="*/ 916760 w 1909917"/>
              <a:gd name="connsiteY8" fmla="*/ 646331 h 646331"/>
              <a:gd name="connsiteX9" fmla="*/ 477479 w 1909917"/>
              <a:gd name="connsiteY9" fmla="*/ 646331 h 646331"/>
              <a:gd name="connsiteX10" fmla="*/ 0 w 1909917"/>
              <a:gd name="connsiteY10" fmla="*/ 646331 h 646331"/>
              <a:gd name="connsiteX11" fmla="*/ 0 w 1909917"/>
              <a:gd name="connsiteY11" fmla="*/ 323166 h 646331"/>
              <a:gd name="connsiteX12" fmla="*/ 0 w 1909917"/>
              <a:gd name="connsiteY12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9917" h="646331" extrusionOk="0">
                <a:moveTo>
                  <a:pt x="0" y="0"/>
                </a:moveTo>
                <a:cubicBezTo>
                  <a:pt x="107646" y="-50167"/>
                  <a:pt x="362338" y="16065"/>
                  <a:pt x="477479" y="0"/>
                </a:cubicBezTo>
                <a:cubicBezTo>
                  <a:pt x="592620" y="-16065"/>
                  <a:pt x="720610" y="6062"/>
                  <a:pt x="897661" y="0"/>
                </a:cubicBezTo>
                <a:cubicBezTo>
                  <a:pt x="1074712" y="-6062"/>
                  <a:pt x="1227543" y="16529"/>
                  <a:pt x="1375140" y="0"/>
                </a:cubicBezTo>
                <a:cubicBezTo>
                  <a:pt x="1522737" y="-16529"/>
                  <a:pt x="1732484" y="61066"/>
                  <a:pt x="1909917" y="0"/>
                </a:cubicBezTo>
                <a:cubicBezTo>
                  <a:pt x="1932203" y="142641"/>
                  <a:pt x="1891840" y="195086"/>
                  <a:pt x="1909917" y="303776"/>
                </a:cubicBezTo>
                <a:cubicBezTo>
                  <a:pt x="1927994" y="412466"/>
                  <a:pt x="1908623" y="543189"/>
                  <a:pt x="1909917" y="646331"/>
                </a:cubicBezTo>
                <a:cubicBezTo>
                  <a:pt x="1811387" y="687637"/>
                  <a:pt x="1597595" y="634130"/>
                  <a:pt x="1432438" y="646331"/>
                </a:cubicBezTo>
                <a:cubicBezTo>
                  <a:pt x="1267281" y="658532"/>
                  <a:pt x="1153639" y="615435"/>
                  <a:pt x="916760" y="646331"/>
                </a:cubicBezTo>
                <a:cubicBezTo>
                  <a:pt x="679881" y="677227"/>
                  <a:pt x="578515" y="599322"/>
                  <a:pt x="477479" y="646331"/>
                </a:cubicBezTo>
                <a:cubicBezTo>
                  <a:pt x="376443" y="693340"/>
                  <a:pt x="188824" y="627838"/>
                  <a:pt x="0" y="646331"/>
                </a:cubicBezTo>
                <a:cubicBezTo>
                  <a:pt x="-11794" y="504218"/>
                  <a:pt x="32766" y="396002"/>
                  <a:pt x="0" y="323166"/>
                </a:cubicBezTo>
                <a:cubicBezTo>
                  <a:pt x="-32766" y="250331"/>
                  <a:pt x="29622" y="82789"/>
                  <a:pt x="0" y="0"/>
                </a:cubicBezTo>
                <a:close/>
              </a:path>
            </a:pathLst>
          </a:custGeom>
          <a:noFill/>
          <a:ln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30158353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kumimoji="1" lang="zh-CN" altLang="en-US" sz="1200"/>
              <a:t>正排：根据记录查找属性</a:t>
            </a:r>
            <a:endParaRPr kumimoji="1" lang="en-US" altLang="zh-CN" sz="1200" dirty="0"/>
          </a:p>
          <a:p>
            <a:r>
              <a:rPr kumimoji="1" lang="zh-CN" altLang="en-US" sz="1200"/>
              <a:t>倒排：根据属性查找记录</a:t>
            </a:r>
            <a:endParaRPr kumimoji="1" lang="en-US" altLang="zh-CN" sz="1200" dirty="0"/>
          </a:p>
          <a:p>
            <a:r>
              <a:rPr kumimoji="1" lang="zh-CN" altLang="en-US" sz="1200"/>
              <a:t>中心：簇中向量均值</a:t>
            </a:r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0E707C84-9F06-6116-3888-58C0272491BF}"/>
              </a:ext>
            </a:extLst>
          </p:cNvPr>
          <p:cNvCxnSpPr>
            <a:cxnSpLocks/>
          </p:cNvCxnSpPr>
          <p:nvPr/>
        </p:nvCxnSpPr>
        <p:spPr>
          <a:xfrm>
            <a:off x="3844958" y="3104399"/>
            <a:ext cx="0" cy="318377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34E333CE-F6A0-5653-72B7-69FE890908E9}"/>
              </a:ext>
            </a:extLst>
          </p:cNvPr>
          <p:cNvSpPr/>
          <p:nvPr/>
        </p:nvSpPr>
        <p:spPr>
          <a:xfrm>
            <a:off x="1308930" y="4083283"/>
            <a:ext cx="482138" cy="44057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Q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FC8A740-9006-F791-F93D-0EEE64C75ED1}"/>
              </a:ext>
            </a:extLst>
          </p:cNvPr>
          <p:cNvSpPr txBox="1"/>
          <p:nvPr/>
        </p:nvSpPr>
        <p:spPr>
          <a:xfrm>
            <a:off x="991961" y="3674335"/>
            <a:ext cx="125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/>
              <a:t>查询向量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9DF2D92-EC99-58C2-FEDF-AE7582EC4567}"/>
              </a:ext>
            </a:extLst>
          </p:cNvPr>
          <p:cNvSpPr txBox="1"/>
          <p:nvPr/>
        </p:nvSpPr>
        <p:spPr>
          <a:xfrm>
            <a:off x="2786234" y="3201117"/>
            <a:ext cx="125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/>
              <a:t>数据集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FD9CE83-380E-C884-4690-D6E0A1D6274A}"/>
              </a:ext>
            </a:extLst>
          </p:cNvPr>
          <p:cNvSpPr/>
          <p:nvPr/>
        </p:nvSpPr>
        <p:spPr>
          <a:xfrm>
            <a:off x="2969436" y="4090336"/>
            <a:ext cx="482138" cy="44057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V2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D74B497-F261-868E-DF13-A157866E61D9}"/>
              </a:ext>
            </a:extLst>
          </p:cNvPr>
          <p:cNvSpPr/>
          <p:nvPr/>
        </p:nvSpPr>
        <p:spPr>
          <a:xfrm>
            <a:off x="2965918" y="4966825"/>
            <a:ext cx="482138" cy="44057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Vn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8F32970-15B1-41BB-F4DC-5DA2C7D95C95}"/>
              </a:ext>
            </a:extLst>
          </p:cNvPr>
          <p:cNvSpPr txBox="1"/>
          <p:nvPr/>
        </p:nvSpPr>
        <p:spPr>
          <a:xfrm>
            <a:off x="3015792" y="4539945"/>
            <a:ext cx="38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/>
              <a:t>…</a:t>
            </a:r>
            <a:endParaRPr kumimoji="1" lang="zh-CN" altLang="en-US" sz="240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8D5F0EC-C2D5-31A6-247C-750149A3BA5D}"/>
              </a:ext>
            </a:extLst>
          </p:cNvPr>
          <p:cNvSpPr/>
          <p:nvPr/>
        </p:nvSpPr>
        <p:spPr>
          <a:xfrm>
            <a:off x="2969436" y="3661387"/>
            <a:ext cx="482138" cy="44057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</a:rPr>
              <a:t>V1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A81042A4-438A-019B-BA49-4CCE0D1CE427}"/>
              </a:ext>
            </a:extLst>
          </p:cNvPr>
          <p:cNvCxnSpPr/>
          <p:nvPr/>
        </p:nvCxnSpPr>
        <p:spPr>
          <a:xfrm>
            <a:off x="2000162" y="4337547"/>
            <a:ext cx="7860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图形 35" descr="问号 纯色填充">
            <a:extLst>
              <a:ext uri="{FF2B5EF4-FFF2-40B4-BE49-F238E27FC236}">
                <a16:creationId xmlns:a16="http://schemas.microsoft.com/office/drawing/2014/main" id="{F1776A3F-A52C-7688-C474-BC7FC231A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21671" y="4320026"/>
            <a:ext cx="914400" cy="914400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877A5EA4-EC90-2C98-5A3E-16FE4869E7F0}"/>
              </a:ext>
            </a:extLst>
          </p:cNvPr>
          <p:cNvSpPr txBox="1"/>
          <p:nvPr/>
        </p:nvSpPr>
        <p:spPr>
          <a:xfrm>
            <a:off x="1564111" y="5791102"/>
            <a:ext cx="1592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/>
              <a:t>图</a:t>
            </a:r>
            <a:r>
              <a:rPr kumimoji="1" lang="en-US" altLang="zh-CN" sz="1600"/>
              <a:t>1.</a:t>
            </a:r>
            <a:r>
              <a:rPr kumimoji="1" lang="zh-CN" altLang="en-US" sz="1600"/>
              <a:t>最近邻搜索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95DAC36-E461-B9C9-86F7-D71057CA34ED}"/>
              </a:ext>
            </a:extLst>
          </p:cNvPr>
          <p:cNvSpPr txBox="1"/>
          <p:nvPr/>
        </p:nvSpPr>
        <p:spPr>
          <a:xfrm>
            <a:off x="10009426" y="3370676"/>
            <a:ext cx="645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/>
              <a:t>簇</a:t>
            </a:r>
            <a:r>
              <a:rPr kumimoji="1" lang="en-US" altLang="zh-CN"/>
              <a:t>1</a:t>
            </a:r>
            <a:endParaRPr kumimoji="1"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D28F3E9-9542-44E4-3FE2-08D9EDA452AF}"/>
              </a:ext>
            </a:extLst>
          </p:cNvPr>
          <p:cNvSpPr txBox="1"/>
          <p:nvPr/>
        </p:nvSpPr>
        <p:spPr>
          <a:xfrm>
            <a:off x="8461891" y="3370676"/>
            <a:ext cx="764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/>
              <a:t>中心</a:t>
            </a:r>
            <a:r>
              <a:rPr kumimoji="1" lang="en-US" altLang="zh-CN"/>
              <a:t>1</a:t>
            </a:r>
            <a:endParaRPr kumimoji="1" lang="zh-CN" altLang="en-US"/>
          </a:p>
        </p:txBody>
      </p: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E470932A-3880-3CEA-288C-36B2286AE318}"/>
              </a:ext>
            </a:extLst>
          </p:cNvPr>
          <p:cNvCxnSpPr>
            <a:stCxn id="8" idx="3"/>
            <a:endCxn id="38" idx="1"/>
          </p:cNvCxnSpPr>
          <p:nvPr/>
        </p:nvCxnSpPr>
        <p:spPr>
          <a:xfrm flipV="1">
            <a:off x="9719714" y="3555342"/>
            <a:ext cx="289712" cy="1043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A4FC9C87-10A0-CFCF-A6EF-3FA09D52CEED}"/>
              </a:ext>
            </a:extLst>
          </p:cNvPr>
          <p:cNvSpPr/>
          <p:nvPr/>
        </p:nvSpPr>
        <p:spPr>
          <a:xfrm>
            <a:off x="4320359" y="4070059"/>
            <a:ext cx="482138" cy="44057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</a:rPr>
              <a:t>Q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02FEFBF-E35A-0BBC-FDAE-C495C87371E5}"/>
              </a:ext>
            </a:extLst>
          </p:cNvPr>
          <p:cNvSpPr txBox="1"/>
          <p:nvPr/>
        </p:nvSpPr>
        <p:spPr>
          <a:xfrm>
            <a:off x="4003390" y="3661111"/>
            <a:ext cx="125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/>
              <a:t>查询向量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2A430E0-3F9B-E0E6-5EC9-35253A6D2670}"/>
              </a:ext>
            </a:extLst>
          </p:cNvPr>
          <p:cNvSpPr txBox="1"/>
          <p:nvPr/>
        </p:nvSpPr>
        <p:spPr>
          <a:xfrm>
            <a:off x="5797663" y="3187893"/>
            <a:ext cx="125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/>
              <a:t>数据集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2CF0A19-7244-F845-E3BD-7E1DED85A5CE}"/>
              </a:ext>
            </a:extLst>
          </p:cNvPr>
          <p:cNvSpPr/>
          <p:nvPr/>
        </p:nvSpPr>
        <p:spPr>
          <a:xfrm>
            <a:off x="5980865" y="4077112"/>
            <a:ext cx="482138" cy="44057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</a:rPr>
              <a:t>V2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2BA1B3C-4DE4-AB29-CB44-1DC10E61C5CA}"/>
              </a:ext>
            </a:extLst>
          </p:cNvPr>
          <p:cNvSpPr/>
          <p:nvPr/>
        </p:nvSpPr>
        <p:spPr>
          <a:xfrm>
            <a:off x="5977347" y="4953601"/>
            <a:ext cx="482138" cy="44057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err="1">
                <a:solidFill>
                  <a:schemeClr val="tx1"/>
                </a:solidFill>
              </a:rPr>
              <a:t>Vn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AC80813-30D6-FC01-C069-2581BF1B3B9E}"/>
              </a:ext>
            </a:extLst>
          </p:cNvPr>
          <p:cNvSpPr txBox="1"/>
          <p:nvPr/>
        </p:nvSpPr>
        <p:spPr>
          <a:xfrm>
            <a:off x="6027221" y="4526721"/>
            <a:ext cx="38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/>
              <a:t>…</a:t>
            </a:r>
            <a:endParaRPr kumimoji="1" lang="zh-CN" altLang="en-US" sz="240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4DA0D74-1C17-0AD6-BB76-FEAD73DAC851}"/>
              </a:ext>
            </a:extLst>
          </p:cNvPr>
          <p:cNvSpPr/>
          <p:nvPr/>
        </p:nvSpPr>
        <p:spPr>
          <a:xfrm>
            <a:off x="5980865" y="3648163"/>
            <a:ext cx="482138" cy="44057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</a:rPr>
              <a:t>V1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AA97B0F4-44CD-C3AE-9E3E-5BBE3C0D5A3E}"/>
              </a:ext>
            </a:extLst>
          </p:cNvPr>
          <p:cNvCxnSpPr>
            <a:cxnSpLocks/>
          </p:cNvCxnSpPr>
          <p:nvPr/>
        </p:nvCxnSpPr>
        <p:spPr>
          <a:xfrm flipV="1">
            <a:off x="5011591" y="3929135"/>
            <a:ext cx="831134" cy="4067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B2358F31-BE77-2761-424A-8CD4FC8B79AB}"/>
              </a:ext>
            </a:extLst>
          </p:cNvPr>
          <p:cNvSpPr txBox="1"/>
          <p:nvPr/>
        </p:nvSpPr>
        <p:spPr>
          <a:xfrm>
            <a:off x="4653988" y="5808233"/>
            <a:ext cx="1415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/>
              <a:t>图</a:t>
            </a:r>
            <a:r>
              <a:rPr kumimoji="1" lang="en-US" altLang="zh-CN" sz="1600"/>
              <a:t>2.</a:t>
            </a:r>
            <a:r>
              <a:rPr kumimoji="1" lang="zh-CN" altLang="en-US" sz="1600"/>
              <a:t>精确搜索</a:t>
            </a:r>
          </a:p>
        </p:txBody>
      </p: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56522291-4145-37A2-089B-36FE11211956}"/>
              </a:ext>
            </a:extLst>
          </p:cNvPr>
          <p:cNvCxnSpPr>
            <a:cxnSpLocks/>
          </p:cNvCxnSpPr>
          <p:nvPr/>
        </p:nvCxnSpPr>
        <p:spPr>
          <a:xfrm flipV="1">
            <a:off x="5023327" y="4320026"/>
            <a:ext cx="819398" cy="175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0319E8C-79CA-F5D8-1089-CEB1D82DE037}"/>
              </a:ext>
            </a:extLst>
          </p:cNvPr>
          <p:cNvCxnSpPr>
            <a:cxnSpLocks/>
          </p:cNvCxnSpPr>
          <p:nvPr/>
        </p:nvCxnSpPr>
        <p:spPr>
          <a:xfrm>
            <a:off x="5018333" y="4323999"/>
            <a:ext cx="831134" cy="8335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D154E6C7-5F8F-BF66-DA14-1531797D2117}"/>
              </a:ext>
            </a:extLst>
          </p:cNvPr>
          <p:cNvSpPr txBox="1"/>
          <p:nvPr/>
        </p:nvSpPr>
        <p:spPr>
          <a:xfrm>
            <a:off x="4041456" y="4745673"/>
            <a:ext cx="1529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>
                <a:solidFill>
                  <a:srgbClr val="FF0000"/>
                </a:solidFill>
              </a:rPr>
              <a:t>逐项计算距离，精确但慢</a:t>
            </a:r>
          </a:p>
        </p:txBody>
      </p: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FD51D99D-548A-34B8-AE26-8A28D895A49D}"/>
              </a:ext>
            </a:extLst>
          </p:cNvPr>
          <p:cNvCxnSpPr>
            <a:cxnSpLocks/>
          </p:cNvCxnSpPr>
          <p:nvPr/>
        </p:nvCxnSpPr>
        <p:spPr>
          <a:xfrm>
            <a:off x="6739107" y="3104398"/>
            <a:ext cx="0" cy="318377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4633472D-BDD0-30DF-5172-2E6F68307095}"/>
              </a:ext>
            </a:extLst>
          </p:cNvPr>
          <p:cNvSpPr/>
          <p:nvPr/>
        </p:nvSpPr>
        <p:spPr>
          <a:xfrm>
            <a:off x="9237576" y="4112655"/>
            <a:ext cx="482138" cy="4405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</a:rPr>
              <a:t>C2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A2079E0-4136-5963-E096-A7EA1049AA43}"/>
              </a:ext>
            </a:extLst>
          </p:cNvPr>
          <p:cNvSpPr/>
          <p:nvPr/>
        </p:nvSpPr>
        <p:spPr>
          <a:xfrm>
            <a:off x="10661746" y="4082241"/>
            <a:ext cx="482138" cy="4405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</a:rPr>
              <a:t>V3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E78F024-D18E-A2F1-C432-B25868F4208F}"/>
              </a:ext>
            </a:extLst>
          </p:cNvPr>
          <p:cNvSpPr txBox="1"/>
          <p:nvPr/>
        </p:nvSpPr>
        <p:spPr>
          <a:xfrm>
            <a:off x="10009426" y="4147234"/>
            <a:ext cx="645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/>
              <a:t>簇</a:t>
            </a:r>
            <a:r>
              <a:rPr kumimoji="1" lang="en-US" altLang="zh-CN"/>
              <a:t>2</a:t>
            </a:r>
            <a:endParaRPr kumimoji="1"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2ACF2CB6-A40F-5A14-4CCF-8B0D354CCC29}"/>
              </a:ext>
            </a:extLst>
          </p:cNvPr>
          <p:cNvSpPr txBox="1"/>
          <p:nvPr/>
        </p:nvSpPr>
        <p:spPr>
          <a:xfrm>
            <a:off x="8461891" y="4147234"/>
            <a:ext cx="764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/>
              <a:t>中心</a:t>
            </a:r>
            <a:r>
              <a:rPr kumimoji="1" lang="en-US" altLang="zh-CN"/>
              <a:t>2</a:t>
            </a:r>
            <a:endParaRPr kumimoji="1" lang="zh-CN" altLang="en-US"/>
          </a:p>
        </p:txBody>
      </p: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7ADE4DBF-6343-580C-CB55-7AF3B55B0A45}"/>
              </a:ext>
            </a:extLst>
          </p:cNvPr>
          <p:cNvCxnSpPr>
            <a:stCxn id="63" idx="3"/>
            <a:endCxn id="67" idx="1"/>
          </p:cNvCxnSpPr>
          <p:nvPr/>
        </p:nvCxnSpPr>
        <p:spPr>
          <a:xfrm flipV="1">
            <a:off x="9719714" y="4331900"/>
            <a:ext cx="289712" cy="1043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B3FB5596-85A2-8BBD-605B-53472DABFE9A}"/>
              </a:ext>
            </a:extLst>
          </p:cNvPr>
          <p:cNvSpPr/>
          <p:nvPr/>
        </p:nvSpPr>
        <p:spPr>
          <a:xfrm>
            <a:off x="9237576" y="5108212"/>
            <a:ext cx="482138" cy="4405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3A1DF04-E404-8BC6-5A4A-D2CF9C6B1CF1}"/>
              </a:ext>
            </a:extLst>
          </p:cNvPr>
          <p:cNvSpPr/>
          <p:nvPr/>
        </p:nvSpPr>
        <p:spPr>
          <a:xfrm>
            <a:off x="10661746" y="5077798"/>
            <a:ext cx="482138" cy="4405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</a:rPr>
              <a:t>V5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1C908A3A-6981-0AE5-0169-F087AABA35F1}"/>
              </a:ext>
            </a:extLst>
          </p:cNvPr>
          <p:cNvSpPr txBox="1"/>
          <p:nvPr/>
        </p:nvSpPr>
        <p:spPr>
          <a:xfrm>
            <a:off x="10009426" y="5142791"/>
            <a:ext cx="645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/>
              <a:t>簇</a:t>
            </a:r>
            <a:r>
              <a:rPr kumimoji="1" lang="en-US" altLang="zh-CN"/>
              <a:t>2</a:t>
            </a:r>
            <a:endParaRPr kumimoji="1"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0E4F055A-3E74-E1E4-1521-EA250AB61B13}"/>
              </a:ext>
            </a:extLst>
          </p:cNvPr>
          <p:cNvSpPr txBox="1"/>
          <p:nvPr/>
        </p:nvSpPr>
        <p:spPr>
          <a:xfrm>
            <a:off x="8468689" y="5142791"/>
            <a:ext cx="893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/>
              <a:t>中心</a:t>
            </a:r>
            <a:r>
              <a:rPr kumimoji="1" lang="en-US" altLang="zh-CN"/>
              <a:t>k</a:t>
            </a:r>
            <a:endParaRPr kumimoji="1" lang="zh-CN" altLang="en-US"/>
          </a:p>
        </p:txBody>
      </p: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AE7CE179-3F7D-403E-CD2A-A185B873BE1C}"/>
              </a:ext>
            </a:extLst>
          </p:cNvPr>
          <p:cNvCxnSpPr>
            <a:stCxn id="70" idx="3"/>
            <a:endCxn id="73" idx="1"/>
          </p:cNvCxnSpPr>
          <p:nvPr/>
        </p:nvCxnSpPr>
        <p:spPr>
          <a:xfrm flipV="1">
            <a:off x="9719714" y="5327457"/>
            <a:ext cx="289712" cy="1043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8978E4EF-18E2-A201-8CA1-7EEFC5CD74F5}"/>
              </a:ext>
            </a:extLst>
          </p:cNvPr>
          <p:cNvSpPr txBox="1"/>
          <p:nvPr/>
        </p:nvSpPr>
        <p:spPr>
          <a:xfrm>
            <a:off x="9287450" y="4595899"/>
            <a:ext cx="38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/>
              <a:t>…</a:t>
            </a:r>
            <a:endParaRPr kumimoji="1" lang="zh-CN" altLang="en-US" sz="240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21AECE4-4092-B4CD-551D-EBE9306B3119}"/>
              </a:ext>
            </a:extLst>
          </p:cNvPr>
          <p:cNvSpPr txBox="1"/>
          <p:nvPr/>
        </p:nvSpPr>
        <p:spPr>
          <a:xfrm>
            <a:off x="9198699" y="5137347"/>
            <a:ext cx="583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>
                <a:solidFill>
                  <a:schemeClr val="tx1"/>
                </a:solidFill>
              </a:rPr>
              <a:t>Ck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89EA19D-6F4B-5AF6-8C4D-26A4FA4263E5}"/>
              </a:ext>
            </a:extLst>
          </p:cNvPr>
          <p:cNvSpPr/>
          <p:nvPr/>
        </p:nvSpPr>
        <p:spPr>
          <a:xfrm>
            <a:off x="11150665" y="5077798"/>
            <a:ext cx="482138" cy="4405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err="1">
                <a:solidFill>
                  <a:schemeClr val="tx1"/>
                </a:solidFill>
              </a:rPr>
              <a:t>Vn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9CA5FD59-18A9-0BAF-5625-CD6C679A5A2C}"/>
              </a:ext>
            </a:extLst>
          </p:cNvPr>
          <p:cNvCxnSpPr>
            <a:cxnSpLocks/>
          </p:cNvCxnSpPr>
          <p:nvPr/>
        </p:nvCxnSpPr>
        <p:spPr>
          <a:xfrm>
            <a:off x="7680552" y="4323139"/>
            <a:ext cx="83549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3C92CF75-C4C9-016C-45B4-67705B9A5512}"/>
              </a:ext>
            </a:extLst>
          </p:cNvPr>
          <p:cNvSpPr txBox="1"/>
          <p:nvPr/>
        </p:nvSpPr>
        <p:spPr>
          <a:xfrm>
            <a:off x="6889601" y="4777527"/>
            <a:ext cx="1485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>
                <a:solidFill>
                  <a:schemeClr val="accent6">
                    <a:lumMod val="75000"/>
                  </a:schemeClr>
                </a:solidFill>
              </a:rPr>
              <a:t>先找最近中心</a:t>
            </a:r>
            <a:endParaRPr kumimoji="1" lang="en-US" altLang="zh-CN" sz="1600">
              <a:solidFill>
                <a:schemeClr val="accent6">
                  <a:lumMod val="75000"/>
                </a:schemeClr>
              </a:solidFill>
            </a:endParaRPr>
          </a:p>
          <a:p>
            <a:r>
              <a:rPr kumimoji="1" lang="zh-CN" altLang="en-US" sz="1600">
                <a:solidFill>
                  <a:schemeClr val="accent6">
                    <a:lumMod val="75000"/>
                  </a:schemeClr>
                </a:solidFill>
              </a:rPr>
              <a:t>再遍历簇</a:t>
            </a:r>
            <a:endParaRPr kumimoji="1" lang="en-US" altLang="zh-CN" sz="1600">
              <a:solidFill>
                <a:schemeClr val="accent6">
                  <a:lumMod val="75000"/>
                </a:schemeClr>
              </a:solidFill>
            </a:endParaRPr>
          </a:p>
          <a:p>
            <a:r>
              <a:rPr kumimoji="1" lang="zh-CN" altLang="en-US" sz="1600">
                <a:solidFill>
                  <a:schemeClr val="accent6">
                    <a:lumMod val="75000"/>
                  </a:schemeClr>
                </a:solidFill>
              </a:rPr>
              <a:t>近似但快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CBBF45A-ABBE-912B-C6A4-23D1E576A82D}"/>
              </a:ext>
            </a:extLst>
          </p:cNvPr>
          <p:cNvSpPr txBox="1"/>
          <p:nvPr/>
        </p:nvSpPr>
        <p:spPr>
          <a:xfrm>
            <a:off x="8319683" y="5810422"/>
            <a:ext cx="2551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/>
              <a:t>图</a:t>
            </a:r>
            <a:r>
              <a:rPr kumimoji="1" lang="en-US" altLang="zh-CN" sz="1600"/>
              <a:t>3.</a:t>
            </a:r>
            <a:r>
              <a:rPr kumimoji="1" lang="zh-CN" altLang="en-US" sz="1600">
                <a:highlight>
                  <a:srgbClr val="FFFF00"/>
                </a:highlight>
              </a:rPr>
              <a:t>基于</a:t>
            </a:r>
            <a:r>
              <a:rPr kumimoji="1" lang="en-US" altLang="zh-CN" sz="1600">
                <a:highlight>
                  <a:srgbClr val="FFFF00"/>
                </a:highlight>
              </a:rPr>
              <a:t>IVF</a:t>
            </a:r>
            <a:r>
              <a:rPr kumimoji="1" lang="zh-CN" altLang="en-US" sz="1600">
                <a:highlight>
                  <a:srgbClr val="FFFF00"/>
                </a:highlight>
              </a:rPr>
              <a:t>的近似搜索</a:t>
            </a:r>
          </a:p>
        </p:txBody>
      </p:sp>
      <p:sp>
        <p:nvSpPr>
          <p:cNvPr id="87" name="圆角矩形 86">
            <a:extLst>
              <a:ext uri="{FF2B5EF4-FFF2-40B4-BE49-F238E27FC236}">
                <a16:creationId xmlns:a16="http://schemas.microsoft.com/office/drawing/2014/main" id="{37E6C915-741B-1DEF-1A4B-12A286B721B9}"/>
              </a:ext>
            </a:extLst>
          </p:cNvPr>
          <p:cNvSpPr/>
          <p:nvPr/>
        </p:nvSpPr>
        <p:spPr>
          <a:xfrm>
            <a:off x="10528743" y="3980359"/>
            <a:ext cx="684478" cy="621760"/>
          </a:xfrm>
          <a:custGeom>
            <a:avLst/>
            <a:gdLst>
              <a:gd name="connsiteX0" fmla="*/ 0 w 684478"/>
              <a:gd name="connsiteY0" fmla="*/ 103629 h 621760"/>
              <a:gd name="connsiteX1" fmla="*/ 103629 w 684478"/>
              <a:gd name="connsiteY1" fmla="*/ 0 h 621760"/>
              <a:gd name="connsiteX2" fmla="*/ 580849 w 684478"/>
              <a:gd name="connsiteY2" fmla="*/ 0 h 621760"/>
              <a:gd name="connsiteX3" fmla="*/ 684478 w 684478"/>
              <a:gd name="connsiteY3" fmla="*/ 103629 h 621760"/>
              <a:gd name="connsiteX4" fmla="*/ 684478 w 684478"/>
              <a:gd name="connsiteY4" fmla="*/ 518131 h 621760"/>
              <a:gd name="connsiteX5" fmla="*/ 580849 w 684478"/>
              <a:gd name="connsiteY5" fmla="*/ 621760 h 621760"/>
              <a:gd name="connsiteX6" fmla="*/ 103629 w 684478"/>
              <a:gd name="connsiteY6" fmla="*/ 621760 h 621760"/>
              <a:gd name="connsiteX7" fmla="*/ 0 w 684478"/>
              <a:gd name="connsiteY7" fmla="*/ 518131 h 621760"/>
              <a:gd name="connsiteX8" fmla="*/ 0 w 684478"/>
              <a:gd name="connsiteY8" fmla="*/ 103629 h 621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478" h="621760" extrusionOk="0">
                <a:moveTo>
                  <a:pt x="0" y="103629"/>
                </a:moveTo>
                <a:cubicBezTo>
                  <a:pt x="-3738" y="44090"/>
                  <a:pt x="44480" y="719"/>
                  <a:pt x="103629" y="0"/>
                </a:cubicBezTo>
                <a:cubicBezTo>
                  <a:pt x="301943" y="-18024"/>
                  <a:pt x="403522" y="-4978"/>
                  <a:pt x="580849" y="0"/>
                </a:cubicBezTo>
                <a:cubicBezTo>
                  <a:pt x="630126" y="-6052"/>
                  <a:pt x="683446" y="48513"/>
                  <a:pt x="684478" y="103629"/>
                </a:cubicBezTo>
                <a:cubicBezTo>
                  <a:pt x="702061" y="292395"/>
                  <a:pt x="691227" y="346574"/>
                  <a:pt x="684478" y="518131"/>
                </a:cubicBezTo>
                <a:cubicBezTo>
                  <a:pt x="685676" y="572899"/>
                  <a:pt x="631999" y="620829"/>
                  <a:pt x="580849" y="621760"/>
                </a:cubicBezTo>
                <a:cubicBezTo>
                  <a:pt x="484270" y="622798"/>
                  <a:pt x="287428" y="634194"/>
                  <a:pt x="103629" y="621760"/>
                </a:cubicBezTo>
                <a:cubicBezTo>
                  <a:pt x="43269" y="626933"/>
                  <a:pt x="-6820" y="567453"/>
                  <a:pt x="0" y="518131"/>
                </a:cubicBezTo>
                <a:cubicBezTo>
                  <a:pt x="9785" y="425406"/>
                  <a:pt x="8785" y="298214"/>
                  <a:pt x="0" y="103629"/>
                </a:cubicBezTo>
                <a:close/>
              </a:path>
            </a:pathLst>
          </a:custGeom>
          <a:noFill/>
          <a:ln>
            <a:solidFill>
              <a:srgbClr val="0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FA743009-F4E5-1527-737E-77CC412DA699}"/>
              </a:ext>
            </a:extLst>
          </p:cNvPr>
          <p:cNvSpPr/>
          <p:nvPr/>
        </p:nvSpPr>
        <p:spPr>
          <a:xfrm>
            <a:off x="10542900" y="4987205"/>
            <a:ext cx="1255222" cy="621760"/>
          </a:xfrm>
          <a:custGeom>
            <a:avLst/>
            <a:gdLst>
              <a:gd name="connsiteX0" fmla="*/ 0 w 1255222"/>
              <a:gd name="connsiteY0" fmla="*/ 103629 h 621760"/>
              <a:gd name="connsiteX1" fmla="*/ 103629 w 1255222"/>
              <a:gd name="connsiteY1" fmla="*/ 0 h 621760"/>
              <a:gd name="connsiteX2" fmla="*/ 648570 w 1255222"/>
              <a:gd name="connsiteY2" fmla="*/ 0 h 621760"/>
              <a:gd name="connsiteX3" fmla="*/ 1151593 w 1255222"/>
              <a:gd name="connsiteY3" fmla="*/ 0 h 621760"/>
              <a:gd name="connsiteX4" fmla="*/ 1255222 w 1255222"/>
              <a:gd name="connsiteY4" fmla="*/ 103629 h 621760"/>
              <a:gd name="connsiteX5" fmla="*/ 1255222 w 1255222"/>
              <a:gd name="connsiteY5" fmla="*/ 518131 h 621760"/>
              <a:gd name="connsiteX6" fmla="*/ 1151593 w 1255222"/>
              <a:gd name="connsiteY6" fmla="*/ 621760 h 621760"/>
              <a:gd name="connsiteX7" fmla="*/ 627611 w 1255222"/>
              <a:gd name="connsiteY7" fmla="*/ 621760 h 621760"/>
              <a:gd name="connsiteX8" fmla="*/ 103629 w 1255222"/>
              <a:gd name="connsiteY8" fmla="*/ 621760 h 621760"/>
              <a:gd name="connsiteX9" fmla="*/ 0 w 1255222"/>
              <a:gd name="connsiteY9" fmla="*/ 518131 h 621760"/>
              <a:gd name="connsiteX10" fmla="*/ 0 w 1255222"/>
              <a:gd name="connsiteY10" fmla="*/ 103629 h 621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55222" h="621760" extrusionOk="0">
                <a:moveTo>
                  <a:pt x="0" y="103629"/>
                </a:moveTo>
                <a:cubicBezTo>
                  <a:pt x="-3738" y="44090"/>
                  <a:pt x="44480" y="719"/>
                  <a:pt x="103629" y="0"/>
                </a:cubicBezTo>
                <a:cubicBezTo>
                  <a:pt x="256776" y="16344"/>
                  <a:pt x="525491" y="164"/>
                  <a:pt x="648570" y="0"/>
                </a:cubicBezTo>
                <a:cubicBezTo>
                  <a:pt x="771649" y="-164"/>
                  <a:pt x="1036384" y="6130"/>
                  <a:pt x="1151593" y="0"/>
                </a:cubicBezTo>
                <a:cubicBezTo>
                  <a:pt x="1201893" y="-3793"/>
                  <a:pt x="1262249" y="49754"/>
                  <a:pt x="1255222" y="103629"/>
                </a:cubicBezTo>
                <a:cubicBezTo>
                  <a:pt x="1270584" y="274588"/>
                  <a:pt x="1237561" y="380704"/>
                  <a:pt x="1255222" y="518131"/>
                </a:cubicBezTo>
                <a:cubicBezTo>
                  <a:pt x="1258199" y="570520"/>
                  <a:pt x="1203901" y="626088"/>
                  <a:pt x="1151593" y="621760"/>
                </a:cubicBezTo>
                <a:cubicBezTo>
                  <a:pt x="1011792" y="611623"/>
                  <a:pt x="804746" y="597480"/>
                  <a:pt x="627611" y="621760"/>
                </a:cubicBezTo>
                <a:cubicBezTo>
                  <a:pt x="450476" y="646040"/>
                  <a:pt x="291630" y="614927"/>
                  <a:pt x="103629" y="621760"/>
                </a:cubicBezTo>
                <a:cubicBezTo>
                  <a:pt x="34733" y="621093"/>
                  <a:pt x="685" y="573486"/>
                  <a:pt x="0" y="518131"/>
                </a:cubicBezTo>
                <a:cubicBezTo>
                  <a:pt x="6938" y="376858"/>
                  <a:pt x="-7616" y="199033"/>
                  <a:pt x="0" y="103629"/>
                </a:cubicBezTo>
                <a:close/>
              </a:path>
            </a:pathLst>
          </a:custGeom>
          <a:noFill/>
          <a:ln>
            <a:solidFill>
              <a:srgbClr val="0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620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EE04CF6-6E81-AA1C-3C2B-FA08172168DF}"/>
              </a:ext>
            </a:extLst>
          </p:cNvPr>
          <p:cNvSpPr txBox="1"/>
          <p:nvPr/>
        </p:nvSpPr>
        <p:spPr>
          <a:xfrm>
            <a:off x="1170018" y="1704109"/>
            <a:ext cx="6422974" cy="507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>
                <a:solidFill>
                  <a:srgbClr val="1F1F1F"/>
                </a:solidFill>
                <a:latin typeface="Arial" panose="020B0604020202020204" pitchFamily="34" charset="0"/>
              </a:rPr>
              <a:t>索引创建：簇与中心如何获得？</a:t>
            </a:r>
            <a:r>
              <a:rPr kumimoji="1" lang="en-US" altLang="zh-CN" sz="2000"/>
              <a:t> </a:t>
            </a:r>
            <a:r>
              <a:rPr kumimoji="1" lang="en-US" altLang="zh-CN" sz="2000">
                <a:highlight>
                  <a:srgbClr val="FFFF00"/>
                </a:highlight>
              </a:rPr>
              <a:t>K-Means</a:t>
            </a:r>
            <a:r>
              <a:rPr kumimoji="1" lang="zh-CN" altLang="en-US" sz="2000">
                <a:highlight>
                  <a:srgbClr val="FFFF00"/>
                </a:highlight>
              </a:rPr>
              <a:t> 算法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BBFE829-6D46-4F8B-1740-8D9B7D5DFE93}"/>
              </a:ext>
            </a:extLst>
          </p:cNvPr>
          <p:cNvSpPr txBox="1"/>
          <p:nvPr/>
        </p:nvSpPr>
        <p:spPr>
          <a:xfrm>
            <a:off x="1170017" y="836461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/>
              <a:t>1.</a:t>
            </a:r>
            <a:r>
              <a:rPr lang="zh-CN" altLang="en-US" sz="3200"/>
              <a:t> IVF 索引介绍</a:t>
            </a: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0D855D8-8841-CC3C-DC63-2D13567AC89A}"/>
              </a:ext>
            </a:extLst>
          </p:cNvPr>
          <p:cNvGrpSpPr/>
          <p:nvPr/>
        </p:nvGrpSpPr>
        <p:grpSpPr>
          <a:xfrm>
            <a:off x="1261641" y="2313148"/>
            <a:ext cx="10600479" cy="4313358"/>
            <a:chOff x="1261641" y="2313148"/>
            <a:chExt cx="10600479" cy="4313358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4815440F-790F-5F45-AD69-5F511303C6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31" r="1421"/>
            <a:stretch/>
          </p:blipFill>
          <p:spPr bwMode="auto">
            <a:xfrm>
              <a:off x="1261641" y="2313148"/>
              <a:ext cx="6215605" cy="4313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乘 3">
              <a:extLst>
                <a:ext uri="{FF2B5EF4-FFF2-40B4-BE49-F238E27FC236}">
                  <a16:creationId xmlns:a16="http://schemas.microsoft.com/office/drawing/2014/main" id="{D75791AC-A43C-2298-CC94-E2AF5869235E}"/>
                </a:ext>
              </a:extLst>
            </p:cNvPr>
            <p:cNvSpPr/>
            <p:nvPr/>
          </p:nvSpPr>
          <p:spPr>
            <a:xfrm>
              <a:off x="4676172" y="3475300"/>
              <a:ext cx="300941" cy="289367"/>
            </a:xfrm>
            <a:prstGeom prst="mathMultipl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乘 4">
              <a:extLst>
                <a:ext uri="{FF2B5EF4-FFF2-40B4-BE49-F238E27FC236}">
                  <a16:creationId xmlns:a16="http://schemas.microsoft.com/office/drawing/2014/main" id="{837D65A6-10FB-7B72-4FD6-DD1E5DA6C724}"/>
                </a:ext>
              </a:extLst>
            </p:cNvPr>
            <p:cNvSpPr/>
            <p:nvPr/>
          </p:nvSpPr>
          <p:spPr>
            <a:xfrm>
              <a:off x="3671104" y="2907014"/>
              <a:ext cx="300941" cy="289367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乘 13">
              <a:extLst>
                <a:ext uri="{FF2B5EF4-FFF2-40B4-BE49-F238E27FC236}">
                  <a16:creationId xmlns:a16="http://schemas.microsoft.com/office/drawing/2014/main" id="{0D806925-B9BC-0B00-5E6F-9B9E123101B7}"/>
                </a:ext>
              </a:extLst>
            </p:cNvPr>
            <p:cNvSpPr/>
            <p:nvPr/>
          </p:nvSpPr>
          <p:spPr>
            <a:xfrm>
              <a:off x="6913948" y="3475300"/>
              <a:ext cx="300941" cy="289367"/>
            </a:xfrm>
            <a:prstGeom prst="mathMultipl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乘 14">
              <a:extLst>
                <a:ext uri="{FF2B5EF4-FFF2-40B4-BE49-F238E27FC236}">
                  <a16:creationId xmlns:a16="http://schemas.microsoft.com/office/drawing/2014/main" id="{E950AB11-FB5A-846A-14C9-38233419E45D}"/>
                </a:ext>
              </a:extLst>
            </p:cNvPr>
            <p:cNvSpPr/>
            <p:nvPr/>
          </p:nvSpPr>
          <p:spPr>
            <a:xfrm>
              <a:off x="5876080" y="2918589"/>
              <a:ext cx="300941" cy="289367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乘 15">
              <a:extLst>
                <a:ext uri="{FF2B5EF4-FFF2-40B4-BE49-F238E27FC236}">
                  <a16:creationId xmlns:a16="http://schemas.microsoft.com/office/drawing/2014/main" id="{BF84AE60-7AFD-2E14-978F-7FCD18AEC00E}"/>
                </a:ext>
              </a:extLst>
            </p:cNvPr>
            <p:cNvSpPr/>
            <p:nvPr/>
          </p:nvSpPr>
          <p:spPr>
            <a:xfrm>
              <a:off x="1734273" y="5443800"/>
              <a:ext cx="300941" cy="289367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乘 19">
              <a:extLst>
                <a:ext uri="{FF2B5EF4-FFF2-40B4-BE49-F238E27FC236}">
                  <a16:creationId xmlns:a16="http://schemas.microsoft.com/office/drawing/2014/main" id="{04D31BC5-F4D6-F1E3-D434-7B3C28107E59}"/>
                </a:ext>
              </a:extLst>
            </p:cNvPr>
            <p:cNvSpPr/>
            <p:nvPr/>
          </p:nvSpPr>
          <p:spPr>
            <a:xfrm>
              <a:off x="2253200" y="5119166"/>
              <a:ext cx="300941" cy="289367"/>
            </a:xfrm>
            <a:prstGeom prst="mathMultipl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乘 20">
              <a:extLst>
                <a:ext uri="{FF2B5EF4-FFF2-40B4-BE49-F238E27FC236}">
                  <a16:creationId xmlns:a16="http://schemas.microsoft.com/office/drawing/2014/main" id="{3FEC3146-8FC6-DA33-CA64-2F099643BB75}"/>
                </a:ext>
              </a:extLst>
            </p:cNvPr>
            <p:cNvSpPr/>
            <p:nvPr/>
          </p:nvSpPr>
          <p:spPr>
            <a:xfrm>
              <a:off x="4467826" y="5116535"/>
              <a:ext cx="300941" cy="289367"/>
            </a:xfrm>
            <a:prstGeom prst="mathMultipl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" name="乘 23">
              <a:extLst>
                <a:ext uri="{FF2B5EF4-FFF2-40B4-BE49-F238E27FC236}">
                  <a16:creationId xmlns:a16="http://schemas.microsoft.com/office/drawing/2014/main" id="{B8BB78FE-2757-0C7D-B6C4-8A28FF0C3A5E}"/>
                </a:ext>
              </a:extLst>
            </p:cNvPr>
            <p:cNvSpPr/>
            <p:nvPr/>
          </p:nvSpPr>
          <p:spPr>
            <a:xfrm>
              <a:off x="3948895" y="5443800"/>
              <a:ext cx="300941" cy="289367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乘 26">
              <a:extLst>
                <a:ext uri="{FF2B5EF4-FFF2-40B4-BE49-F238E27FC236}">
                  <a16:creationId xmlns:a16="http://schemas.microsoft.com/office/drawing/2014/main" id="{1FDEBA6F-9177-5C3E-71DD-F04098CD4E19}"/>
                </a:ext>
              </a:extLst>
            </p:cNvPr>
            <p:cNvSpPr/>
            <p:nvPr/>
          </p:nvSpPr>
          <p:spPr>
            <a:xfrm>
              <a:off x="6082495" y="5707534"/>
              <a:ext cx="300941" cy="289367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" name="乘 32">
              <a:extLst>
                <a:ext uri="{FF2B5EF4-FFF2-40B4-BE49-F238E27FC236}">
                  <a16:creationId xmlns:a16="http://schemas.microsoft.com/office/drawing/2014/main" id="{8765464A-3740-1176-697C-12DDEC642CB0}"/>
                </a:ext>
              </a:extLst>
            </p:cNvPr>
            <p:cNvSpPr/>
            <p:nvPr/>
          </p:nvSpPr>
          <p:spPr>
            <a:xfrm>
              <a:off x="6740325" y="5019878"/>
              <a:ext cx="300941" cy="289367"/>
            </a:xfrm>
            <a:prstGeom prst="mathMultipl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A8F37EFB-7395-21AA-DE9F-72124BAEBBDD}"/>
                </a:ext>
              </a:extLst>
            </p:cNvPr>
            <p:cNvSpPr txBox="1"/>
            <p:nvPr/>
          </p:nvSpPr>
          <p:spPr>
            <a:xfrm>
              <a:off x="7949878" y="3089787"/>
              <a:ext cx="3912242" cy="26451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(a) 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获得含 </a:t>
              </a:r>
              <a:r>
                <a:rPr lang="en-US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N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 个样本点的数据集</a:t>
              </a:r>
              <a:endParaRPr lang="en-US" altLang="zh-CN" sz="1600" b="0" i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(</a:t>
              </a:r>
              <a:r>
                <a:rPr lang="en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b) 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初始化 </a:t>
              </a:r>
              <a:r>
                <a:rPr lang="en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K 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个中心（如红</a:t>
              </a:r>
              <a:r>
                <a:rPr lang="en-US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×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、蓝</a:t>
              </a:r>
              <a:r>
                <a:rPr lang="en-US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×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）</a:t>
              </a:r>
              <a:br>
                <a:rPr lang="zh-CN" altLang="en-US" sz="1600"/>
              </a:br>
              <a:r>
                <a:rPr lang="en-US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(</a:t>
              </a:r>
              <a:r>
                <a:rPr lang="en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c) </a:t>
              </a:r>
              <a:r>
                <a:rPr lang="zh-CN" altLang="e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各样本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点分配至最近中心 </a:t>
              </a:r>
              <a:endParaRPr lang="en-US" altLang="zh-CN" sz="1600" b="0" i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(</a:t>
              </a:r>
              <a:r>
                <a:rPr lang="en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d) 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重新计算各簇中心</a:t>
              </a:r>
              <a:br>
                <a:rPr lang="zh-CN" altLang="en-US" sz="1600"/>
              </a:br>
              <a:r>
                <a:rPr lang="en-US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(</a:t>
              </a:r>
              <a:r>
                <a:rPr lang="en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e) 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重复样本分配环节</a:t>
              </a:r>
              <a:endParaRPr lang="en-US" altLang="zh-CN" sz="1600" b="0" i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(</a:t>
              </a:r>
              <a:r>
                <a:rPr lang="en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f) 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 </a:t>
              </a:r>
              <a:r>
                <a:rPr lang="zh-CN" altLang="e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重复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计算各簇中心</a:t>
              </a:r>
              <a:br>
                <a:rPr lang="zh-CN" altLang="en-US" sz="1600"/>
              </a:br>
              <a:endParaRPr lang="zh-CN" altLang="en-US" sz="1600" b="0" i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16195DB-E14D-542A-5E3B-9B081FCC2828}"/>
                </a:ext>
              </a:extLst>
            </p:cNvPr>
            <p:cNvSpPr txBox="1"/>
            <p:nvPr/>
          </p:nvSpPr>
          <p:spPr>
            <a:xfrm>
              <a:off x="7852457" y="5807687"/>
              <a:ext cx="25782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800">
                  <a:solidFill>
                    <a:srgbClr val="0D1239"/>
                  </a:solidFill>
                  <a:latin typeface="PingFang SC" panose="020B0400000000000000" pitchFamily="34" charset="-122"/>
                  <a:ea typeface="PingFang SC" panose="020B0400000000000000" pitchFamily="34" charset="-122"/>
                </a:rPr>
                <a:t> </a:t>
              </a:r>
              <a:r>
                <a:rPr lang="zh-CN" altLang="en-US">
                  <a:solidFill>
                    <a:srgbClr val="0D1239"/>
                  </a:solidFill>
                  <a:latin typeface="PingFang SC" panose="020B0400000000000000" pitchFamily="34" charset="-122"/>
                  <a:ea typeface="PingFang SC" panose="020B0400000000000000" pitchFamily="34" charset="-122"/>
                </a:rPr>
                <a:t>中</a:t>
              </a:r>
              <a:r>
                <a:rPr lang="zh-CN" altLang="en-US" sz="18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心稳定 → 聚类完成</a:t>
              </a:r>
              <a:endParaRPr lang="zh-CN" altLang="en-US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DD35E981-D013-B691-2C0E-CBA594BB44AC}"/>
                </a:ext>
              </a:extLst>
            </p:cNvPr>
            <p:cNvSpPr txBox="1"/>
            <p:nvPr/>
          </p:nvSpPr>
          <p:spPr>
            <a:xfrm>
              <a:off x="8876827" y="5309245"/>
              <a:ext cx="11111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/>
                <a:t>…</a:t>
              </a:r>
              <a:endParaRPr kumimoji="1" lang="zh-CN" altLang="en-US" sz="280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38FAB2CB-B733-46C0-71B6-5C6C85455DD3}"/>
                </a:ext>
              </a:extLst>
            </p:cNvPr>
            <p:cNvSpPr txBox="1"/>
            <p:nvPr/>
          </p:nvSpPr>
          <p:spPr>
            <a:xfrm>
              <a:off x="9432411" y="5386985"/>
              <a:ext cx="11227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>
                  <a:highlight>
                    <a:srgbClr val="FFFF00"/>
                  </a:highlight>
                </a:rPr>
                <a:t>迭代多轮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2656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B69B0C2-2D2B-BF3C-599B-632876D2D5BF}"/>
              </a:ext>
            </a:extLst>
          </p:cNvPr>
          <p:cNvSpPr txBox="1"/>
          <p:nvPr/>
        </p:nvSpPr>
        <p:spPr>
          <a:xfrm>
            <a:off x="1170017" y="836461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/>
              <a:t>2.</a:t>
            </a:r>
            <a:r>
              <a:rPr lang="zh-CN" altLang="en-US" sz="3200"/>
              <a:t> 索引创建性能优化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6E4E3F-4A97-00E7-B4CB-340A1D46CEB9}"/>
              </a:ext>
            </a:extLst>
          </p:cNvPr>
          <p:cNvSpPr txBox="1"/>
          <p:nvPr/>
        </p:nvSpPr>
        <p:spPr>
          <a:xfrm>
            <a:off x="1170017" y="1704109"/>
            <a:ext cx="8633740" cy="507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/>
              <a:t>索引创建性能瓶颈：</a:t>
            </a:r>
            <a:r>
              <a:rPr kumimoji="1" lang="en-US" altLang="zh-CN" sz="2000"/>
              <a:t>K-Means</a:t>
            </a:r>
            <a:r>
              <a:rPr kumimoji="1" lang="zh-CN" altLang="en-US" sz="2000"/>
              <a:t> 算法复杂度高</a:t>
            </a:r>
            <a:endParaRPr kumimoji="1" lang="en-US" altLang="zh-CN" sz="200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789BDD0-2972-17F7-3797-F98F4D86FCE4}"/>
              </a:ext>
            </a:extLst>
          </p:cNvPr>
          <p:cNvGrpSpPr/>
          <p:nvPr/>
        </p:nvGrpSpPr>
        <p:grpSpPr>
          <a:xfrm>
            <a:off x="1261641" y="2313148"/>
            <a:ext cx="10600479" cy="4313358"/>
            <a:chOff x="1261641" y="2313148"/>
            <a:chExt cx="10600479" cy="4313358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D48054D3-7F22-5660-BE05-2B1A092172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31" r="1421"/>
            <a:stretch/>
          </p:blipFill>
          <p:spPr bwMode="auto">
            <a:xfrm>
              <a:off x="1261641" y="2313148"/>
              <a:ext cx="6215605" cy="4313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乘 14">
              <a:extLst>
                <a:ext uri="{FF2B5EF4-FFF2-40B4-BE49-F238E27FC236}">
                  <a16:creationId xmlns:a16="http://schemas.microsoft.com/office/drawing/2014/main" id="{525484A8-4DD9-BA7B-A197-50410F658B7C}"/>
                </a:ext>
              </a:extLst>
            </p:cNvPr>
            <p:cNvSpPr/>
            <p:nvPr/>
          </p:nvSpPr>
          <p:spPr>
            <a:xfrm>
              <a:off x="4676172" y="3475300"/>
              <a:ext cx="300941" cy="289367"/>
            </a:xfrm>
            <a:prstGeom prst="mathMultipl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乘 15">
              <a:extLst>
                <a:ext uri="{FF2B5EF4-FFF2-40B4-BE49-F238E27FC236}">
                  <a16:creationId xmlns:a16="http://schemas.microsoft.com/office/drawing/2014/main" id="{AFFFFA48-32E9-DFCE-A9B8-01A6C97960C8}"/>
                </a:ext>
              </a:extLst>
            </p:cNvPr>
            <p:cNvSpPr/>
            <p:nvPr/>
          </p:nvSpPr>
          <p:spPr>
            <a:xfrm>
              <a:off x="3671104" y="2907014"/>
              <a:ext cx="300941" cy="289367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乘 19">
              <a:extLst>
                <a:ext uri="{FF2B5EF4-FFF2-40B4-BE49-F238E27FC236}">
                  <a16:creationId xmlns:a16="http://schemas.microsoft.com/office/drawing/2014/main" id="{8C7569A9-926A-F9D9-D6A0-47E8A94B581F}"/>
                </a:ext>
              </a:extLst>
            </p:cNvPr>
            <p:cNvSpPr/>
            <p:nvPr/>
          </p:nvSpPr>
          <p:spPr>
            <a:xfrm>
              <a:off x="6913948" y="3475300"/>
              <a:ext cx="300941" cy="289367"/>
            </a:xfrm>
            <a:prstGeom prst="mathMultipl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乘 20">
              <a:extLst>
                <a:ext uri="{FF2B5EF4-FFF2-40B4-BE49-F238E27FC236}">
                  <a16:creationId xmlns:a16="http://schemas.microsoft.com/office/drawing/2014/main" id="{1ABDABCC-F5CB-AE03-8347-6A5E095F2D65}"/>
                </a:ext>
              </a:extLst>
            </p:cNvPr>
            <p:cNvSpPr/>
            <p:nvPr/>
          </p:nvSpPr>
          <p:spPr>
            <a:xfrm>
              <a:off x="5876080" y="2918589"/>
              <a:ext cx="300941" cy="289367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乘 22">
              <a:extLst>
                <a:ext uri="{FF2B5EF4-FFF2-40B4-BE49-F238E27FC236}">
                  <a16:creationId xmlns:a16="http://schemas.microsoft.com/office/drawing/2014/main" id="{901FDA79-C03E-FF67-AA3E-FFE7AC470BCF}"/>
                </a:ext>
              </a:extLst>
            </p:cNvPr>
            <p:cNvSpPr/>
            <p:nvPr/>
          </p:nvSpPr>
          <p:spPr>
            <a:xfrm>
              <a:off x="1734273" y="5443800"/>
              <a:ext cx="300941" cy="289367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" name="乘 23">
              <a:extLst>
                <a:ext uri="{FF2B5EF4-FFF2-40B4-BE49-F238E27FC236}">
                  <a16:creationId xmlns:a16="http://schemas.microsoft.com/office/drawing/2014/main" id="{1E4BFE8C-298F-4BEB-A3D7-799D87FECB1D}"/>
                </a:ext>
              </a:extLst>
            </p:cNvPr>
            <p:cNvSpPr/>
            <p:nvPr/>
          </p:nvSpPr>
          <p:spPr>
            <a:xfrm>
              <a:off x="2253200" y="5119166"/>
              <a:ext cx="300941" cy="289367"/>
            </a:xfrm>
            <a:prstGeom prst="mathMultipl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乘 26">
              <a:extLst>
                <a:ext uri="{FF2B5EF4-FFF2-40B4-BE49-F238E27FC236}">
                  <a16:creationId xmlns:a16="http://schemas.microsoft.com/office/drawing/2014/main" id="{A889F20D-0AB6-BC4C-2A1A-0C431520D53A}"/>
                </a:ext>
              </a:extLst>
            </p:cNvPr>
            <p:cNvSpPr/>
            <p:nvPr/>
          </p:nvSpPr>
          <p:spPr>
            <a:xfrm>
              <a:off x="4467826" y="5116535"/>
              <a:ext cx="300941" cy="289367"/>
            </a:xfrm>
            <a:prstGeom prst="mathMultipl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" name="乘 32">
              <a:extLst>
                <a:ext uri="{FF2B5EF4-FFF2-40B4-BE49-F238E27FC236}">
                  <a16:creationId xmlns:a16="http://schemas.microsoft.com/office/drawing/2014/main" id="{3DE30063-B673-D88A-4470-C78C6F286DE4}"/>
                </a:ext>
              </a:extLst>
            </p:cNvPr>
            <p:cNvSpPr/>
            <p:nvPr/>
          </p:nvSpPr>
          <p:spPr>
            <a:xfrm>
              <a:off x="3948895" y="5443800"/>
              <a:ext cx="300941" cy="289367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" name="乘 34">
              <a:extLst>
                <a:ext uri="{FF2B5EF4-FFF2-40B4-BE49-F238E27FC236}">
                  <a16:creationId xmlns:a16="http://schemas.microsoft.com/office/drawing/2014/main" id="{CBAEF652-5130-54A7-706A-55B434FA18CA}"/>
                </a:ext>
              </a:extLst>
            </p:cNvPr>
            <p:cNvSpPr/>
            <p:nvPr/>
          </p:nvSpPr>
          <p:spPr>
            <a:xfrm>
              <a:off x="6082495" y="5707534"/>
              <a:ext cx="300941" cy="289367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乘 39">
              <a:extLst>
                <a:ext uri="{FF2B5EF4-FFF2-40B4-BE49-F238E27FC236}">
                  <a16:creationId xmlns:a16="http://schemas.microsoft.com/office/drawing/2014/main" id="{7845EB5C-CC8D-730E-FDEA-60353B9EF19E}"/>
                </a:ext>
              </a:extLst>
            </p:cNvPr>
            <p:cNvSpPr/>
            <p:nvPr/>
          </p:nvSpPr>
          <p:spPr>
            <a:xfrm>
              <a:off x="6740325" y="5019878"/>
              <a:ext cx="300941" cy="289367"/>
            </a:xfrm>
            <a:prstGeom prst="mathMultipl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8D894A1-4B17-0522-7A9C-AF7A94E8A7B3}"/>
                </a:ext>
              </a:extLst>
            </p:cNvPr>
            <p:cNvSpPr txBox="1"/>
            <p:nvPr/>
          </p:nvSpPr>
          <p:spPr>
            <a:xfrm>
              <a:off x="7949878" y="3089787"/>
              <a:ext cx="3912242" cy="26451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(a) 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获得含 </a:t>
              </a:r>
              <a:r>
                <a:rPr lang="en-US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N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 个样本点的数据集</a:t>
              </a:r>
              <a:endParaRPr lang="en-US" altLang="zh-CN" sz="1600" b="0" i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(</a:t>
              </a:r>
              <a:r>
                <a:rPr lang="en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b) 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初始化 </a:t>
              </a:r>
              <a:r>
                <a:rPr lang="en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K 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个中心（如红</a:t>
              </a:r>
              <a:r>
                <a:rPr lang="en-US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×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、蓝</a:t>
              </a:r>
              <a:r>
                <a:rPr lang="en-US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×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）</a:t>
              </a:r>
              <a:br>
                <a:rPr lang="zh-CN" altLang="en-US" sz="1600"/>
              </a:br>
              <a:r>
                <a:rPr lang="en-US" altLang="zh-CN" sz="1600" b="1" i="0">
                  <a:solidFill>
                    <a:srgbClr val="FF0000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(</a:t>
              </a:r>
              <a:r>
                <a:rPr lang="en" altLang="zh-CN" sz="1600" b="1" i="0">
                  <a:solidFill>
                    <a:srgbClr val="FF0000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c) </a:t>
              </a:r>
              <a:r>
                <a:rPr lang="zh-CN" altLang="en" sz="1600" b="1" i="0">
                  <a:solidFill>
                    <a:srgbClr val="FF0000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各样本</a:t>
              </a:r>
              <a:r>
                <a:rPr lang="zh-CN" altLang="en-US" sz="1600" b="1" i="0">
                  <a:solidFill>
                    <a:srgbClr val="FF0000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点分配至最近中心 </a:t>
              </a:r>
              <a:endParaRPr lang="en-US" altLang="zh-CN" sz="1600" b="1" i="0">
                <a:solidFill>
                  <a:srgbClr val="FF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(</a:t>
              </a:r>
              <a:r>
                <a:rPr lang="en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d) 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重新计算各簇中心</a:t>
              </a:r>
              <a:br>
                <a:rPr lang="zh-CN" altLang="en-US" sz="1600"/>
              </a:br>
              <a:r>
                <a:rPr lang="en-US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(</a:t>
              </a:r>
              <a:r>
                <a:rPr lang="en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e) 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重复样本分配环节</a:t>
              </a:r>
              <a:endParaRPr lang="en-US" altLang="zh-CN" sz="1600" b="0" i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(</a:t>
              </a:r>
              <a:r>
                <a:rPr lang="en" altLang="zh-C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f) 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 </a:t>
              </a:r>
              <a:r>
                <a:rPr lang="zh-CN" altLang="en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重复</a:t>
              </a:r>
              <a:r>
                <a:rPr lang="zh-CN" altLang="en-US" sz="16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计算各簇中心</a:t>
              </a:r>
              <a:br>
                <a:rPr lang="zh-CN" altLang="en-US" sz="1600"/>
              </a:br>
              <a:endParaRPr lang="zh-CN" altLang="en-US" sz="1600" b="0" i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1AB97214-5A39-3D03-221C-B75A993448C7}"/>
                </a:ext>
              </a:extLst>
            </p:cNvPr>
            <p:cNvSpPr txBox="1"/>
            <p:nvPr/>
          </p:nvSpPr>
          <p:spPr>
            <a:xfrm>
              <a:off x="7852457" y="5807687"/>
              <a:ext cx="25782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800">
                  <a:solidFill>
                    <a:srgbClr val="0D1239"/>
                  </a:solidFill>
                  <a:latin typeface="PingFang SC" panose="020B0400000000000000" pitchFamily="34" charset="-122"/>
                  <a:ea typeface="PingFang SC" panose="020B0400000000000000" pitchFamily="34" charset="-122"/>
                </a:rPr>
                <a:t> </a:t>
              </a:r>
              <a:r>
                <a:rPr lang="zh-CN" altLang="en-US" sz="18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质心稳定 → 聚类完成</a:t>
              </a:r>
              <a:endParaRPr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BA540A8-2880-A260-68F4-C731201090E0}"/>
                </a:ext>
              </a:extLst>
            </p:cNvPr>
            <p:cNvSpPr txBox="1"/>
            <p:nvPr/>
          </p:nvSpPr>
          <p:spPr>
            <a:xfrm>
              <a:off x="8876827" y="5309245"/>
              <a:ext cx="11111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/>
                <a:t>…</a:t>
              </a:r>
              <a:endParaRPr kumimoji="1" lang="zh-CN" altLang="en-US" sz="2800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366D4276-B644-27A2-987F-ACC00DDB2045}"/>
                </a:ext>
              </a:extLst>
            </p:cNvPr>
            <p:cNvSpPr txBox="1"/>
            <p:nvPr/>
          </p:nvSpPr>
          <p:spPr>
            <a:xfrm>
              <a:off x="9432411" y="5386985"/>
              <a:ext cx="11227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/>
                <a:t>迭代多轮</a:t>
              </a: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76652684-8922-82F0-9C54-F3DB8A903EDC}"/>
              </a:ext>
            </a:extLst>
          </p:cNvPr>
          <p:cNvSpPr txBox="1"/>
          <p:nvPr/>
        </p:nvSpPr>
        <p:spPr>
          <a:xfrm>
            <a:off x="7847635" y="1582414"/>
            <a:ext cx="3912243" cy="1162819"/>
          </a:xfrm>
          <a:custGeom>
            <a:avLst/>
            <a:gdLst>
              <a:gd name="connsiteX0" fmla="*/ 0 w 3912243"/>
              <a:gd name="connsiteY0" fmla="*/ 0 h 1162819"/>
              <a:gd name="connsiteX1" fmla="*/ 652041 w 3912243"/>
              <a:gd name="connsiteY1" fmla="*/ 0 h 1162819"/>
              <a:gd name="connsiteX2" fmla="*/ 1382326 w 3912243"/>
              <a:gd name="connsiteY2" fmla="*/ 0 h 1162819"/>
              <a:gd name="connsiteX3" fmla="*/ 2112611 w 3912243"/>
              <a:gd name="connsiteY3" fmla="*/ 0 h 1162819"/>
              <a:gd name="connsiteX4" fmla="*/ 2725529 w 3912243"/>
              <a:gd name="connsiteY4" fmla="*/ 0 h 1162819"/>
              <a:gd name="connsiteX5" fmla="*/ 3912243 w 3912243"/>
              <a:gd name="connsiteY5" fmla="*/ 0 h 1162819"/>
              <a:gd name="connsiteX6" fmla="*/ 3912243 w 3912243"/>
              <a:gd name="connsiteY6" fmla="*/ 546525 h 1162819"/>
              <a:gd name="connsiteX7" fmla="*/ 3912243 w 3912243"/>
              <a:gd name="connsiteY7" fmla="*/ 1162819 h 1162819"/>
              <a:gd name="connsiteX8" fmla="*/ 3377570 w 3912243"/>
              <a:gd name="connsiteY8" fmla="*/ 1162819 h 1162819"/>
              <a:gd name="connsiteX9" fmla="*/ 2842897 w 3912243"/>
              <a:gd name="connsiteY9" fmla="*/ 1162819 h 1162819"/>
              <a:gd name="connsiteX10" fmla="*/ 2112611 w 3912243"/>
              <a:gd name="connsiteY10" fmla="*/ 1162819 h 1162819"/>
              <a:gd name="connsiteX11" fmla="*/ 1499693 w 3912243"/>
              <a:gd name="connsiteY11" fmla="*/ 1162819 h 1162819"/>
              <a:gd name="connsiteX12" fmla="*/ 925898 w 3912243"/>
              <a:gd name="connsiteY12" fmla="*/ 1162819 h 1162819"/>
              <a:gd name="connsiteX13" fmla="*/ 0 w 3912243"/>
              <a:gd name="connsiteY13" fmla="*/ 1162819 h 1162819"/>
              <a:gd name="connsiteX14" fmla="*/ 0 w 3912243"/>
              <a:gd name="connsiteY14" fmla="*/ 569781 h 1162819"/>
              <a:gd name="connsiteX15" fmla="*/ 0 w 3912243"/>
              <a:gd name="connsiteY15" fmla="*/ 0 h 116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12243" h="1162819" extrusionOk="0">
                <a:moveTo>
                  <a:pt x="0" y="0"/>
                </a:moveTo>
                <a:cubicBezTo>
                  <a:pt x="222070" y="4356"/>
                  <a:pt x="407418" y="24654"/>
                  <a:pt x="652041" y="0"/>
                </a:cubicBezTo>
                <a:cubicBezTo>
                  <a:pt x="896664" y="-24654"/>
                  <a:pt x="1077848" y="13143"/>
                  <a:pt x="1382326" y="0"/>
                </a:cubicBezTo>
                <a:cubicBezTo>
                  <a:pt x="1686804" y="-13143"/>
                  <a:pt x="1911455" y="-32382"/>
                  <a:pt x="2112611" y="0"/>
                </a:cubicBezTo>
                <a:cubicBezTo>
                  <a:pt x="2313767" y="32382"/>
                  <a:pt x="2463506" y="-29364"/>
                  <a:pt x="2725529" y="0"/>
                </a:cubicBezTo>
                <a:cubicBezTo>
                  <a:pt x="2987552" y="29364"/>
                  <a:pt x="3455819" y="48324"/>
                  <a:pt x="3912243" y="0"/>
                </a:cubicBezTo>
                <a:cubicBezTo>
                  <a:pt x="3899988" y="159479"/>
                  <a:pt x="3928938" y="308716"/>
                  <a:pt x="3912243" y="546525"/>
                </a:cubicBezTo>
                <a:cubicBezTo>
                  <a:pt x="3895548" y="784334"/>
                  <a:pt x="3900550" y="928995"/>
                  <a:pt x="3912243" y="1162819"/>
                </a:cubicBezTo>
                <a:cubicBezTo>
                  <a:pt x="3727250" y="1179998"/>
                  <a:pt x="3579691" y="1151838"/>
                  <a:pt x="3377570" y="1162819"/>
                </a:cubicBezTo>
                <a:cubicBezTo>
                  <a:pt x="3175449" y="1173800"/>
                  <a:pt x="3103381" y="1173014"/>
                  <a:pt x="2842897" y="1162819"/>
                </a:cubicBezTo>
                <a:cubicBezTo>
                  <a:pt x="2582413" y="1152624"/>
                  <a:pt x="2266541" y="1129220"/>
                  <a:pt x="2112611" y="1162819"/>
                </a:cubicBezTo>
                <a:cubicBezTo>
                  <a:pt x="1958681" y="1196418"/>
                  <a:pt x="1705673" y="1171043"/>
                  <a:pt x="1499693" y="1162819"/>
                </a:cubicBezTo>
                <a:cubicBezTo>
                  <a:pt x="1293713" y="1154595"/>
                  <a:pt x="1173169" y="1161037"/>
                  <a:pt x="925898" y="1162819"/>
                </a:cubicBezTo>
                <a:cubicBezTo>
                  <a:pt x="678627" y="1164601"/>
                  <a:pt x="284368" y="1180600"/>
                  <a:pt x="0" y="1162819"/>
                </a:cubicBezTo>
                <a:cubicBezTo>
                  <a:pt x="4" y="879358"/>
                  <a:pt x="-10297" y="860410"/>
                  <a:pt x="0" y="569781"/>
                </a:cubicBezTo>
                <a:cubicBezTo>
                  <a:pt x="10297" y="279152"/>
                  <a:pt x="20367" y="277833"/>
                  <a:pt x="0" y="0"/>
                </a:cubicBezTo>
                <a:close/>
              </a:path>
            </a:pathLst>
          </a:custGeom>
          <a:noFill/>
          <a:ln w="127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84816682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FF0000"/>
                </a:solidFill>
              </a:rPr>
              <a:t>假设样本点数 N、维度 D、聚类中心数 K</a:t>
            </a: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FF0000"/>
                </a:solidFill>
              </a:rPr>
              <a:t>单轮迭代复杂度 O(N*D*K)</a:t>
            </a: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FF0000"/>
                </a:solidFill>
              </a:rPr>
              <a:t>*需要计算</a:t>
            </a:r>
            <a:r>
              <a:rPr lang="zh-CN" altLang="en-US" sz="1600">
                <a:solidFill>
                  <a:srgbClr val="FF0000"/>
                </a:solidFill>
                <a:highlight>
                  <a:srgbClr val="FFFF00"/>
                </a:highlight>
              </a:rPr>
              <a:t>所有样本到所有中心</a:t>
            </a:r>
            <a:r>
              <a:rPr lang="zh-CN" altLang="en-US" sz="1600">
                <a:solidFill>
                  <a:srgbClr val="FF0000"/>
                </a:solidFill>
              </a:rPr>
              <a:t>的距离</a:t>
            </a:r>
          </a:p>
        </p:txBody>
      </p:sp>
      <p:sp>
        <p:nvSpPr>
          <p:cNvPr id="59" name="弧 58">
            <a:extLst>
              <a:ext uri="{FF2B5EF4-FFF2-40B4-BE49-F238E27FC236}">
                <a16:creationId xmlns:a16="http://schemas.microsoft.com/office/drawing/2014/main" id="{9B7624D3-0992-1735-9796-80CC305E6BDE}"/>
              </a:ext>
            </a:extLst>
          </p:cNvPr>
          <p:cNvSpPr/>
          <p:nvPr/>
        </p:nvSpPr>
        <p:spPr>
          <a:xfrm rot="10800000">
            <a:off x="7710671" y="2745635"/>
            <a:ext cx="481278" cy="1297280"/>
          </a:xfrm>
          <a:prstGeom prst="arc">
            <a:avLst>
              <a:gd name="adj1" fmla="val 16200000"/>
              <a:gd name="adj2" fmla="val 5212749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36372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B69B0C2-2D2B-BF3C-599B-632876D2D5BF}"/>
              </a:ext>
            </a:extLst>
          </p:cNvPr>
          <p:cNvSpPr txBox="1"/>
          <p:nvPr/>
        </p:nvSpPr>
        <p:spPr>
          <a:xfrm>
            <a:off x="1170017" y="507600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/>
              <a:t>2.</a:t>
            </a:r>
            <a:r>
              <a:rPr lang="zh-CN" altLang="en-US" sz="3200"/>
              <a:t> 索引创建性能优化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6E4E3F-4A97-00E7-B4CB-340A1D46CEB9}"/>
              </a:ext>
            </a:extLst>
          </p:cNvPr>
          <p:cNvSpPr txBox="1"/>
          <p:nvPr/>
        </p:nvSpPr>
        <p:spPr>
          <a:xfrm>
            <a:off x="1504722" y="1239189"/>
            <a:ext cx="4468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kumimoji="1" lang="en-US" altLang="zh-CN" sz="2400"/>
              <a:t>2.1</a:t>
            </a:r>
            <a:r>
              <a:rPr kumimoji="1" lang="zh-CN" altLang="en-US" sz="2400"/>
              <a:t> </a:t>
            </a:r>
            <a:r>
              <a:rPr kumimoji="1" lang="en" altLang="zh-CN" sz="2400"/>
              <a:t>CPU </a:t>
            </a:r>
            <a:r>
              <a:rPr kumimoji="1" lang="en-US" altLang="zh-CN" sz="2400"/>
              <a:t>K-Means</a:t>
            </a:r>
            <a:r>
              <a:rPr kumimoji="1" lang="en" altLang="zh-CN" sz="2400"/>
              <a:t> </a:t>
            </a:r>
            <a:r>
              <a:rPr kumimoji="1" lang="zh-CN" altLang="en-US" sz="2400"/>
              <a:t>批</a:t>
            </a:r>
            <a:r>
              <a:rPr lang="zh-CN" altLang="en-US" sz="2400">
                <a:solidFill>
                  <a:srgbClr val="001D35"/>
                </a:solidFill>
                <a:latin typeface="Arial" panose="020B0604020202020204" pitchFamily="34" charset="0"/>
              </a:rPr>
              <a:t>处理优化</a:t>
            </a:r>
          </a:p>
        </p:txBody>
      </p:sp>
      <p:graphicFrame>
        <p:nvGraphicFramePr>
          <p:cNvPr id="222" name="表格 221">
            <a:extLst>
              <a:ext uri="{FF2B5EF4-FFF2-40B4-BE49-F238E27FC236}">
                <a16:creationId xmlns:a16="http://schemas.microsoft.com/office/drawing/2014/main" id="{BA3116A3-7B05-D750-5C17-59C977425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062792"/>
              </p:ext>
            </p:extLst>
          </p:nvPr>
        </p:nvGraphicFramePr>
        <p:xfrm>
          <a:off x="1718683" y="2804184"/>
          <a:ext cx="8844117" cy="3331953"/>
        </p:xfrm>
        <a:graphic>
          <a:graphicData uri="http://schemas.openxmlformats.org/drawingml/2006/table">
            <a:tbl>
              <a:tblPr/>
              <a:tblGrid>
                <a:gridCol w="990542">
                  <a:extLst>
                    <a:ext uri="{9D8B030D-6E8A-4147-A177-3AD203B41FA5}">
                      <a16:colId xmlns:a16="http://schemas.microsoft.com/office/drawing/2014/main" val="2190332705"/>
                    </a:ext>
                  </a:extLst>
                </a:gridCol>
                <a:gridCol w="2358431">
                  <a:extLst>
                    <a:ext uri="{9D8B030D-6E8A-4147-A177-3AD203B41FA5}">
                      <a16:colId xmlns:a16="http://schemas.microsoft.com/office/drawing/2014/main" val="3066644612"/>
                    </a:ext>
                  </a:extLst>
                </a:gridCol>
                <a:gridCol w="3030584">
                  <a:extLst>
                    <a:ext uri="{9D8B030D-6E8A-4147-A177-3AD203B41FA5}">
                      <a16:colId xmlns:a16="http://schemas.microsoft.com/office/drawing/2014/main" val="4074981761"/>
                    </a:ext>
                  </a:extLst>
                </a:gridCol>
                <a:gridCol w="2464560">
                  <a:extLst>
                    <a:ext uri="{9D8B030D-6E8A-4147-A177-3AD203B41FA5}">
                      <a16:colId xmlns:a16="http://schemas.microsoft.com/office/drawing/2014/main" val="4140760802"/>
                    </a:ext>
                  </a:extLst>
                </a:gridCol>
              </a:tblGrid>
              <a:tr h="1224515">
                <a:tc>
                  <a:txBody>
                    <a:bodyPr/>
                    <a:lstStyle/>
                    <a:p>
                      <a:pPr marL="0" marR="0">
                        <a:lnSpc>
                          <a:spcPts val="1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</a:rPr>
                        <a:t>算法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</a:rPr>
                        <a:t>标准 </a:t>
                      </a:r>
                      <a:r>
                        <a:rPr lang="en" sz="1400">
                          <a:effectLst/>
                        </a:rPr>
                        <a:t>K-Means（Lloyd）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1400">
                          <a:effectLst/>
                        </a:rPr>
                        <a:t>Mini-Batch K-Means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1400">
                          <a:effectLst/>
                          <a:highlight>
                            <a:srgbClr val="FFFF00"/>
                          </a:highlight>
                        </a:rPr>
                        <a:t>Nested Mini-batch K</a:t>
                      </a:r>
                      <a:r>
                        <a:rPr lang="en-US" altLang="zh-CN" sz="1400">
                          <a:effectLst/>
                          <a:highlight>
                            <a:srgbClr val="FFFF00"/>
                          </a:highlight>
                        </a:rPr>
                        <a:t>-</a:t>
                      </a:r>
                      <a:r>
                        <a:rPr lang="en" sz="1400">
                          <a:effectLst/>
                          <a:highlight>
                            <a:srgbClr val="FFFF00"/>
                          </a:highlight>
                        </a:rPr>
                        <a:t>means </a:t>
                      </a:r>
                      <a:r>
                        <a:rPr lang="en" sz="1400">
                          <a:effectLst/>
                        </a:rPr>
                        <a:t>[NIPS16]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8672522"/>
                  </a:ext>
                </a:extLst>
              </a:tr>
              <a:tr h="2088090">
                <a:tc>
                  <a:txBody>
                    <a:bodyPr/>
                    <a:lstStyle/>
                    <a:p>
                      <a:pPr marL="0" marR="0">
                        <a:lnSpc>
                          <a:spcPts val="1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>
                          <a:effectLst/>
                        </a:rPr>
                        <a:t>优劣分析</a:t>
                      </a:r>
                      <a:endParaRPr lang="zh-CN" altLang="en-US" sz="14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✅</a:t>
                      </a:r>
                      <a:r>
                        <a:rPr lang="zh-CN" altLang="en-US" sz="1400">
                          <a:effectLst/>
                        </a:rPr>
                        <a:t>聚类质量高</a:t>
                      </a:r>
                    </a:p>
                    <a:p>
                      <a:pPr marL="0" marR="0">
                        <a:lnSpc>
                          <a:spcPts val="1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❌</a:t>
                      </a:r>
                      <a:r>
                        <a:rPr lang="zh-CN" altLang="en-US" sz="1400">
                          <a:effectLst/>
                        </a:rPr>
                        <a:t>收敛速度慢</a:t>
                      </a:r>
                      <a:endParaRPr lang="en-US" altLang="zh-CN" sz="1400">
                        <a:effectLst/>
                      </a:endParaRPr>
                    </a:p>
                    <a:p>
                      <a:pPr marL="0" marR="0">
                        <a:lnSpc>
                          <a:spcPts val="1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>
                          <a:effectLst/>
                        </a:rPr>
                        <a:t>*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effectLst/>
                        </a:rPr>
                        <a:t>聚类质量高：</a:t>
                      </a:r>
                      <a:r>
                        <a:rPr lang="zh-CN" altLang="en-US" sz="1400" b="0" i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簇内样本间距小，簇间样本间距大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❌</a:t>
                      </a:r>
                      <a:r>
                        <a:rPr lang="zh-CN" altLang="en-US" sz="1400">
                          <a:effectLst/>
                        </a:rPr>
                        <a:t>聚类质量低</a:t>
                      </a:r>
                    </a:p>
                    <a:p>
                      <a:pPr marL="0" marR="0">
                        <a:lnSpc>
                          <a:spcPts val="1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⚠️</a:t>
                      </a:r>
                      <a:r>
                        <a:rPr lang="zh-CN" altLang="en-US" sz="1400">
                          <a:effectLst/>
                        </a:rPr>
                        <a:t>收敛速度前期快，后期慢</a:t>
                      </a:r>
                      <a:endParaRPr lang="en-US" altLang="zh-CN" sz="1400">
                        <a:effectLst/>
                      </a:endParaRPr>
                    </a:p>
                    <a:p>
                      <a:pPr marL="0" marR="0">
                        <a:lnSpc>
                          <a:spcPts val="1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400">
                        <a:effectLst/>
                      </a:endParaRPr>
                    </a:p>
                    <a:p>
                      <a:pPr marL="0" marR="0">
                        <a:lnSpc>
                          <a:spcPts val="1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</a:rPr>
                        <a:t>*前期快得益于</a:t>
                      </a:r>
                      <a:r>
                        <a:rPr lang="en" sz="1400">
                          <a:effectLst/>
                        </a:rPr>
                        <a:t>mini-batch，</a:t>
                      </a:r>
                      <a:r>
                        <a:rPr lang="zh-CN" altLang="en-US" sz="1400">
                          <a:effectLst/>
                        </a:rPr>
                        <a:t>后期慢是由于陈旧的分配结果影响迭代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✅</a:t>
                      </a:r>
                      <a:r>
                        <a:rPr lang="zh-CN" altLang="en-US" sz="1400">
                          <a:effectLst/>
                        </a:rPr>
                        <a:t>聚类质量高</a:t>
                      </a:r>
                    </a:p>
                    <a:p>
                      <a:pPr marL="0" marR="0">
                        <a:lnSpc>
                          <a:spcPts val="1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✅</a:t>
                      </a:r>
                      <a:r>
                        <a:rPr lang="zh-CN" altLang="en-US" sz="1400">
                          <a:effectLst/>
                        </a:rPr>
                        <a:t>收敛速度快（索引创建端到端加速</a:t>
                      </a:r>
                      <a:r>
                        <a:rPr lang="en-US" altLang="zh-CN" sz="1400">
                          <a:effectLst/>
                        </a:rPr>
                        <a:t>1.3</a:t>
                      </a:r>
                      <a:r>
                        <a:rPr lang="en" sz="1400">
                          <a:effectLst/>
                        </a:rPr>
                        <a:t>x-3.0x）</a:t>
                      </a:r>
                    </a:p>
                    <a:p>
                      <a:pPr marL="0" marR="0">
                        <a:lnSpc>
                          <a:spcPts val="1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" sz="1400">
                        <a:effectLst/>
                      </a:endParaRPr>
                    </a:p>
                    <a:p>
                      <a:pPr marL="0" marR="0">
                        <a:lnSpc>
                          <a:spcPts val="1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1400">
                          <a:effectLst/>
                        </a:rPr>
                        <a:t>*</a:t>
                      </a:r>
                      <a:r>
                        <a:rPr lang="zh-CN" altLang="en-US" sz="1400">
                          <a:effectLst/>
                        </a:rPr>
                        <a:t>本质上是迭代初期通过</a:t>
                      </a:r>
                      <a:r>
                        <a:rPr lang="en" sz="1400">
                          <a:effectLst/>
                        </a:rPr>
                        <a:t>mini-batch</a:t>
                      </a:r>
                      <a:r>
                        <a:rPr lang="zh-CN" altLang="en-US" sz="1400">
                          <a:effectLst/>
                        </a:rPr>
                        <a:t>方法节省计算量，后期随</a:t>
                      </a:r>
                      <a:r>
                        <a:rPr lang="en" sz="1400">
                          <a:effectLst/>
                        </a:rPr>
                        <a:t>mini-batch</a:t>
                      </a:r>
                      <a:r>
                        <a:rPr lang="zh-CN" altLang="en-US" sz="1400">
                          <a:effectLst/>
                        </a:rPr>
                        <a:t>规模拓展确保聚类质量和收敛稳定性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0692000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8A46E2B5-DAFD-639D-43A1-983357921A8E}"/>
              </a:ext>
            </a:extLst>
          </p:cNvPr>
          <p:cNvSpPr txBox="1"/>
          <p:nvPr/>
        </p:nvSpPr>
        <p:spPr>
          <a:xfrm>
            <a:off x="1627736" y="1847668"/>
            <a:ext cx="4468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kumimoji="1" lang="en-US" altLang="zh-CN" sz="2000"/>
              <a:t>2.1.1</a:t>
            </a:r>
            <a:r>
              <a:rPr kumimoji="1" lang="zh-CN" altLang="en-US" sz="2000"/>
              <a:t> 算法选择</a:t>
            </a:r>
            <a:endParaRPr lang="zh-CN" altLang="en-US" sz="2000">
              <a:solidFill>
                <a:srgbClr val="001D35"/>
              </a:solidFill>
              <a:latin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1B468D8-B5F9-8373-66BD-E10D7EA6D628}"/>
              </a:ext>
            </a:extLst>
          </p:cNvPr>
          <p:cNvSpPr txBox="1"/>
          <p:nvPr/>
        </p:nvSpPr>
        <p:spPr>
          <a:xfrm>
            <a:off x="4318725" y="2394592"/>
            <a:ext cx="3554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/>
              <a:t>表</a:t>
            </a:r>
            <a:r>
              <a:rPr kumimoji="1" lang="en-US" altLang="zh-CN" sz="1600"/>
              <a:t>.</a:t>
            </a:r>
            <a:r>
              <a:rPr kumimoji="1" lang="zh-CN" altLang="en-US" sz="1600"/>
              <a:t>不同 </a:t>
            </a:r>
            <a:r>
              <a:rPr kumimoji="1" lang="en-US" altLang="zh-CN" sz="1600"/>
              <a:t>K-Means</a:t>
            </a:r>
            <a:r>
              <a:rPr kumimoji="1" lang="zh-CN" altLang="en-US" sz="1600"/>
              <a:t> 算法优劣总结</a:t>
            </a:r>
          </a:p>
        </p:txBody>
      </p:sp>
    </p:spTree>
    <p:extLst>
      <p:ext uri="{BB962C8B-B14F-4D97-AF65-F5344CB8AC3E}">
        <p14:creationId xmlns:p14="http://schemas.microsoft.com/office/powerpoint/2010/main" val="1742855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B69B0C2-2D2B-BF3C-599B-632876D2D5BF}"/>
              </a:ext>
            </a:extLst>
          </p:cNvPr>
          <p:cNvSpPr txBox="1"/>
          <p:nvPr/>
        </p:nvSpPr>
        <p:spPr>
          <a:xfrm>
            <a:off x="1170017" y="507600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/>
              <a:t>2.</a:t>
            </a:r>
            <a:r>
              <a:rPr lang="zh-CN" altLang="en-US" sz="3200"/>
              <a:t> 索引创建性能优化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6E4E3F-4A97-00E7-B4CB-340A1D46CEB9}"/>
              </a:ext>
            </a:extLst>
          </p:cNvPr>
          <p:cNvSpPr txBox="1"/>
          <p:nvPr/>
        </p:nvSpPr>
        <p:spPr>
          <a:xfrm>
            <a:off x="1504722" y="1239189"/>
            <a:ext cx="4468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kumimoji="1" lang="en-US" altLang="zh-CN" sz="2400"/>
              <a:t>2.1</a:t>
            </a:r>
            <a:r>
              <a:rPr kumimoji="1" lang="zh-CN" altLang="en-US" sz="2400"/>
              <a:t> </a:t>
            </a:r>
            <a:r>
              <a:rPr kumimoji="1" lang="en" altLang="zh-CN" sz="2400"/>
              <a:t>CPU </a:t>
            </a:r>
            <a:r>
              <a:rPr kumimoji="1" lang="en-US" altLang="zh-CN" sz="2400"/>
              <a:t>K-Means</a:t>
            </a:r>
            <a:r>
              <a:rPr kumimoji="1" lang="en" altLang="zh-CN" sz="2400"/>
              <a:t> </a:t>
            </a:r>
            <a:r>
              <a:rPr kumimoji="1" lang="zh-CN" altLang="en-US" sz="2400"/>
              <a:t>批</a:t>
            </a:r>
            <a:r>
              <a:rPr lang="zh-CN" altLang="en-US" sz="2400">
                <a:solidFill>
                  <a:srgbClr val="001D35"/>
                </a:solidFill>
                <a:latin typeface="Arial" panose="020B0604020202020204" pitchFamily="34" charset="0"/>
              </a:rPr>
              <a:t>处理优化</a:t>
            </a: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7AE52634-6360-E812-9C81-8AA1D6A96130}"/>
              </a:ext>
            </a:extLst>
          </p:cNvPr>
          <p:cNvCxnSpPr>
            <a:cxnSpLocks/>
          </p:cNvCxnSpPr>
          <p:nvPr/>
        </p:nvCxnSpPr>
        <p:spPr>
          <a:xfrm>
            <a:off x="3464189" y="2708161"/>
            <a:ext cx="0" cy="318377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55CF9172-FFC3-1D03-E128-EA1AD9A123FA}"/>
              </a:ext>
            </a:extLst>
          </p:cNvPr>
          <p:cNvCxnSpPr>
            <a:cxnSpLocks/>
          </p:cNvCxnSpPr>
          <p:nvPr/>
        </p:nvCxnSpPr>
        <p:spPr>
          <a:xfrm>
            <a:off x="6428925" y="2708160"/>
            <a:ext cx="0" cy="318377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3B7B841-7EB1-04EF-5775-EB16F619CD92}"/>
              </a:ext>
            </a:extLst>
          </p:cNvPr>
          <p:cNvSpPr txBox="1"/>
          <p:nvPr/>
        </p:nvSpPr>
        <p:spPr>
          <a:xfrm>
            <a:off x="1275352" y="6014913"/>
            <a:ext cx="19004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/>
              <a:t>图</a:t>
            </a:r>
            <a:r>
              <a:rPr kumimoji="1" lang="en-US" altLang="zh-CN" sz="1600"/>
              <a:t>1.</a:t>
            </a:r>
            <a:r>
              <a:rPr kumimoji="1" lang="zh-CN" altLang="en-US" sz="1600"/>
              <a:t>标准 </a:t>
            </a:r>
            <a:r>
              <a:rPr kumimoji="1" lang="en-US" altLang="zh-CN" sz="1600"/>
              <a:t>K-Means</a:t>
            </a:r>
            <a:r>
              <a:rPr kumimoji="1" lang="zh-CN" altLang="en-US" sz="1600"/>
              <a:t> 单轮迭代示意图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1195F3-1A5F-E5CE-3342-26DBF431F13A}"/>
              </a:ext>
            </a:extLst>
          </p:cNvPr>
          <p:cNvSpPr txBox="1"/>
          <p:nvPr/>
        </p:nvSpPr>
        <p:spPr>
          <a:xfrm>
            <a:off x="3674830" y="6014913"/>
            <a:ext cx="2446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/>
              <a:t>图</a:t>
            </a:r>
            <a:r>
              <a:rPr kumimoji="1" lang="en-US" altLang="zh-CN" sz="1600"/>
              <a:t>2.</a:t>
            </a:r>
            <a:r>
              <a:rPr lang="en" altLang="zh-CN" sz="1600">
                <a:effectLst/>
              </a:rPr>
              <a:t> Mini-Batch K-Means</a:t>
            </a:r>
            <a:r>
              <a:rPr kumimoji="1" lang="zh-CN" altLang="en-US" sz="1600"/>
              <a:t>单轮迭代示意图</a:t>
            </a:r>
            <a:endParaRPr lang="en" altLang="zh-CN" sz="1600">
              <a:effectLst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239CD26-2ADC-EC6B-2011-565A445F78F4}"/>
              </a:ext>
            </a:extLst>
          </p:cNvPr>
          <p:cNvSpPr txBox="1"/>
          <p:nvPr/>
        </p:nvSpPr>
        <p:spPr>
          <a:xfrm>
            <a:off x="7763911" y="6017103"/>
            <a:ext cx="31820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/>
              <a:t>图</a:t>
            </a:r>
            <a:r>
              <a:rPr kumimoji="1" lang="en-US" altLang="zh-CN" sz="1600"/>
              <a:t>3.</a:t>
            </a:r>
            <a:r>
              <a:rPr lang="en" altLang="zh-CN" sz="1600"/>
              <a:t> </a:t>
            </a:r>
            <a:r>
              <a:rPr lang="en" altLang="zh-CN" sz="1600">
                <a:highlight>
                  <a:srgbClr val="FFFF00"/>
                </a:highlight>
              </a:rPr>
              <a:t>Nested Mini-batch</a:t>
            </a:r>
            <a:r>
              <a:rPr lang="zh-CN" altLang="en-US" sz="1600">
                <a:highlight>
                  <a:srgbClr val="FFFF00"/>
                </a:highlight>
              </a:rPr>
              <a:t> </a:t>
            </a:r>
            <a:r>
              <a:rPr lang="en" altLang="zh-CN" sz="1600">
                <a:highlight>
                  <a:srgbClr val="FFFF00"/>
                </a:highlight>
              </a:rPr>
              <a:t>K</a:t>
            </a:r>
            <a:r>
              <a:rPr lang="en-US" altLang="zh-CN" sz="1600">
                <a:highlight>
                  <a:srgbClr val="FFFF00"/>
                </a:highlight>
              </a:rPr>
              <a:t>-</a:t>
            </a:r>
            <a:r>
              <a:rPr lang="en" altLang="zh-CN" sz="1600">
                <a:highlight>
                  <a:srgbClr val="FFFF00"/>
                </a:highlight>
              </a:rPr>
              <a:t>means</a:t>
            </a:r>
            <a:r>
              <a:rPr kumimoji="1" lang="zh-CN" altLang="en-US" sz="1600"/>
              <a:t>多轮迭代示意图</a:t>
            </a:r>
            <a:endParaRPr lang="en" altLang="zh-CN" sz="16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7756B1-B62A-E349-B205-275036F79B69}"/>
              </a:ext>
            </a:extLst>
          </p:cNvPr>
          <p:cNvSpPr/>
          <p:nvPr/>
        </p:nvSpPr>
        <p:spPr>
          <a:xfrm>
            <a:off x="1673771" y="2454104"/>
            <a:ext cx="392861" cy="348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</a:rPr>
              <a:t>V1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91F6323-9669-3C2D-4DF0-894733E107F8}"/>
              </a:ext>
            </a:extLst>
          </p:cNvPr>
          <p:cNvSpPr txBox="1"/>
          <p:nvPr/>
        </p:nvSpPr>
        <p:spPr>
          <a:xfrm>
            <a:off x="811250" y="2486588"/>
            <a:ext cx="1009372" cy="241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/>
              <a:t>样本集合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91BA10-A78C-9F08-D6D8-33A2B15F6E78}"/>
              </a:ext>
            </a:extLst>
          </p:cNvPr>
          <p:cNvSpPr/>
          <p:nvPr/>
        </p:nvSpPr>
        <p:spPr>
          <a:xfrm>
            <a:off x="2808782" y="2454104"/>
            <a:ext cx="392861" cy="348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err="1">
                <a:solidFill>
                  <a:schemeClr val="tx1"/>
                </a:solidFill>
              </a:rPr>
              <a:t>Vn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E49538-A5DC-1192-3CB4-FE17E6AE6D0D}"/>
              </a:ext>
            </a:extLst>
          </p:cNvPr>
          <p:cNvSpPr/>
          <p:nvPr/>
        </p:nvSpPr>
        <p:spPr>
          <a:xfrm>
            <a:off x="2066630" y="2454104"/>
            <a:ext cx="392861" cy="348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</a:rPr>
              <a:t>V2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8EFF888-16FD-1786-F3E8-B19D7A0BFD44}"/>
              </a:ext>
            </a:extLst>
          </p:cNvPr>
          <p:cNvSpPr txBox="1"/>
          <p:nvPr/>
        </p:nvSpPr>
        <p:spPr>
          <a:xfrm>
            <a:off x="2473640" y="2454104"/>
            <a:ext cx="392861" cy="322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/>
              <a:t>…</a:t>
            </a:r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FA19C0-9E5F-9E7C-6BC6-B306B4FF4777}"/>
              </a:ext>
            </a:extLst>
          </p:cNvPr>
          <p:cNvSpPr/>
          <p:nvPr/>
        </p:nvSpPr>
        <p:spPr>
          <a:xfrm>
            <a:off x="1882914" y="3228939"/>
            <a:ext cx="392861" cy="348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</a:rPr>
              <a:t>C1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27C3E6E-E48D-D424-9ADC-00DB1D019A45}"/>
              </a:ext>
            </a:extLst>
          </p:cNvPr>
          <p:cNvSpPr txBox="1"/>
          <p:nvPr/>
        </p:nvSpPr>
        <p:spPr>
          <a:xfrm>
            <a:off x="811250" y="3261423"/>
            <a:ext cx="1009372" cy="241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/>
              <a:t>中心集合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EFA5D4-6D90-4690-E864-7AEDD8883C04}"/>
              </a:ext>
            </a:extLst>
          </p:cNvPr>
          <p:cNvSpPr/>
          <p:nvPr/>
        </p:nvSpPr>
        <p:spPr>
          <a:xfrm>
            <a:off x="2625782" y="3228939"/>
            <a:ext cx="392861" cy="348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</a:rPr>
              <a:t>Ck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673BAE4-32AC-2D50-68D6-FF8CDE901ABB}"/>
              </a:ext>
            </a:extLst>
          </p:cNvPr>
          <p:cNvSpPr txBox="1"/>
          <p:nvPr/>
        </p:nvSpPr>
        <p:spPr>
          <a:xfrm>
            <a:off x="2290639" y="3228939"/>
            <a:ext cx="392861" cy="322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/>
              <a:t>…</a:t>
            </a:r>
            <a:endParaRPr kumimoji="1" lang="zh-CN" altLang="en-US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186F7251-A24F-71B2-2DFD-B4B3D86B9D09}"/>
              </a:ext>
            </a:extLst>
          </p:cNvPr>
          <p:cNvCxnSpPr>
            <a:stCxn id="9" idx="2"/>
            <a:endCxn id="14" idx="0"/>
          </p:cNvCxnSpPr>
          <p:nvPr/>
        </p:nvCxnSpPr>
        <p:spPr>
          <a:xfrm>
            <a:off x="1870200" y="2802881"/>
            <a:ext cx="209144" cy="4260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C3E4A12C-41FA-8484-38DF-6E8E5834C8AE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>
            <a:off x="1870200" y="2802881"/>
            <a:ext cx="952012" cy="4260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5E2F3A75-0C79-1938-F5B0-8DC0DB373744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2079345" y="2802881"/>
            <a:ext cx="183716" cy="4260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672062EA-24F6-1AC3-45A3-C952D126A9A8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2079345" y="2802881"/>
            <a:ext cx="925868" cy="4260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A3F462B9-9226-DCAF-F538-5B4F6BCA71E1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2263060" y="2802881"/>
            <a:ext cx="559151" cy="4260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252750C7-D479-1A48-E931-F1102ED60866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 flipH="1">
            <a:off x="2822212" y="2802881"/>
            <a:ext cx="183001" cy="4260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27061D50-EE98-F00D-C834-695693A9F567}"/>
              </a:ext>
            </a:extLst>
          </p:cNvPr>
          <p:cNvSpPr txBox="1"/>
          <p:nvPr/>
        </p:nvSpPr>
        <p:spPr>
          <a:xfrm>
            <a:off x="748747" y="2760365"/>
            <a:ext cx="1073449" cy="33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rgbClr val="FF0000"/>
                </a:solidFill>
              </a:rPr>
              <a:t> 全量计算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6A5CEC3-B909-8D07-0FA1-2686721F3A93}"/>
              </a:ext>
            </a:extLst>
          </p:cNvPr>
          <p:cNvSpPr txBox="1"/>
          <p:nvPr/>
        </p:nvSpPr>
        <p:spPr>
          <a:xfrm>
            <a:off x="1507836" y="2144169"/>
            <a:ext cx="1488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/>
              <a:t>阶段</a:t>
            </a:r>
            <a:r>
              <a:rPr kumimoji="1" lang="en-US" altLang="zh-CN" sz="1400"/>
              <a:t>1.</a:t>
            </a:r>
            <a:r>
              <a:rPr kumimoji="1" lang="zh-CN" altLang="en-US" sz="1400"/>
              <a:t>距离计算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B6AED91-AF6D-3681-C6D7-E460D6057442}"/>
              </a:ext>
            </a:extLst>
          </p:cNvPr>
          <p:cNvSpPr txBox="1"/>
          <p:nvPr/>
        </p:nvSpPr>
        <p:spPr>
          <a:xfrm>
            <a:off x="1509858" y="3838783"/>
            <a:ext cx="1404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/>
              <a:t>阶段</a:t>
            </a:r>
            <a:r>
              <a:rPr kumimoji="1" lang="en-US" altLang="zh-CN" sz="1400"/>
              <a:t>2.</a:t>
            </a:r>
            <a:r>
              <a:rPr kumimoji="1" lang="zh-CN" altLang="en-US" sz="1400"/>
              <a:t>样本分配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26A5D62-43C9-C350-73E1-EDEB1031730B}"/>
              </a:ext>
            </a:extLst>
          </p:cNvPr>
          <p:cNvSpPr/>
          <p:nvPr/>
        </p:nvSpPr>
        <p:spPr>
          <a:xfrm>
            <a:off x="1882914" y="4159409"/>
            <a:ext cx="392861" cy="348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</a:rPr>
              <a:t>C1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A6B8DD8-103A-11C8-BBD6-712E639605C0}"/>
              </a:ext>
            </a:extLst>
          </p:cNvPr>
          <p:cNvSpPr txBox="1"/>
          <p:nvPr/>
        </p:nvSpPr>
        <p:spPr>
          <a:xfrm>
            <a:off x="811250" y="4191893"/>
            <a:ext cx="1009372" cy="241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/>
              <a:t>中心集合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8A2719F-5DF1-CAC2-819B-4A813BBCA714}"/>
              </a:ext>
            </a:extLst>
          </p:cNvPr>
          <p:cNvSpPr/>
          <p:nvPr/>
        </p:nvSpPr>
        <p:spPr>
          <a:xfrm>
            <a:off x="2625782" y="4159409"/>
            <a:ext cx="392861" cy="348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</a:rPr>
              <a:t>Ck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3EE67D8-01EF-EFAD-C28E-75E73EDE7B52}"/>
              </a:ext>
            </a:extLst>
          </p:cNvPr>
          <p:cNvSpPr txBox="1"/>
          <p:nvPr/>
        </p:nvSpPr>
        <p:spPr>
          <a:xfrm>
            <a:off x="2290639" y="4159409"/>
            <a:ext cx="392861" cy="322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/>
              <a:t>…</a:t>
            </a:r>
            <a:endParaRPr kumimoji="1"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1ABD333-09E6-6D0B-F529-0D72553C5151}"/>
              </a:ext>
            </a:extLst>
          </p:cNvPr>
          <p:cNvSpPr/>
          <p:nvPr/>
        </p:nvSpPr>
        <p:spPr>
          <a:xfrm>
            <a:off x="1882914" y="4631071"/>
            <a:ext cx="392861" cy="348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</a:rPr>
              <a:t>V1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9D8DAA8-03A7-DAC1-D666-4FF6F1E905F6}"/>
              </a:ext>
            </a:extLst>
          </p:cNvPr>
          <p:cNvSpPr/>
          <p:nvPr/>
        </p:nvSpPr>
        <p:spPr>
          <a:xfrm>
            <a:off x="1884250" y="4979168"/>
            <a:ext cx="392861" cy="348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</a:rPr>
              <a:t>V2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F5CFB7BC-A77C-CD61-FD8C-83104B4557B4}"/>
              </a:ext>
            </a:extLst>
          </p:cNvPr>
          <p:cNvCxnSpPr>
            <a:cxnSpLocks/>
            <a:stCxn id="47" idx="2"/>
            <a:endCxn id="51" idx="0"/>
          </p:cNvCxnSpPr>
          <p:nvPr/>
        </p:nvCxnSpPr>
        <p:spPr>
          <a:xfrm>
            <a:off x="2079345" y="4508186"/>
            <a:ext cx="0" cy="1228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6D072DC5-172E-2F95-C6B9-9DCB6C5625BC}"/>
              </a:ext>
            </a:extLst>
          </p:cNvPr>
          <p:cNvCxnSpPr>
            <a:cxnSpLocks/>
          </p:cNvCxnSpPr>
          <p:nvPr/>
        </p:nvCxnSpPr>
        <p:spPr>
          <a:xfrm>
            <a:off x="2822212" y="4504881"/>
            <a:ext cx="0" cy="1228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275BBA11-69AC-A233-BF23-6643E53B0768}"/>
              </a:ext>
            </a:extLst>
          </p:cNvPr>
          <p:cNvSpPr/>
          <p:nvPr/>
        </p:nvSpPr>
        <p:spPr>
          <a:xfrm>
            <a:off x="2625782" y="4625495"/>
            <a:ext cx="392861" cy="348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err="1">
                <a:solidFill>
                  <a:schemeClr val="tx1"/>
                </a:solidFill>
              </a:rPr>
              <a:t>Vn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sp>
        <p:nvSpPr>
          <p:cNvPr id="116" name="左大括号 115">
            <a:extLst>
              <a:ext uri="{FF2B5EF4-FFF2-40B4-BE49-F238E27FC236}">
                <a16:creationId xmlns:a16="http://schemas.microsoft.com/office/drawing/2014/main" id="{4E94B4C7-B658-4720-064A-D144D5C079F3}"/>
              </a:ext>
            </a:extLst>
          </p:cNvPr>
          <p:cNvSpPr/>
          <p:nvPr/>
        </p:nvSpPr>
        <p:spPr>
          <a:xfrm>
            <a:off x="1673771" y="4631071"/>
            <a:ext cx="146851" cy="695648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A546B29-1624-6CF7-AA04-4374DF7382A7}"/>
              </a:ext>
            </a:extLst>
          </p:cNvPr>
          <p:cNvSpPr/>
          <p:nvPr/>
        </p:nvSpPr>
        <p:spPr>
          <a:xfrm>
            <a:off x="4496719" y="2459597"/>
            <a:ext cx="406716" cy="3549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</a:rPr>
              <a:t>V1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A672231-354C-2ECB-C504-84C2220639A8}"/>
              </a:ext>
            </a:extLst>
          </p:cNvPr>
          <p:cNvSpPr/>
          <p:nvPr/>
        </p:nvSpPr>
        <p:spPr>
          <a:xfrm>
            <a:off x="5671761" y="2459597"/>
            <a:ext cx="406716" cy="3549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err="1">
                <a:solidFill>
                  <a:schemeClr val="tx1"/>
                </a:solidFill>
              </a:rPr>
              <a:t>Vn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8B60D33-2FB9-16B7-CCDD-4A6D473CC504}"/>
              </a:ext>
            </a:extLst>
          </p:cNvPr>
          <p:cNvSpPr/>
          <p:nvPr/>
        </p:nvSpPr>
        <p:spPr>
          <a:xfrm>
            <a:off x="4903434" y="2459597"/>
            <a:ext cx="406716" cy="3549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</a:rPr>
              <a:t>V2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D64F4153-F330-668F-214A-0337FD8AEAA3}"/>
              </a:ext>
            </a:extLst>
          </p:cNvPr>
          <p:cNvSpPr txBox="1"/>
          <p:nvPr/>
        </p:nvSpPr>
        <p:spPr>
          <a:xfrm>
            <a:off x="5324797" y="2459597"/>
            <a:ext cx="406716" cy="385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/>
              <a:t>…</a:t>
            </a:r>
            <a:endParaRPr kumimoji="1"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3CA8F17-C93C-4342-BBFD-0D633CBC493E}"/>
              </a:ext>
            </a:extLst>
          </p:cNvPr>
          <p:cNvSpPr/>
          <p:nvPr/>
        </p:nvSpPr>
        <p:spPr>
          <a:xfrm>
            <a:off x="4713238" y="3248162"/>
            <a:ext cx="406716" cy="3549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</a:rPr>
              <a:t>C1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F578025B-41BD-46E5-1DE5-A7A25CF3C0DA}"/>
              </a:ext>
            </a:extLst>
          </p:cNvPr>
          <p:cNvSpPr/>
          <p:nvPr/>
        </p:nvSpPr>
        <p:spPr>
          <a:xfrm>
            <a:off x="5482307" y="3248162"/>
            <a:ext cx="406716" cy="3549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</a:rPr>
              <a:t>Ck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C410E3FB-3BC8-5F04-9477-8A296F6A08B6}"/>
              </a:ext>
            </a:extLst>
          </p:cNvPr>
          <p:cNvSpPr txBox="1"/>
          <p:nvPr/>
        </p:nvSpPr>
        <p:spPr>
          <a:xfrm>
            <a:off x="5135344" y="3248162"/>
            <a:ext cx="406716" cy="385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/>
              <a:t>…</a:t>
            </a:r>
            <a:endParaRPr kumimoji="1" lang="zh-CN" altLang="en-US"/>
          </a:p>
        </p:txBody>
      </p: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518AD772-F0DE-C010-1410-2788823C5A14}"/>
              </a:ext>
            </a:extLst>
          </p:cNvPr>
          <p:cNvCxnSpPr>
            <a:cxnSpLocks/>
            <a:stCxn id="68" idx="2"/>
            <a:endCxn id="70" idx="0"/>
          </p:cNvCxnSpPr>
          <p:nvPr/>
        </p:nvCxnSpPr>
        <p:spPr>
          <a:xfrm flipH="1">
            <a:off x="4916597" y="2814554"/>
            <a:ext cx="190196" cy="4336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EB7D36A9-F535-4EFE-E70B-F2C46A1F894E}"/>
              </a:ext>
            </a:extLst>
          </p:cNvPr>
          <p:cNvCxnSpPr>
            <a:cxnSpLocks/>
            <a:stCxn id="68" idx="2"/>
            <a:endCxn id="72" idx="0"/>
          </p:cNvCxnSpPr>
          <p:nvPr/>
        </p:nvCxnSpPr>
        <p:spPr>
          <a:xfrm>
            <a:off x="5106792" y="2814554"/>
            <a:ext cx="578872" cy="4336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1AFE6E9C-7C25-EE45-6980-74D04E07416D}"/>
              </a:ext>
            </a:extLst>
          </p:cNvPr>
          <p:cNvSpPr txBox="1"/>
          <p:nvPr/>
        </p:nvSpPr>
        <p:spPr>
          <a:xfrm>
            <a:off x="4324932" y="2144169"/>
            <a:ext cx="15406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/>
              <a:t>阶段</a:t>
            </a:r>
            <a:r>
              <a:rPr kumimoji="1" lang="en-US" altLang="zh-CN" sz="1400"/>
              <a:t>1.</a:t>
            </a:r>
            <a:r>
              <a:rPr kumimoji="1" lang="zh-CN" altLang="en-US" sz="1400"/>
              <a:t>距离计算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366A999F-C159-47BB-F8FF-8446CB01FE62}"/>
              </a:ext>
            </a:extLst>
          </p:cNvPr>
          <p:cNvSpPr/>
          <p:nvPr/>
        </p:nvSpPr>
        <p:spPr>
          <a:xfrm>
            <a:off x="4785313" y="2444810"/>
            <a:ext cx="696994" cy="395640"/>
          </a:xfrm>
          <a:custGeom>
            <a:avLst/>
            <a:gdLst>
              <a:gd name="connsiteX0" fmla="*/ 0 w 696994"/>
              <a:gd name="connsiteY0" fmla="*/ 0 h 395640"/>
              <a:gd name="connsiteX1" fmla="*/ 696994 w 696994"/>
              <a:gd name="connsiteY1" fmla="*/ 0 h 395640"/>
              <a:gd name="connsiteX2" fmla="*/ 696994 w 696994"/>
              <a:gd name="connsiteY2" fmla="*/ 395640 h 395640"/>
              <a:gd name="connsiteX3" fmla="*/ 0 w 696994"/>
              <a:gd name="connsiteY3" fmla="*/ 395640 h 395640"/>
              <a:gd name="connsiteX4" fmla="*/ 0 w 696994"/>
              <a:gd name="connsiteY4" fmla="*/ 0 h 395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6994" h="395640" extrusionOk="0">
                <a:moveTo>
                  <a:pt x="0" y="0"/>
                </a:moveTo>
                <a:cubicBezTo>
                  <a:pt x="193117" y="22167"/>
                  <a:pt x="475800" y="214"/>
                  <a:pt x="696994" y="0"/>
                </a:cubicBezTo>
                <a:cubicBezTo>
                  <a:pt x="706655" y="148540"/>
                  <a:pt x="692972" y="296993"/>
                  <a:pt x="696994" y="395640"/>
                </a:cubicBezTo>
                <a:cubicBezTo>
                  <a:pt x="391508" y="415730"/>
                  <a:pt x="322743" y="368269"/>
                  <a:pt x="0" y="395640"/>
                </a:cubicBezTo>
                <a:cubicBezTo>
                  <a:pt x="5297" y="276823"/>
                  <a:pt x="-2771" y="180274"/>
                  <a:pt x="0" y="0"/>
                </a:cubicBezTo>
                <a:close/>
              </a:path>
            </a:pathLst>
          </a:custGeom>
          <a:noFill/>
          <a:ln w="2540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9E36A372-7F15-46BB-FF31-6BF89659E1F2}"/>
              </a:ext>
            </a:extLst>
          </p:cNvPr>
          <p:cNvSpPr txBox="1"/>
          <p:nvPr/>
        </p:nvSpPr>
        <p:spPr>
          <a:xfrm>
            <a:off x="3800597" y="2762837"/>
            <a:ext cx="1111308" cy="399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rgbClr val="00B050"/>
                </a:solidFill>
              </a:rPr>
              <a:t>批计算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731E85DA-5DE9-8E72-AED3-6D90730EF424}"/>
              </a:ext>
            </a:extLst>
          </p:cNvPr>
          <p:cNvSpPr txBox="1"/>
          <p:nvPr/>
        </p:nvSpPr>
        <p:spPr>
          <a:xfrm>
            <a:off x="4317400" y="3868813"/>
            <a:ext cx="1454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/>
              <a:t>阶段</a:t>
            </a:r>
            <a:r>
              <a:rPr kumimoji="1" lang="en-US" altLang="zh-CN" sz="1400"/>
              <a:t>2.</a:t>
            </a:r>
            <a:r>
              <a:rPr kumimoji="1" lang="zh-CN" altLang="en-US" sz="1400"/>
              <a:t>样本分配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C7A46270-C9BB-80F9-490A-F75B1458C36B}"/>
              </a:ext>
            </a:extLst>
          </p:cNvPr>
          <p:cNvSpPr/>
          <p:nvPr/>
        </p:nvSpPr>
        <p:spPr>
          <a:xfrm>
            <a:off x="4703613" y="4195121"/>
            <a:ext cx="406716" cy="3549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</a:rPr>
              <a:t>C1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750F65F-653D-2410-5C74-3B41364DCC9C}"/>
              </a:ext>
            </a:extLst>
          </p:cNvPr>
          <p:cNvSpPr/>
          <p:nvPr/>
        </p:nvSpPr>
        <p:spPr>
          <a:xfrm>
            <a:off x="5472682" y="4195121"/>
            <a:ext cx="406716" cy="3549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</a:rPr>
              <a:t>Ck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E5163280-FF5F-7065-3516-4313D98422C9}"/>
              </a:ext>
            </a:extLst>
          </p:cNvPr>
          <p:cNvSpPr txBox="1"/>
          <p:nvPr/>
        </p:nvSpPr>
        <p:spPr>
          <a:xfrm>
            <a:off x="5125718" y="4195120"/>
            <a:ext cx="406716" cy="385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/>
              <a:t>…</a:t>
            </a:r>
            <a:endParaRPr kumimoji="1"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8E3981C5-E478-27CA-6EA1-0A50D82B62B4}"/>
              </a:ext>
            </a:extLst>
          </p:cNvPr>
          <p:cNvSpPr/>
          <p:nvPr/>
        </p:nvSpPr>
        <p:spPr>
          <a:xfrm>
            <a:off x="4708164" y="5028160"/>
            <a:ext cx="406716" cy="3549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</a:rPr>
              <a:t>V2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AA3FEDB2-9D2C-A9B5-6FA5-ED616EAAE66B}"/>
              </a:ext>
            </a:extLst>
          </p:cNvPr>
          <p:cNvCxnSpPr>
            <a:cxnSpLocks/>
            <a:stCxn id="91" idx="2"/>
          </p:cNvCxnSpPr>
          <p:nvPr/>
        </p:nvCxnSpPr>
        <p:spPr>
          <a:xfrm>
            <a:off x="4906972" y="4550079"/>
            <a:ext cx="0" cy="1250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743E6DFC-60DA-7814-13A4-7428189703F5}"/>
              </a:ext>
            </a:extLst>
          </p:cNvPr>
          <p:cNvCxnSpPr>
            <a:cxnSpLocks/>
          </p:cNvCxnSpPr>
          <p:nvPr/>
        </p:nvCxnSpPr>
        <p:spPr>
          <a:xfrm>
            <a:off x="5676039" y="4546715"/>
            <a:ext cx="0" cy="1250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矩形 98">
            <a:extLst>
              <a:ext uri="{FF2B5EF4-FFF2-40B4-BE49-F238E27FC236}">
                <a16:creationId xmlns:a16="http://schemas.microsoft.com/office/drawing/2014/main" id="{B146780E-3BFB-D414-83F2-93AFDE58460A}"/>
              </a:ext>
            </a:extLst>
          </p:cNvPr>
          <p:cNvSpPr/>
          <p:nvPr/>
        </p:nvSpPr>
        <p:spPr>
          <a:xfrm>
            <a:off x="5474776" y="5029407"/>
            <a:ext cx="406716" cy="3549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</a:rPr>
              <a:t>V2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AE69343C-6259-DA44-E266-86161C07E8A5}"/>
              </a:ext>
            </a:extLst>
          </p:cNvPr>
          <p:cNvSpPr txBox="1"/>
          <p:nvPr/>
        </p:nvSpPr>
        <p:spPr>
          <a:xfrm>
            <a:off x="3481417" y="4484012"/>
            <a:ext cx="122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>
                <a:solidFill>
                  <a:srgbClr val="FF0000"/>
                </a:solidFill>
              </a:rPr>
              <a:t>保留陈旧轮次分配结果！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2482D631-9409-298B-8FE7-AE70E2D401D4}"/>
              </a:ext>
            </a:extLst>
          </p:cNvPr>
          <p:cNvSpPr txBox="1"/>
          <p:nvPr/>
        </p:nvSpPr>
        <p:spPr>
          <a:xfrm>
            <a:off x="3549790" y="4944160"/>
            <a:ext cx="1037984" cy="321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>
                <a:solidFill>
                  <a:srgbClr val="FF0000"/>
                </a:solidFill>
              </a:rPr>
              <a:t>原因：批小</a:t>
            </a:r>
            <a:r>
              <a:rPr lang="en-US" altLang="zh-CN" sz="700">
                <a:solidFill>
                  <a:srgbClr val="FF0000"/>
                </a:solidFill>
              </a:rPr>
              <a:t>, </a:t>
            </a:r>
            <a:r>
              <a:rPr lang="zh-CN" altLang="en-US" sz="700">
                <a:solidFill>
                  <a:srgbClr val="FF0000"/>
                </a:solidFill>
              </a:rPr>
              <a:t>不累加会导致中心严重抖动</a:t>
            </a:r>
            <a:endParaRPr lang="zh-CN" altLang="en-US" sz="70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A545245-AB0B-0B9A-8E99-5B8BE1B28B46}"/>
              </a:ext>
            </a:extLst>
          </p:cNvPr>
          <p:cNvSpPr txBox="1"/>
          <p:nvPr/>
        </p:nvSpPr>
        <p:spPr>
          <a:xfrm>
            <a:off x="5262613" y="2821456"/>
            <a:ext cx="1037984" cy="321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700" b="1">
                <a:solidFill>
                  <a:srgbClr val="00B050"/>
                </a:solidFill>
              </a:rPr>
              <a:t>Random</a:t>
            </a:r>
            <a:r>
              <a:rPr lang="zh-CN" altLang="en-US" sz="700" b="1">
                <a:solidFill>
                  <a:srgbClr val="00B050"/>
                </a:solidFill>
              </a:rPr>
              <a:t> </a:t>
            </a:r>
            <a:r>
              <a:rPr lang="en-US" altLang="zh-CN" sz="700" b="1">
                <a:solidFill>
                  <a:srgbClr val="00B050"/>
                </a:solidFill>
              </a:rPr>
              <a:t>Size-fixed</a:t>
            </a:r>
            <a:r>
              <a:rPr lang="zh-CN" altLang="en-US" sz="700" b="1">
                <a:solidFill>
                  <a:srgbClr val="00B050"/>
                </a:solidFill>
              </a:rPr>
              <a:t> </a:t>
            </a:r>
            <a:r>
              <a:rPr lang="en-US" altLang="zh-CN" sz="700" b="1">
                <a:solidFill>
                  <a:srgbClr val="00B050"/>
                </a:solidFill>
              </a:rPr>
              <a:t>Mini-batch</a:t>
            </a:r>
            <a:endParaRPr lang="zh-CN" altLang="en-US" sz="700" b="1">
              <a:solidFill>
                <a:srgbClr val="00B050"/>
              </a:solidFill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73E8E458-8E5C-ED62-08E2-053DB0FBF238}"/>
              </a:ext>
            </a:extLst>
          </p:cNvPr>
          <p:cNvSpPr/>
          <p:nvPr/>
        </p:nvSpPr>
        <p:spPr>
          <a:xfrm>
            <a:off x="4705687" y="4669467"/>
            <a:ext cx="406716" cy="3549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</a:rPr>
              <a:t>V1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DE34A0EC-CFCF-ADA6-9E73-C12FA3CC052D}"/>
              </a:ext>
            </a:extLst>
          </p:cNvPr>
          <p:cNvSpPr/>
          <p:nvPr/>
        </p:nvSpPr>
        <p:spPr>
          <a:xfrm>
            <a:off x="5474776" y="4675142"/>
            <a:ext cx="406716" cy="3549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err="1">
                <a:solidFill>
                  <a:schemeClr val="tx1"/>
                </a:solidFill>
              </a:rPr>
              <a:t>Vn</a:t>
            </a:r>
            <a:endParaRPr kumimoji="1" lang="zh-CN" altLang="en-US" sz="1400">
              <a:solidFill>
                <a:schemeClr val="tx1"/>
              </a:solidFill>
            </a:endParaRPr>
          </a:p>
        </p:txBody>
      </p:sp>
      <p:sp>
        <p:nvSpPr>
          <p:cNvPr id="114" name="任意形状 113">
            <a:extLst>
              <a:ext uri="{FF2B5EF4-FFF2-40B4-BE49-F238E27FC236}">
                <a16:creationId xmlns:a16="http://schemas.microsoft.com/office/drawing/2014/main" id="{7C5F5024-9817-2BF6-0FE3-9345031A398D}"/>
              </a:ext>
            </a:extLst>
          </p:cNvPr>
          <p:cNvSpPr/>
          <p:nvPr/>
        </p:nvSpPr>
        <p:spPr>
          <a:xfrm>
            <a:off x="4626613" y="4620930"/>
            <a:ext cx="1406838" cy="826247"/>
          </a:xfrm>
          <a:custGeom>
            <a:avLst/>
            <a:gdLst>
              <a:gd name="connsiteX0" fmla="*/ 0 w 1406838"/>
              <a:gd name="connsiteY0" fmla="*/ 0 h 826247"/>
              <a:gd name="connsiteX1" fmla="*/ 0 w 1406838"/>
              <a:gd name="connsiteY1" fmla="*/ 462982 h 826247"/>
              <a:gd name="connsiteX2" fmla="*/ 684810 w 1406838"/>
              <a:gd name="connsiteY2" fmla="*/ 462982 h 826247"/>
              <a:gd name="connsiteX3" fmla="*/ 684810 w 1406838"/>
              <a:gd name="connsiteY3" fmla="*/ 826247 h 826247"/>
              <a:gd name="connsiteX4" fmla="*/ 1053044 w 1406838"/>
              <a:gd name="connsiteY4" fmla="*/ 826247 h 826247"/>
              <a:gd name="connsiteX5" fmla="*/ 1406838 w 1406838"/>
              <a:gd name="connsiteY5" fmla="*/ 826247 h 826247"/>
              <a:gd name="connsiteX6" fmla="*/ 1406838 w 1406838"/>
              <a:gd name="connsiteY6" fmla="*/ 441258 h 826247"/>
              <a:gd name="connsiteX7" fmla="*/ 1406838 w 1406838"/>
              <a:gd name="connsiteY7" fmla="*/ 7122 h 826247"/>
              <a:gd name="connsiteX8" fmla="*/ 980097 w 1406838"/>
              <a:gd name="connsiteY8" fmla="*/ 4962 h 826247"/>
              <a:gd name="connsiteX9" fmla="*/ 483014 w 1406838"/>
              <a:gd name="connsiteY9" fmla="*/ 2445 h 826247"/>
              <a:gd name="connsiteX10" fmla="*/ 0 w 1406838"/>
              <a:gd name="connsiteY10" fmla="*/ 0 h 826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6838" h="826247" extrusionOk="0">
                <a:moveTo>
                  <a:pt x="0" y="0"/>
                </a:moveTo>
                <a:cubicBezTo>
                  <a:pt x="22448" y="128568"/>
                  <a:pt x="-6267" y="326625"/>
                  <a:pt x="0" y="462982"/>
                </a:cubicBezTo>
                <a:cubicBezTo>
                  <a:pt x="316991" y="473778"/>
                  <a:pt x="529663" y="448324"/>
                  <a:pt x="684810" y="462982"/>
                </a:cubicBezTo>
                <a:cubicBezTo>
                  <a:pt x="681855" y="584965"/>
                  <a:pt x="701140" y="742698"/>
                  <a:pt x="684810" y="826247"/>
                </a:cubicBezTo>
                <a:cubicBezTo>
                  <a:pt x="823833" y="811368"/>
                  <a:pt x="891476" y="828272"/>
                  <a:pt x="1053044" y="826247"/>
                </a:cubicBezTo>
                <a:cubicBezTo>
                  <a:pt x="1214612" y="824222"/>
                  <a:pt x="1307004" y="811318"/>
                  <a:pt x="1406838" y="826247"/>
                </a:cubicBezTo>
                <a:cubicBezTo>
                  <a:pt x="1404744" y="722533"/>
                  <a:pt x="1422058" y="599955"/>
                  <a:pt x="1406838" y="441258"/>
                </a:cubicBezTo>
                <a:cubicBezTo>
                  <a:pt x="1391618" y="282561"/>
                  <a:pt x="1413517" y="160167"/>
                  <a:pt x="1406838" y="7122"/>
                </a:cubicBezTo>
                <a:cubicBezTo>
                  <a:pt x="1230849" y="27044"/>
                  <a:pt x="1101605" y="6065"/>
                  <a:pt x="980097" y="4962"/>
                </a:cubicBezTo>
                <a:cubicBezTo>
                  <a:pt x="858589" y="3859"/>
                  <a:pt x="709807" y="990"/>
                  <a:pt x="483014" y="2445"/>
                </a:cubicBezTo>
                <a:cubicBezTo>
                  <a:pt x="256221" y="3900"/>
                  <a:pt x="170684" y="7368"/>
                  <a:pt x="0" y="0"/>
                </a:cubicBezTo>
                <a:close/>
              </a:path>
            </a:pathLst>
          </a:custGeom>
          <a:noFill/>
          <a:ln w="254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617499634">
                  <a:custGeom>
                    <a:avLst/>
                    <a:gdLst>
                      <a:gd name="connsiteX0" fmla="*/ 0 w 1515979"/>
                      <a:gd name="connsiteY0" fmla="*/ 0 h 930442"/>
                      <a:gd name="connsiteX1" fmla="*/ 0 w 1515979"/>
                      <a:gd name="connsiteY1" fmla="*/ 521368 h 930442"/>
                      <a:gd name="connsiteX2" fmla="*/ 737937 w 1515979"/>
                      <a:gd name="connsiteY2" fmla="*/ 521368 h 930442"/>
                      <a:gd name="connsiteX3" fmla="*/ 737937 w 1515979"/>
                      <a:gd name="connsiteY3" fmla="*/ 930442 h 930442"/>
                      <a:gd name="connsiteX4" fmla="*/ 1515979 w 1515979"/>
                      <a:gd name="connsiteY4" fmla="*/ 930442 h 930442"/>
                      <a:gd name="connsiteX5" fmla="*/ 1515979 w 1515979"/>
                      <a:gd name="connsiteY5" fmla="*/ 8021 h 930442"/>
                      <a:gd name="connsiteX6" fmla="*/ 0 w 1515979"/>
                      <a:gd name="connsiteY6" fmla="*/ 0 h 9304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515979" h="930442">
                        <a:moveTo>
                          <a:pt x="0" y="0"/>
                        </a:moveTo>
                        <a:lnTo>
                          <a:pt x="0" y="521368"/>
                        </a:lnTo>
                        <a:lnTo>
                          <a:pt x="737937" y="521368"/>
                        </a:lnTo>
                        <a:lnTo>
                          <a:pt x="737937" y="930442"/>
                        </a:lnTo>
                        <a:lnTo>
                          <a:pt x="1515979" y="930442"/>
                        </a:lnTo>
                        <a:lnTo>
                          <a:pt x="1515979" y="802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cxnSp>
        <p:nvCxnSpPr>
          <p:cNvPr id="118" name="直线箭头连接符 117">
            <a:extLst>
              <a:ext uri="{FF2B5EF4-FFF2-40B4-BE49-F238E27FC236}">
                <a16:creationId xmlns:a16="http://schemas.microsoft.com/office/drawing/2014/main" id="{569E07E5-D4BC-318E-92DC-3F9018000969}"/>
              </a:ext>
            </a:extLst>
          </p:cNvPr>
          <p:cNvCxnSpPr>
            <a:cxnSpLocks/>
          </p:cNvCxnSpPr>
          <p:nvPr/>
        </p:nvCxnSpPr>
        <p:spPr>
          <a:xfrm flipH="1">
            <a:off x="4911522" y="5277701"/>
            <a:ext cx="1" cy="206488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5C8EF33D-7B00-6C71-B990-54CE31294769}"/>
              </a:ext>
            </a:extLst>
          </p:cNvPr>
          <p:cNvSpPr txBox="1"/>
          <p:nvPr/>
        </p:nvSpPr>
        <p:spPr>
          <a:xfrm>
            <a:off x="5135344" y="5452951"/>
            <a:ext cx="1189846" cy="433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b="1">
                <a:solidFill>
                  <a:srgbClr val="FF0000"/>
                </a:solidFill>
              </a:rPr>
              <a:t>陈旧轮次中不准确的分配结果</a:t>
            </a:r>
          </a:p>
        </p:txBody>
      </p:sp>
      <p:cxnSp>
        <p:nvCxnSpPr>
          <p:cNvPr id="120" name="直线箭头连接符 119">
            <a:extLst>
              <a:ext uri="{FF2B5EF4-FFF2-40B4-BE49-F238E27FC236}">
                <a16:creationId xmlns:a16="http://schemas.microsoft.com/office/drawing/2014/main" id="{C20B77F0-DAB0-ED44-F3FC-1F2AE9C11A73}"/>
              </a:ext>
            </a:extLst>
          </p:cNvPr>
          <p:cNvCxnSpPr>
            <a:cxnSpLocks/>
          </p:cNvCxnSpPr>
          <p:nvPr/>
        </p:nvCxnSpPr>
        <p:spPr>
          <a:xfrm flipH="1">
            <a:off x="5643533" y="5285170"/>
            <a:ext cx="1" cy="20648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120">
            <a:extLst>
              <a:ext uri="{FF2B5EF4-FFF2-40B4-BE49-F238E27FC236}">
                <a16:creationId xmlns:a16="http://schemas.microsoft.com/office/drawing/2014/main" id="{0D6AF03C-CB19-5D01-1053-BADDFC9590A9}"/>
              </a:ext>
            </a:extLst>
          </p:cNvPr>
          <p:cNvSpPr txBox="1"/>
          <p:nvPr/>
        </p:nvSpPr>
        <p:spPr>
          <a:xfrm>
            <a:off x="4126263" y="5458574"/>
            <a:ext cx="1074194" cy="433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/>
              <a:t>本轮次中更准确的分配结果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C615937B-A277-7642-9990-811F40ED26E7}"/>
              </a:ext>
            </a:extLst>
          </p:cNvPr>
          <p:cNvSpPr/>
          <p:nvPr/>
        </p:nvSpPr>
        <p:spPr>
          <a:xfrm>
            <a:off x="7196960" y="3215432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V1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BD49993E-E24B-3D1D-A10B-87D4C07E0191}"/>
              </a:ext>
            </a:extLst>
          </p:cNvPr>
          <p:cNvSpPr/>
          <p:nvPr/>
        </p:nvSpPr>
        <p:spPr>
          <a:xfrm>
            <a:off x="8264116" y="3215432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err="1">
                <a:solidFill>
                  <a:schemeClr val="tx1"/>
                </a:solidFill>
              </a:rPr>
              <a:t>Vn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D79BDC6D-7740-D9B6-2D42-8E9E81F9FAF7}"/>
              </a:ext>
            </a:extLst>
          </p:cNvPr>
          <p:cNvSpPr/>
          <p:nvPr/>
        </p:nvSpPr>
        <p:spPr>
          <a:xfrm>
            <a:off x="7566333" y="3215432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V2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CB1249B6-B481-E325-CE33-8FEE52B728A4}"/>
              </a:ext>
            </a:extLst>
          </p:cNvPr>
          <p:cNvSpPr txBox="1"/>
          <p:nvPr/>
        </p:nvSpPr>
        <p:spPr>
          <a:xfrm>
            <a:off x="7949010" y="3215432"/>
            <a:ext cx="369374" cy="34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/>
              <a:t>…</a:t>
            </a:r>
            <a:endParaRPr kumimoji="1" lang="zh-CN" altLang="en-US" sz="1600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1DCE2785-BD6A-F14C-F34C-222C4C9F8E53}"/>
              </a:ext>
            </a:extLst>
          </p:cNvPr>
          <p:cNvSpPr/>
          <p:nvPr/>
        </p:nvSpPr>
        <p:spPr>
          <a:xfrm>
            <a:off x="7393600" y="3871645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C1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DAA7E02D-FE77-B539-4166-5F1E1CBCE99C}"/>
              </a:ext>
            </a:extLst>
          </p:cNvPr>
          <p:cNvSpPr/>
          <p:nvPr/>
        </p:nvSpPr>
        <p:spPr>
          <a:xfrm>
            <a:off x="8092057" y="3871645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Ck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77642054-0F2C-14EA-5609-5B41CE77AC5D}"/>
              </a:ext>
            </a:extLst>
          </p:cNvPr>
          <p:cNvSpPr txBox="1"/>
          <p:nvPr/>
        </p:nvSpPr>
        <p:spPr>
          <a:xfrm>
            <a:off x="7776949" y="3871645"/>
            <a:ext cx="369374" cy="34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/>
              <a:t>…</a:t>
            </a:r>
            <a:endParaRPr kumimoji="1" lang="zh-CN" altLang="en-US" sz="1600"/>
          </a:p>
        </p:txBody>
      </p:sp>
      <p:cxnSp>
        <p:nvCxnSpPr>
          <p:cNvPr id="131" name="直线箭头连接符 130">
            <a:extLst>
              <a:ext uri="{FF2B5EF4-FFF2-40B4-BE49-F238E27FC236}">
                <a16:creationId xmlns:a16="http://schemas.microsoft.com/office/drawing/2014/main" id="{6D9D28BD-D833-E5E8-27D8-08A03A41B12B}"/>
              </a:ext>
            </a:extLst>
          </p:cNvPr>
          <p:cNvCxnSpPr>
            <a:cxnSpLocks/>
            <a:stCxn id="122" idx="2"/>
            <a:endCxn id="127" idx="0"/>
          </p:cNvCxnSpPr>
          <p:nvPr/>
        </p:nvCxnSpPr>
        <p:spPr>
          <a:xfrm>
            <a:off x="7381647" y="3510814"/>
            <a:ext cx="196640" cy="3608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线箭头连接符 131">
            <a:extLst>
              <a:ext uri="{FF2B5EF4-FFF2-40B4-BE49-F238E27FC236}">
                <a16:creationId xmlns:a16="http://schemas.microsoft.com/office/drawing/2014/main" id="{600DD950-A0DB-E28E-A98E-6CCC1E5901BB}"/>
              </a:ext>
            </a:extLst>
          </p:cNvPr>
          <p:cNvCxnSpPr>
            <a:cxnSpLocks/>
            <a:stCxn id="122" idx="2"/>
            <a:endCxn id="129" idx="0"/>
          </p:cNvCxnSpPr>
          <p:nvPr/>
        </p:nvCxnSpPr>
        <p:spPr>
          <a:xfrm>
            <a:off x="7381647" y="3510814"/>
            <a:ext cx="895097" cy="3608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矩形 137">
            <a:extLst>
              <a:ext uri="{FF2B5EF4-FFF2-40B4-BE49-F238E27FC236}">
                <a16:creationId xmlns:a16="http://schemas.microsoft.com/office/drawing/2014/main" id="{81425EDE-B405-7B21-8B9D-129653455CDC}"/>
              </a:ext>
            </a:extLst>
          </p:cNvPr>
          <p:cNvSpPr/>
          <p:nvPr/>
        </p:nvSpPr>
        <p:spPr>
          <a:xfrm>
            <a:off x="7393600" y="4659665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C1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FDC6526F-9CA2-EDCA-CBF7-67379B4ED285}"/>
              </a:ext>
            </a:extLst>
          </p:cNvPr>
          <p:cNvSpPr/>
          <p:nvPr/>
        </p:nvSpPr>
        <p:spPr>
          <a:xfrm>
            <a:off x="8092057" y="4659665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Ck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6137B9A6-0FB7-E42B-D82C-98B70A90A4C2}"/>
              </a:ext>
            </a:extLst>
          </p:cNvPr>
          <p:cNvSpPr txBox="1"/>
          <p:nvPr/>
        </p:nvSpPr>
        <p:spPr>
          <a:xfrm>
            <a:off x="7776949" y="4659666"/>
            <a:ext cx="369374" cy="34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/>
              <a:t>…</a:t>
            </a:r>
            <a:endParaRPr kumimoji="1" lang="zh-CN" altLang="en-US" sz="1600"/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C5B7CBD4-78CD-344C-22C2-457D0A025DC0}"/>
              </a:ext>
            </a:extLst>
          </p:cNvPr>
          <p:cNvCxnSpPr>
            <a:cxnSpLocks/>
            <a:stCxn id="138" idx="2"/>
          </p:cNvCxnSpPr>
          <p:nvPr/>
        </p:nvCxnSpPr>
        <p:spPr>
          <a:xfrm>
            <a:off x="7578287" y="4955046"/>
            <a:ext cx="0" cy="1040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矩形 148">
            <a:extLst>
              <a:ext uri="{FF2B5EF4-FFF2-40B4-BE49-F238E27FC236}">
                <a16:creationId xmlns:a16="http://schemas.microsoft.com/office/drawing/2014/main" id="{9D795E46-BF58-7684-5DE1-0F1BE8BB7451}"/>
              </a:ext>
            </a:extLst>
          </p:cNvPr>
          <p:cNvSpPr/>
          <p:nvPr/>
        </p:nvSpPr>
        <p:spPr>
          <a:xfrm>
            <a:off x="7395483" y="5054395"/>
            <a:ext cx="369374" cy="2953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V1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2AFEBBAF-FEB1-E3A6-3E01-5E4164A4A539}"/>
              </a:ext>
            </a:extLst>
          </p:cNvPr>
          <p:cNvSpPr txBox="1"/>
          <p:nvPr/>
        </p:nvSpPr>
        <p:spPr>
          <a:xfrm>
            <a:off x="7270175" y="2952947"/>
            <a:ext cx="1399225" cy="283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/>
              <a:t>阶段</a:t>
            </a:r>
            <a:r>
              <a:rPr kumimoji="1" lang="en-US" altLang="zh-CN" sz="1200"/>
              <a:t>1.</a:t>
            </a:r>
            <a:r>
              <a:rPr kumimoji="1" lang="zh-CN" altLang="en-US" sz="1200"/>
              <a:t>距离计算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164A9E0F-C370-6281-A04B-A93E986731D4}"/>
              </a:ext>
            </a:extLst>
          </p:cNvPr>
          <p:cNvSpPr txBox="1"/>
          <p:nvPr/>
        </p:nvSpPr>
        <p:spPr>
          <a:xfrm>
            <a:off x="7263335" y="4388125"/>
            <a:ext cx="1320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/>
              <a:t>阶段</a:t>
            </a:r>
            <a:r>
              <a:rPr kumimoji="1" lang="en-US" altLang="zh-CN" sz="1200"/>
              <a:t>2.</a:t>
            </a:r>
            <a:r>
              <a:rPr kumimoji="1" lang="zh-CN" altLang="en-US" sz="1200"/>
              <a:t>样本分配</a:t>
            </a: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169A05DF-36C9-10B1-C81F-FCD34DF676A3}"/>
              </a:ext>
            </a:extLst>
          </p:cNvPr>
          <p:cNvSpPr/>
          <p:nvPr/>
        </p:nvSpPr>
        <p:spPr>
          <a:xfrm>
            <a:off x="8890527" y="3215432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V1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ABCB23CC-4F0D-D415-F3DF-F79D4151FAFA}"/>
              </a:ext>
            </a:extLst>
          </p:cNvPr>
          <p:cNvSpPr/>
          <p:nvPr/>
        </p:nvSpPr>
        <p:spPr>
          <a:xfrm>
            <a:off x="9957685" y="3215432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err="1">
                <a:solidFill>
                  <a:schemeClr val="tx1"/>
                </a:solidFill>
              </a:rPr>
              <a:t>Vn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1F971443-6489-1F46-1DA3-FFE6473FB7F3}"/>
              </a:ext>
            </a:extLst>
          </p:cNvPr>
          <p:cNvSpPr/>
          <p:nvPr/>
        </p:nvSpPr>
        <p:spPr>
          <a:xfrm>
            <a:off x="9259901" y="3215432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V2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60DF24BC-1879-2AC4-884A-775ACE8CC098}"/>
              </a:ext>
            </a:extLst>
          </p:cNvPr>
          <p:cNvSpPr txBox="1"/>
          <p:nvPr/>
        </p:nvSpPr>
        <p:spPr>
          <a:xfrm>
            <a:off x="9642577" y="3215432"/>
            <a:ext cx="369374" cy="34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/>
              <a:t>…</a:t>
            </a:r>
            <a:endParaRPr kumimoji="1" lang="zh-CN" altLang="en-US" sz="1600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2F9EA41F-8512-3D20-B896-BAE3CEC9628F}"/>
              </a:ext>
            </a:extLst>
          </p:cNvPr>
          <p:cNvSpPr/>
          <p:nvPr/>
        </p:nvSpPr>
        <p:spPr>
          <a:xfrm>
            <a:off x="9087167" y="3871645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C1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1F4C1C6C-31F8-B41D-BF01-9ED73B4DA660}"/>
              </a:ext>
            </a:extLst>
          </p:cNvPr>
          <p:cNvSpPr/>
          <p:nvPr/>
        </p:nvSpPr>
        <p:spPr>
          <a:xfrm>
            <a:off x="9785625" y="3871645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Ck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BDEC9A4E-9106-3AD0-3BE2-570D7F2C0068}"/>
              </a:ext>
            </a:extLst>
          </p:cNvPr>
          <p:cNvSpPr txBox="1"/>
          <p:nvPr/>
        </p:nvSpPr>
        <p:spPr>
          <a:xfrm>
            <a:off x="9470517" y="3871645"/>
            <a:ext cx="369374" cy="34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/>
              <a:t>…</a:t>
            </a:r>
            <a:endParaRPr kumimoji="1" lang="zh-CN" altLang="en-US" sz="1600"/>
          </a:p>
        </p:txBody>
      </p:sp>
      <p:cxnSp>
        <p:nvCxnSpPr>
          <p:cNvPr id="170" name="直线箭头连接符 169">
            <a:extLst>
              <a:ext uri="{FF2B5EF4-FFF2-40B4-BE49-F238E27FC236}">
                <a16:creationId xmlns:a16="http://schemas.microsoft.com/office/drawing/2014/main" id="{CD116FF8-6DCF-ACAC-6557-B4825B833394}"/>
              </a:ext>
            </a:extLst>
          </p:cNvPr>
          <p:cNvCxnSpPr>
            <a:cxnSpLocks/>
            <a:stCxn id="163" idx="2"/>
            <a:endCxn id="167" idx="0"/>
          </p:cNvCxnSpPr>
          <p:nvPr/>
        </p:nvCxnSpPr>
        <p:spPr>
          <a:xfrm>
            <a:off x="9075215" y="3510814"/>
            <a:ext cx="196640" cy="3608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线箭头连接符 170">
            <a:extLst>
              <a:ext uri="{FF2B5EF4-FFF2-40B4-BE49-F238E27FC236}">
                <a16:creationId xmlns:a16="http://schemas.microsoft.com/office/drawing/2014/main" id="{BF8361F6-0C01-97B2-5580-5594212CE8A4}"/>
              </a:ext>
            </a:extLst>
          </p:cNvPr>
          <p:cNvCxnSpPr>
            <a:cxnSpLocks/>
            <a:stCxn id="163" idx="2"/>
            <a:endCxn id="168" idx="0"/>
          </p:cNvCxnSpPr>
          <p:nvPr/>
        </p:nvCxnSpPr>
        <p:spPr>
          <a:xfrm>
            <a:off x="9075215" y="3510814"/>
            <a:ext cx="895097" cy="3608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矩形 171">
            <a:extLst>
              <a:ext uri="{FF2B5EF4-FFF2-40B4-BE49-F238E27FC236}">
                <a16:creationId xmlns:a16="http://schemas.microsoft.com/office/drawing/2014/main" id="{304C7BA2-9902-818D-688F-702B1C49EC5B}"/>
              </a:ext>
            </a:extLst>
          </p:cNvPr>
          <p:cNvSpPr/>
          <p:nvPr/>
        </p:nvSpPr>
        <p:spPr>
          <a:xfrm>
            <a:off x="8825861" y="3203971"/>
            <a:ext cx="895097" cy="329235"/>
          </a:xfrm>
          <a:custGeom>
            <a:avLst/>
            <a:gdLst>
              <a:gd name="connsiteX0" fmla="*/ 0 w 895097"/>
              <a:gd name="connsiteY0" fmla="*/ 0 h 329235"/>
              <a:gd name="connsiteX1" fmla="*/ 438598 w 895097"/>
              <a:gd name="connsiteY1" fmla="*/ 0 h 329235"/>
              <a:gd name="connsiteX2" fmla="*/ 895097 w 895097"/>
              <a:gd name="connsiteY2" fmla="*/ 0 h 329235"/>
              <a:gd name="connsiteX3" fmla="*/ 895097 w 895097"/>
              <a:gd name="connsiteY3" fmla="*/ 329235 h 329235"/>
              <a:gd name="connsiteX4" fmla="*/ 447549 w 895097"/>
              <a:gd name="connsiteY4" fmla="*/ 329235 h 329235"/>
              <a:gd name="connsiteX5" fmla="*/ 0 w 895097"/>
              <a:gd name="connsiteY5" fmla="*/ 329235 h 329235"/>
              <a:gd name="connsiteX6" fmla="*/ 0 w 895097"/>
              <a:gd name="connsiteY6" fmla="*/ 0 h 329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5097" h="329235" extrusionOk="0">
                <a:moveTo>
                  <a:pt x="0" y="0"/>
                </a:moveTo>
                <a:cubicBezTo>
                  <a:pt x="191012" y="-17479"/>
                  <a:pt x="257971" y="298"/>
                  <a:pt x="438598" y="0"/>
                </a:cubicBezTo>
                <a:cubicBezTo>
                  <a:pt x="619225" y="-298"/>
                  <a:pt x="718630" y="15240"/>
                  <a:pt x="895097" y="0"/>
                </a:cubicBezTo>
                <a:cubicBezTo>
                  <a:pt x="890764" y="119312"/>
                  <a:pt x="890699" y="178583"/>
                  <a:pt x="895097" y="329235"/>
                </a:cubicBezTo>
                <a:cubicBezTo>
                  <a:pt x="706889" y="323383"/>
                  <a:pt x="584795" y="313255"/>
                  <a:pt x="447549" y="329235"/>
                </a:cubicBezTo>
                <a:cubicBezTo>
                  <a:pt x="310303" y="345215"/>
                  <a:pt x="197906" y="322178"/>
                  <a:pt x="0" y="329235"/>
                </a:cubicBezTo>
                <a:cubicBezTo>
                  <a:pt x="8568" y="245736"/>
                  <a:pt x="-7633" y="136013"/>
                  <a:pt x="0" y="0"/>
                </a:cubicBezTo>
                <a:close/>
              </a:path>
            </a:pathLst>
          </a:custGeom>
          <a:noFill/>
          <a:ln w="2540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C64DD9C8-74CF-253A-4DF8-B9CBB6706707}"/>
              </a:ext>
            </a:extLst>
          </p:cNvPr>
          <p:cNvSpPr/>
          <p:nvPr/>
        </p:nvSpPr>
        <p:spPr>
          <a:xfrm>
            <a:off x="9087167" y="4659665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C1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B4F22721-69BF-9C65-456B-1AD5CCD93CB1}"/>
              </a:ext>
            </a:extLst>
          </p:cNvPr>
          <p:cNvSpPr/>
          <p:nvPr/>
        </p:nvSpPr>
        <p:spPr>
          <a:xfrm>
            <a:off x="9785625" y="4659665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Ck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9C0F30F0-80AD-8DFB-316E-98DAE496FDC1}"/>
              </a:ext>
            </a:extLst>
          </p:cNvPr>
          <p:cNvSpPr txBox="1"/>
          <p:nvPr/>
        </p:nvSpPr>
        <p:spPr>
          <a:xfrm>
            <a:off x="9470517" y="4659666"/>
            <a:ext cx="369374" cy="34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/>
              <a:t>…</a:t>
            </a:r>
            <a:endParaRPr kumimoji="1" lang="zh-CN" altLang="en-US" sz="1600"/>
          </a:p>
        </p:txBody>
      </p: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F1B30E4F-B31D-0F8B-6FE5-A4D02DA12276}"/>
              </a:ext>
            </a:extLst>
          </p:cNvPr>
          <p:cNvCxnSpPr>
            <a:cxnSpLocks/>
            <a:stCxn id="173" idx="2"/>
          </p:cNvCxnSpPr>
          <p:nvPr/>
        </p:nvCxnSpPr>
        <p:spPr>
          <a:xfrm>
            <a:off x="9271854" y="4955046"/>
            <a:ext cx="0" cy="1040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矩形 176">
            <a:extLst>
              <a:ext uri="{FF2B5EF4-FFF2-40B4-BE49-F238E27FC236}">
                <a16:creationId xmlns:a16="http://schemas.microsoft.com/office/drawing/2014/main" id="{1B114E72-598A-5D7A-04DF-A2E799CD21A3}"/>
              </a:ext>
            </a:extLst>
          </p:cNvPr>
          <p:cNvSpPr/>
          <p:nvPr/>
        </p:nvSpPr>
        <p:spPr>
          <a:xfrm>
            <a:off x="9089051" y="5054395"/>
            <a:ext cx="369374" cy="2953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V1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B030FFCC-C9B4-5151-B48F-EF4D10F7E87C}"/>
              </a:ext>
            </a:extLst>
          </p:cNvPr>
          <p:cNvSpPr txBox="1"/>
          <p:nvPr/>
        </p:nvSpPr>
        <p:spPr>
          <a:xfrm>
            <a:off x="8963744" y="2952947"/>
            <a:ext cx="1399225" cy="283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/>
              <a:t>阶段</a:t>
            </a:r>
            <a:r>
              <a:rPr kumimoji="1" lang="en-US" altLang="zh-CN" sz="1200"/>
              <a:t>1.</a:t>
            </a:r>
            <a:r>
              <a:rPr kumimoji="1" lang="zh-CN" altLang="en-US" sz="1200"/>
              <a:t>距离计算</a:t>
            </a: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8FEC6B88-9365-9B88-C55E-19790EF1EBC3}"/>
              </a:ext>
            </a:extLst>
          </p:cNvPr>
          <p:cNvSpPr txBox="1"/>
          <p:nvPr/>
        </p:nvSpPr>
        <p:spPr>
          <a:xfrm>
            <a:off x="8956903" y="4388125"/>
            <a:ext cx="1320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/>
              <a:t>阶段</a:t>
            </a:r>
            <a:r>
              <a:rPr kumimoji="1" lang="en-US" altLang="zh-CN" sz="1200"/>
              <a:t>2.</a:t>
            </a:r>
            <a:r>
              <a:rPr kumimoji="1" lang="zh-CN" altLang="en-US" sz="1200"/>
              <a:t>样本分配</a:t>
            </a:r>
          </a:p>
        </p:txBody>
      </p:sp>
      <p:cxnSp>
        <p:nvCxnSpPr>
          <p:cNvPr id="181" name="直线箭头连接符 180">
            <a:extLst>
              <a:ext uri="{FF2B5EF4-FFF2-40B4-BE49-F238E27FC236}">
                <a16:creationId xmlns:a16="http://schemas.microsoft.com/office/drawing/2014/main" id="{08A2C733-B2BB-CEC3-9252-2A529F9FBA86}"/>
              </a:ext>
            </a:extLst>
          </p:cNvPr>
          <p:cNvCxnSpPr>
            <a:cxnSpLocks/>
            <a:stCxn id="165" idx="2"/>
            <a:endCxn id="167" idx="0"/>
          </p:cNvCxnSpPr>
          <p:nvPr/>
        </p:nvCxnSpPr>
        <p:spPr>
          <a:xfrm flipH="1">
            <a:off x="9271854" y="3510814"/>
            <a:ext cx="172734" cy="3608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6E85150D-A443-5FA3-9923-295ABB8B89F6}"/>
              </a:ext>
            </a:extLst>
          </p:cNvPr>
          <p:cNvCxnSpPr>
            <a:cxnSpLocks/>
            <a:stCxn id="165" idx="2"/>
            <a:endCxn id="168" idx="0"/>
          </p:cNvCxnSpPr>
          <p:nvPr/>
        </p:nvCxnSpPr>
        <p:spPr>
          <a:xfrm>
            <a:off x="9444588" y="3510814"/>
            <a:ext cx="525724" cy="3608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矩形 186">
            <a:extLst>
              <a:ext uri="{FF2B5EF4-FFF2-40B4-BE49-F238E27FC236}">
                <a16:creationId xmlns:a16="http://schemas.microsoft.com/office/drawing/2014/main" id="{394FB19B-FCF7-B538-0E8C-B23C80950C17}"/>
              </a:ext>
            </a:extLst>
          </p:cNvPr>
          <p:cNvSpPr/>
          <p:nvPr/>
        </p:nvSpPr>
        <p:spPr>
          <a:xfrm>
            <a:off x="7152528" y="3195586"/>
            <a:ext cx="480195" cy="329235"/>
          </a:xfrm>
          <a:custGeom>
            <a:avLst/>
            <a:gdLst>
              <a:gd name="connsiteX0" fmla="*/ 0 w 480195"/>
              <a:gd name="connsiteY0" fmla="*/ 0 h 329235"/>
              <a:gd name="connsiteX1" fmla="*/ 480195 w 480195"/>
              <a:gd name="connsiteY1" fmla="*/ 0 h 329235"/>
              <a:gd name="connsiteX2" fmla="*/ 480195 w 480195"/>
              <a:gd name="connsiteY2" fmla="*/ 329235 h 329235"/>
              <a:gd name="connsiteX3" fmla="*/ 0 w 480195"/>
              <a:gd name="connsiteY3" fmla="*/ 329235 h 329235"/>
              <a:gd name="connsiteX4" fmla="*/ 0 w 480195"/>
              <a:gd name="connsiteY4" fmla="*/ 0 h 329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0195" h="329235" extrusionOk="0">
                <a:moveTo>
                  <a:pt x="0" y="0"/>
                </a:moveTo>
                <a:cubicBezTo>
                  <a:pt x="145355" y="-11364"/>
                  <a:pt x="365746" y="-9474"/>
                  <a:pt x="480195" y="0"/>
                </a:cubicBezTo>
                <a:cubicBezTo>
                  <a:pt x="490182" y="140161"/>
                  <a:pt x="493542" y="222893"/>
                  <a:pt x="480195" y="329235"/>
                </a:cubicBezTo>
                <a:cubicBezTo>
                  <a:pt x="282261" y="309235"/>
                  <a:pt x="210688" y="349493"/>
                  <a:pt x="0" y="329235"/>
                </a:cubicBezTo>
                <a:cubicBezTo>
                  <a:pt x="-11933" y="184512"/>
                  <a:pt x="14033" y="145210"/>
                  <a:pt x="0" y="0"/>
                </a:cubicBezTo>
                <a:close/>
              </a:path>
            </a:pathLst>
          </a:custGeom>
          <a:noFill/>
          <a:ln w="2540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cxnSp>
        <p:nvCxnSpPr>
          <p:cNvPr id="188" name="直线连接符 187">
            <a:extLst>
              <a:ext uri="{FF2B5EF4-FFF2-40B4-BE49-F238E27FC236}">
                <a16:creationId xmlns:a16="http://schemas.microsoft.com/office/drawing/2014/main" id="{57C5FF1F-9563-3EB1-0B94-F9CABFF7E165}"/>
              </a:ext>
            </a:extLst>
          </p:cNvPr>
          <p:cNvCxnSpPr>
            <a:cxnSpLocks/>
          </p:cNvCxnSpPr>
          <p:nvPr/>
        </p:nvCxnSpPr>
        <p:spPr>
          <a:xfrm>
            <a:off x="9968428" y="4953928"/>
            <a:ext cx="0" cy="1040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矩形 188">
            <a:extLst>
              <a:ext uri="{FF2B5EF4-FFF2-40B4-BE49-F238E27FC236}">
                <a16:creationId xmlns:a16="http://schemas.microsoft.com/office/drawing/2014/main" id="{4F13404E-39F0-86A7-ECCE-28BE6F032E05}"/>
              </a:ext>
            </a:extLst>
          </p:cNvPr>
          <p:cNvSpPr/>
          <p:nvPr/>
        </p:nvSpPr>
        <p:spPr>
          <a:xfrm>
            <a:off x="9785625" y="5053277"/>
            <a:ext cx="369374" cy="2953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V2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E519AA83-AC89-2732-D01F-D358CFA2DC0B}"/>
              </a:ext>
            </a:extLst>
          </p:cNvPr>
          <p:cNvSpPr/>
          <p:nvPr/>
        </p:nvSpPr>
        <p:spPr>
          <a:xfrm>
            <a:off x="10582927" y="3216938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V1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1DE8C921-C61D-E1BD-DBCD-933168F5C2C7}"/>
              </a:ext>
            </a:extLst>
          </p:cNvPr>
          <p:cNvSpPr/>
          <p:nvPr/>
        </p:nvSpPr>
        <p:spPr>
          <a:xfrm>
            <a:off x="11650085" y="3216938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err="1">
                <a:solidFill>
                  <a:schemeClr val="tx1"/>
                </a:solidFill>
              </a:rPr>
              <a:t>Vn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2A3EF6F2-843D-E511-144E-340E76D7F62D}"/>
              </a:ext>
            </a:extLst>
          </p:cNvPr>
          <p:cNvSpPr/>
          <p:nvPr/>
        </p:nvSpPr>
        <p:spPr>
          <a:xfrm>
            <a:off x="10952301" y="3216938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V2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7F86910F-6C75-F836-8C41-6C526DDC4EEE}"/>
              </a:ext>
            </a:extLst>
          </p:cNvPr>
          <p:cNvSpPr txBox="1"/>
          <p:nvPr/>
        </p:nvSpPr>
        <p:spPr>
          <a:xfrm>
            <a:off x="11334977" y="3216938"/>
            <a:ext cx="369374" cy="34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/>
              <a:t>…</a:t>
            </a:r>
            <a:endParaRPr kumimoji="1" lang="zh-CN" altLang="en-US" sz="1600"/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E61F0416-FC25-EF31-2D54-D16482CBA81D}"/>
              </a:ext>
            </a:extLst>
          </p:cNvPr>
          <p:cNvSpPr/>
          <p:nvPr/>
        </p:nvSpPr>
        <p:spPr>
          <a:xfrm>
            <a:off x="10779567" y="3873150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C1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A955AA94-3C48-C0F6-946C-4900166B51A4}"/>
              </a:ext>
            </a:extLst>
          </p:cNvPr>
          <p:cNvSpPr/>
          <p:nvPr/>
        </p:nvSpPr>
        <p:spPr>
          <a:xfrm>
            <a:off x="11478025" y="3873150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Ck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20013DB9-62BC-30EC-02E5-3056C38CCF74}"/>
              </a:ext>
            </a:extLst>
          </p:cNvPr>
          <p:cNvSpPr txBox="1"/>
          <p:nvPr/>
        </p:nvSpPr>
        <p:spPr>
          <a:xfrm>
            <a:off x="11162917" y="3873150"/>
            <a:ext cx="369374" cy="34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/>
              <a:t>…</a:t>
            </a:r>
            <a:endParaRPr kumimoji="1" lang="zh-CN" altLang="en-US" sz="1600"/>
          </a:p>
        </p:txBody>
      </p:sp>
      <p:cxnSp>
        <p:nvCxnSpPr>
          <p:cNvPr id="197" name="直线箭头连接符 196">
            <a:extLst>
              <a:ext uri="{FF2B5EF4-FFF2-40B4-BE49-F238E27FC236}">
                <a16:creationId xmlns:a16="http://schemas.microsoft.com/office/drawing/2014/main" id="{0B849083-B061-BE1F-D23D-4D3B2097488E}"/>
              </a:ext>
            </a:extLst>
          </p:cNvPr>
          <p:cNvCxnSpPr>
            <a:cxnSpLocks/>
            <a:stCxn id="190" idx="2"/>
            <a:endCxn id="194" idx="0"/>
          </p:cNvCxnSpPr>
          <p:nvPr/>
        </p:nvCxnSpPr>
        <p:spPr>
          <a:xfrm>
            <a:off x="10767615" y="3512319"/>
            <a:ext cx="196640" cy="3608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线箭头连接符 197">
            <a:extLst>
              <a:ext uri="{FF2B5EF4-FFF2-40B4-BE49-F238E27FC236}">
                <a16:creationId xmlns:a16="http://schemas.microsoft.com/office/drawing/2014/main" id="{4C3A6AE7-77D9-1D9A-1129-C765EBEDB7F1}"/>
              </a:ext>
            </a:extLst>
          </p:cNvPr>
          <p:cNvCxnSpPr>
            <a:cxnSpLocks/>
            <a:stCxn id="190" idx="2"/>
            <a:endCxn id="195" idx="0"/>
          </p:cNvCxnSpPr>
          <p:nvPr/>
        </p:nvCxnSpPr>
        <p:spPr>
          <a:xfrm>
            <a:off x="10767615" y="3512319"/>
            <a:ext cx="895097" cy="3608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矩形 198">
            <a:extLst>
              <a:ext uri="{FF2B5EF4-FFF2-40B4-BE49-F238E27FC236}">
                <a16:creationId xmlns:a16="http://schemas.microsoft.com/office/drawing/2014/main" id="{92ECF864-8537-420F-5B2F-7B2176D80A45}"/>
              </a:ext>
            </a:extLst>
          </p:cNvPr>
          <p:cNvSpPr/>
          <p:nvPr/>
        </p:nvSpPr>
        <p:spPr>
          <a:xfrm>
            <a:off x="10518260" y="3205477"/>
            <a:ext cx="1561783" cy="329235"/>
          </a:xfrm>
          <a:custGeom>
            <a:avLst/>
            <a:gdLst>
              <a:gd name="connsiteX0" fmla="*/ 0 w 1561783"/>
              <a:gd name="connsiteY0" fmla="*/ 0 h 329235"/>
              <a:gd name="connsiteX1" fmla="*/ 504977 w 1561783"/>
              <a:gd name="connsiteY1" fmla="*/ 0 h 329235"/>
              <a:gd name="connsiteX2" fmla="*/ 978717 w 1561783"/>
              <a:gd name="connsiteY2" fmla="*/ 0 h 329235"/>
              <a:gd name="connsiteX3" fmla="*/ 1561783 w 1561783"/>
              <a:gd name="connsiteY3" fmla="*/ 0 h 329235"/>
              <a:gd name="connsiteX4" fmla="*/ 1561783 w 1561783"/>
              <a:gd name="connsiteY4" fmla="*/ 329235 h 329235"/>
              <a:gd name="connsiteX5" fmla="*/ 1072424 w 1561783"/>
              <a:gd name="connsiteY5" fmla="*/ 329235 h 329235"/>
              <a:gd name="connsiteX6" fmla="*/ 520594 w 1561783"/>
              <a:gd name="connsiteY6" fmla="*/ 329235 h 329235"/>
              <a:gd name="connsiteX7" fmla="*/ 0 w 1561783"/>
              <a:gd name="connsiteY7" fmla="*/ 329235 h 329235"/>
              <a:gd name="connsiteX8" fmla="*/ 0 w 1561783"/>
              <a:gd name="connsiteY8" fmla="*/ 0 h 329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1783" h="329235" extrusionOk="0">
                <a:moveTo>
                  <a:pt x="0" y="0"/>
                </a:moveTo>
                <a:cubicBezTo>
                  <a:pt x="144233" y="18794"/>
                  <a:pt x="338524" y="14223"/>
                  <a:pt x="504977" y="0"/>
                </a:cubicBezTo>
                <a:cubicBezTo>
                  <a:pt x="671430" y="-14223"/>
                  <a:pt x="853307" y="-21920"/>
                  <a:pt x="978717" y="0"/>
                </a:cubicBezTo>
                <a:cubicBezTo>
                  <a:pt x="1104127" y="21920"/>
                  <a:pt x="1428650" y="-28824"/>
                  <a:pt x="1561783" y="0"/>
                </a:cubicBezTo>
                <a:cubicBezTo>
                  <a:pt x="1555646" y="105096"/>
                  <a:pt x="1553542" y="227073"/>
                  <a:pt x="1561783" y="329235"/>
                </a:cubicBezTo>
                <a:cubicBezTo>
                  <a:pt x="1357625" y="320865"/>
                  <a:pt x="1274199" y="336995"/>
                  <a:pt x="1072424" y="329235"/>
                </a:cubicBezTo>
                <a:cubicBezTo>
                  <a:pt x="870649" y="321475"/>
                  <a:pt x="750432" y="314589"/>
                  <a:pt x="520594" y="329235"/>
                </a:cubicBezTo>
                <a:cubicBezTo>
                  <a:pt x="290756" y="343882"/>
                  <a:pt x="152716" y="333793"/>
                  <a:pt x="0" y="329235"/>
                </a:cubicBezTo>
                <a:cubicBezTo>
                  <a:pt x="-3962" y="205628"/>
                  <a:pt x="1242" y="119445"/>
                  <a:pt x="0" y="0"/>
                </a:cubicBezTo>
                <a:close/>
              </a:path>
            </a:pathLst>
          </a:custGeom>
          <a:noFill/>
          <a:ln w="2540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1EFD5F16-7F6B-D592-B178-6AA4B29376EE}"/>
              </a:ext>
            </a:extLst>
          </p:cNvPr>
          <p:cNvSpPr/>
          <p:nvPr/>
        </p:nvSpPr>
        <p:spPr>
          <a:xfrm>
            <a:off x="10779567" y="4661170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C1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21934BCE-C602-1E0B-309A-FC2C5915AC0F}"/>
              </a:ext>
            </a:extLst>
          </p:cNvPr>
          <p:cNvSpPr/>
          <p:nvPr/>
        </p:nvSpPr>
        <p:spPr>
          <a:xfrm>
            <a:off x="11478025" y="4661170"/>
            <a:ext cx="369374" cy="295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Ck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1013CF4B-3954-A9DE-3B17-A5997A1F44CA}"/>
              </a:ext>
            </a:extLst>
          </p:cNvPr>
          <p:cNvSpPr txBox="1"/>
          <p:nvPr/>
        </p:nvSpPr>
        <p:spPr>
          <a:xfrm>
            <a:off x="11162917" y="4661170"/>
            <a:ext cx="369374" cy="34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/>
              <a:t>…</a:t>
            </a:r>
            <a:endParaRPr kumimoji="1" lang="zh-CN" altLang="en-US" sz="1600"/>
          </a:p>
        </p:txBody>
      </p:sp>
      <p:cxnSp>
        <p:nvCxnSpPr>
          <p:cNvPr id="203" name="直线连接符 202">
            <a:extLst>
              <a:ext uri="{FF2B5EF4-FFF2-40B4-BE49-F238E27FC236}">
                <a16:creationId xmlns:a16="http://schemas.microsoft.com/office/drawing/2014/main" id="{B5A9F7D9-1E0F-F54F-2AC0-6CBA8D36C59D}"/>
              </a:ext>
            </a:extLst>
          </p:cNvPr>
          <p:cNvCxnSpPr>
            <a:cxnSpLocks/>
            <a:stCxn id="200" idx="2"/>
          </p:cNvCxnSpPr>
          <p:nvPr/>
        </p:nvCxnSpPr>
        <p:spPr>
          <a:xfrm>
            <a:off x="10964255" y="4956551"/>
            <a:ext cx="0" cy="1040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矩形 203">
            <a:extLst>
              <a:ext uri="{FF2B5EF4-FFF2-40B4-BE49-F238E27FC236}">
                <a16:creationId xmlns:a16="http://schemas.microsoft.com/office/drawing/2014/main" id="{B8A4B0C6-FF64-4B22-434C-9EB5B24A05A1}"/>
              </a:ext>
            </a:extLst>
          </p:cNvPr>
          <p:cNvSpPr/>
          <p:nvPr/>
        </p:nvSpPr>
        <p:spPr>
          <a:xfrm>
            <a:off x="10781452" y="5055901"/>
            <a:ext cx="369374" cy="2953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V1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942D87E9-1B1A-F48A-446E-82C388FDC574}"/>
              </a:ext>
            </a:extLst>
          </p:cNvPr>
          <p:cNvSpPr txBox="1"/>
          <p:nvPr/>
        </p:nvSpPr>
        <p:spPr>
          <a:xfrm>
            <a:off x="10656144" y="2954452"/>
            <a:ext cx="1399225" cy="283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/>
              <a:t>阶段</a:t>
            </a:r>
            <a:r>
              <a:rPr kumimoji="1" lang="en-US" altLang="zh-CN" sz="1200"/>
              <a:t>1.</a:t>
            </a:r>
            <a:r>
              <a:rPr kumimoji="1" lang="zh-CN" altLang="en-US" sz="1200"/>
              <a:t>距离计算</a:t>
            </a: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B0966EEB-7D40-2C9B-BDCB-843FD5F628FB}"/>
              </a:ext>
            </a:extLst>
          </p:cNvPr>
          <p:cNvSpPr txBox="1"/>
          <p:nvPr/>
        </p:nvSpPr>
        <p:spPr>
          <a:xfrm>
            <a:off x="10649303" y="4389630"/>
            <a:ext cx="1320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/>
              <a:t>阶段</a:t>
            </a:r>
            <a:r>
              <a:rPr kumimoji="1" lang="en-US" altLang="zh-CN" sz="1200"/>
              <a:t>2.</a:t>
            </a:r>
            <a:r>
              <a:rPr kumimoji="1" lang="zh-CN" altLang="en-US" sz="1200"/>
              <a:t>样本分配</a:t>
            </a:r>
          </a:p>
        </p:txBody>
      </p:sp>
      <p:cxnSp>
        <p:nvCxnSpPr>
          <p:cNvPr id="207" name="直线箭头连接符 206">
            <a:extLst>
              <a:ext uri="{FF2B5EF4-FFF2-40B4-BE49-F238E27FC236}">
                <a16:creationId xmlns:a16="http://schemas.microsoft.com/office/drawing/2014/main" id="{33506675-0EBD-81B8-AB65-AADCCC3A86FB}"/>
              </a:ext>
            </a:extLst>
          </p:cNvPr>
          <p:cNvCxnSpPr>
            <a:cxnSpLocks/>
            <a:stCxn id="192" idx="2"/>
            <a:endCxn id="194" idx="0"/>
          </p:cNvCxnSpPr>
          <p:nvPr/>
        </p:nvCxnSpPr>
        <p:spPr>
          <a:xfrm flipH="1">
            <a:off x="10964255" y="3512319"/>
            <a:ext cx="172734" cy="3608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线箭头连接符 207">
            <a:extLst>
              <a:ext uri="{FF2B5EF4-FFF2-40B4-BE49-F238E27FC236}">
                <a16:creationId xmlns:a16="http://schemas.microsoft.com/office/drawing/2014/main" id="{24E49F4C-3E2F-9C17-F674-C62C9B9E134F}"/>
              </a:ext>
            </a:extLst>
          </p:cNvPr>
          <p:cNvCxnSpPr>
            <a:cxnSpLocks/>
            <a:stCxn id="192" idx="2"/>
            <a:endCxn id="195" idx="0"/>
          </p:cNvCxnSpPr>
          <p:nvPr/>
        </p:nvCxnSpPr>
        <p:spPr>
          <a:xfrm>
            <a:off x="11136988" y="3512319"/>
            <a:ext cx="525724" cy="3608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A1EC1EDC-6592-4D1F-7778-4CEC1E784B48}"/>
              </a:ext>
            </a:extLst>
          </p:cNvPr>
          <p:cNvCxnSpPr>
            <a:cxnSpLocks/>
          </p:cNvCxnSpPr>
          <p:nvPr/>
        </p:nvCxnSpPr>
        <p:spPr>
          <a:xfrm>
            <a:off x="11660828" y="4955433"/>
            <a:ext cx="0" cy="1040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矩形 209">
            <a:extLst>
              <a:ext uri="{FF2B5EF4-FFF2-40B4-BE49-F238E27FC236}">
                <a16:creationId xmlns:a16="http://schemas.microsoft.com/office/drawing/2014/main" id="{B0BFEFC0-82E4-BFEF-9F00-F04AA8FE5DA9}"/>
              </a:ext>
            </a:extLst>
          </p:cNvPr>
          <p:cNvSpPr/>
          <p:nvPr/>
        </p:nvSpPr>
        <p:spPr>
          <a:xfrm>
            <a:off x="11478025" y="5054782"/>
            <a:ext cx="369374" cy="2953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err="1">
                <a:solidFill>
                  <a:schemeClr val="tx1"/>
                </a:solidFill>
              </a:rPr>
              <a:t>Vn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BD1CB9E7-5584-5926-A6E1-2972D1D28B89}"/>
              </a:ext>
            </a:extLst>
          </p:cNvPr>
          <p:cNvSpPr/>
          <p:nvPr/>
        </p:nvSpPr>
        <p:spPr>
          <a:xfrm>
            <a:off x="10784288" y="5351766"/>
            <a:ext cx="369374" cy="2953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V2</a:t>
            </a:r>
            <a:endParaRPr kumimoji="1" lang="zh-CN" altLang="en-US" sz="1200">
              <a:solidFill>
                <a:schemeClr val="tx1"/>
              </a:solidFill>
            </a:endParaRP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3164686A-ABEC-1A90-B871-1F58154AA6A3}"/>
              </a:ext>
            </a:extLst>
          </p:cNvPr>
          <p:cNvSpPr txBox="1"/>
          <p:nvPr/>
        </p:nvSpPr>
        <p:spPr>
          <a:xfrm>
            <a:off x="7511311" y="2474291"/>
            <a:ext cx="976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/>
              <a:t>第</a:t>
            </a:r>
            <a:r>
              <a:rPr kumimoji="1" lang="en-US" altLang="zh-CN"/>
              <a:t>1</a:t>
            </a:r>
            <a:r>
              <a:rPr kumimoji="1" lang="zh-CN" altLang="en-US"/>
              <a:t>轮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F0BE7509-301B-C1AD-F8D5-14BDFCFEA23B}"/>
              </a:ext>
            </a:extLst>
          </p:cNvPr>
          <p:cNvSpPr txBox="1"/>
          <p:nvPr/>
        </p:nvSpPr>
        <p:spPr>
          <a:xfrm>
            <a:off x="9178966" y="2452124"/>
            <a:ext cx="976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/>
              <a:t>第</a:t>
            </a:r>
            <a:r>
              <a:rPr kumimoji="1" lang="en-US" altLang="zh-CN"/>
              <a:t>2</a:t>
            </a:r>
            <a:r>
              <a:rPr kumimoji="1" lang="zh-CN" altLang="en-US"/>
              <a:t>轮</a:t>
            </a: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936502AB-69FD-44A2-10F5-7787E8BFB66E}"/>
              </a:ext>
            </a:extLst>
          </p:cNvPr>
          <p:cNvSpPr txBox="1"/>
          <p:nvPr/>
        </p:nvSpPr>
        <p:spPr>
          <a:xfrm>
            <a:off x="10911833" y="2455868"/>
            <a:ext cx="976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/>
              <a:t>第</a:t>
            </a:r>
            <a:r>
              <a:rPr kumimoji="1" lang="en-US" altLang="zh-CN"/>
              <a:t>x</a:t>
            </a:r>
            <a:r>
              <a:rPr kumimoji="1" lang="zh-CN" altLang="en-US"/>
              <a:t>轮</a:t>
            </a: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63C9F0DE-7686-C183-70F2-FA6D91C8F461}"/>
              </a:ext>
            </a:extLst>
          </p:cNvPr>
          <p:cNvSpPr txBox="1"/>
          <p:nvPr/>
        </p:nvSpPr>
        <p:spPr>
          <a:xfrm>
            <a:off x="6569429" y="3492758"/>
            <a:ext cx="1111308" cy="399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rgbClr val="00B050"/>
                </a:solidFill>
              </a:rPr>
              <a:t>批计算</a:t>
            </a:r>
          </a:p>
        </p:txBody>
      </p:sp>
      <p:sp>
        <p:nvSpPr>
          <p:cNvPr id="220" name="左大括号 219">
            <a:extLst>
              <a:ext uri="{FF2B5EF4-FFF2-40B4-BE49-F238E27FC236}">
                <a16:creationId xmlns:a16="http://schemas.microsoft.com/office/drawing/2014/main" id="{6A3ACC51-48E8-D377-3676-2C12518871A9}"/>
              </a:ext>
            </a:extLst>
          </p:cNvPr>
          <p:cNvSpPr/>
          <p:nvPr/>
        </p:nvSpPr>
        <p:spPr>
          <a:xfrm>
            <a:off x="7180789" y="5024425"/>
            <a:ext cx="153524" cy="622722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F2D8E47C-CEA1-DF75-AE9C-73A1DA350C9C}"/>
              </a:ext>
            </a:extLst>
          </p:cNvPr>
          <p:cNvSpPr txBox="1"/>
          <p:nvPr/>
        </p:nvSpPr>
        <p:spPr>
          <a:xfrm>
            <a:off x="10277778" y="2452124"/>
            <a:ext cx="384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/>
              <a:t>…</a:t>
            </a:r>
            <a:endParaRPr kumimoji="1" lang="zh-CN" altLang="en-US"/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8BFD7512-63CA-36E9-CE20-A09E23BEB4AF}"/>
              </a:ext>
            </a:extLst>
          </p:cNvPr>
          <p:cNvSpPr txBox="1"/>
          <p:nvPr/>
        </p:nvSpPr>
        <p:spPr>
          <a:xfrm>
            <a:off x="6564856" y="3801592"/>
            <a:ext cx="7143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>
                <a:solidFill>
                  <a:srgbClr val="00B050"/>
                </a:solidFill>
              </a:rPr>
              <a:t>尺寸变动</a:t>
            </a: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2E2998EE-7A36-A4AB-1AF1-355C3039AD0D}"/>
              </a:ext>
            </a:extLst>
          </p:cNvPr>
          <p:cNvSpPr txBox="1"/>
          <p:nvPr/>
        </p:nvSpPr>
        <p:spPr>
          <a:xfrm>
            <a:off x="439517" y="4724312"/>
            <a:ext cx="1337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>
                <a:solidFill>
                  <a:srgbClr val="00B050"/>
                </a:solidFill>
              </a:rPr>
              <a:t>保留所有点的最新分配结果</a:t>
            </a:r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5C4A5E34-3E3D-92D9-2E37-79CF0B9EB25E}"/>
              </a:ext>
            </a:extLst>
          </p:cNvPr>
          <p:cNvSpPr txBox="1"/>
          <p:nvPr/>
        </p:nvSpPr>
        <p:spPr>
          <a:xfrm>
            <a:off x="6478480" y="4849070"/>
            <a:ext cx="8611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>
                <a:solidFill>
                  <a:srgbClr val="00B050"/>
                </a:solidFill>
              </a:rPr>
              <a:t>保留参与点的最新分配结果</a:t>
            </a:r>
          </a:p>
        </p:txBody>
      </p:sp>
    </p:spTree>
    <p:extLst>
      <p:ext uri="{BB962C8B-B14F-4D97-AF65-F5344CB8AC3E}">
        <p14:creationId xmlns:p14="http://schemas.microsoft.com/office/powerpoint/2010/main" val="2649184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B69B0C2-2D2B-BF3C-599B-632876D2D5BF}"/>
              </a:ext>
            </a:extLst>
          </p:cNvPr>
          <p:cNvSpPr txBox="1"/>
          <p:nvPr/>
        </p:nvSpPr>
        <p:spPr>
          <a:xfrm>
            <a:off x="1170017" y="507600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/>
              <a:t>2.</a:t>
            </a:r>
            <a:r>
              <a:rPr lang="zh-CN" altLang="en-US" sz="3200"/>
              <a:t> 索引创建性能优化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6E4E3F-4A97-00E7-B4CB-340A1D46CEB9}"/>
              </a:ext>
            </a:extLst>
          </p:cNvPr>
          <p:cNvSpPr txBox="1"/>
          <p:nvPr/>
        </p:nvSpPr>
        <p:spPr>
          <a:xfrm>
            <a:off x="1504722" y="1239189"/>
            <a:ext cx="4468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kumimoji="1" lang="en-US" altLang="zh-CN" sz="2400"/>
              <a:t>2.1</a:t>
            </a:r>
            <a:r>
              <a:rPr kumimoji="1" lang="zh-CN" altLang="en-US" sz="2400"/>
              <a:t> </a:t>
            </a:r>
            <a:r>
              <a:rPr kumimoji="1" lang="en" altLang="zh-CN" sz="2400"/>
              <a:t>CPU </a:t>
            </a:r>
            <a:r>
              <a:rPr kumimoji="1" lang="en-US" altLang="zh-CN" sz="2400"/>
              <a:t>K-Means</a:t>
            </a:r>
            <a:r>
              <a:rPr kumimoji="1" lang="en" altLang="zh-CN" sz="2400"/>
              <a:t> </a:t>
            </a:r>
            <a:r>
              <a:rPr kumimoji="1" lang="zh-CN" altLang="en-US" sz="2400"/>
              <a:t>批</a:t>
            </a:r>
            <a:r>
              <a:rPr lang="zh-CN" altLang="en-US" sz="2400">
                <a:solidFill>
                  <a:srgbClr val="001D35"/>
                </a:solidFill>
                <a:latin typeface="Arial" panose="020B0604020202020204" pitchFamily="34" charset="0"/>
              </a:rPr>
              <a:t>处理优化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A95F324-B168-76ED-B36F-E9BAB10628D7}"/>
              </a:ext>
            </a:extLst>
          </p:cNvPr>
          <p:cNvSpPr txBox="1"/>
          <p:nvPr/>
        </p:nvSpPr>
        <p:spPr>
          <a:xfrm>
            <a:off x="1627736" y="1847668"/>
            <a:ext cx="4468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kumimoji="1" lang="en-US" altLang="zh-CN" sz="2000"/>
              <a:t>2.1.2</a:t>
            </a:r>
            <a:r>
              <a:rPr kumimoji="1" lang="zh-CN" altLang="en-US" sz="2000"/>
              <a:t> 移植难点</a:t>
            </a:r>
            <a:endParaRPr lang="zh-CN" altLang="en-US" sz="2000">
              <a:solidFill>
                <a:srgbClr val="001D35"/>
              </a:solidFill>
              <a:latin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86AC441-FEA7-200A-86B0-71407F8E8037}"/>
              </a:ext>
            </a:extLst>
          </p:cNvPr>
          <p:cNvSpPr txBox="1"/>
          <p:nvPr/>
        </p:nvSpPr>
        <p:spPr>
          <a:xfrm>
            <a:off x="1828800" y="2394592"/>
            <a:ext cx="8731045" cy="1000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effectLst/>
              </a:rPr>
              <a:t>相比标准 </a:t>
            </a:r>
            <a:r>
              <a:rPr lang="en" altLang="zh-CN">
                <a:effectLst/>
              </a:rPr>
              <a:t>K-Means</a:t>
            </a:r>
            <a:r>
              <a:rPr lang="zh-CN" altLang="en">
                <a:effectLst/>
              </a:rPr>
              <a:t>（</a:t>
            </a:r>
            <a:r>
              <a:rPr lang="en" altLang="zh-CN">
                <a:effectLst/>
              </a:rPr>
              <a:t>KM</a:t>
            </a:r>
            <a:r>
              <a:rPr lang="zh-CN" altLang="en">
                <a:effectLst/>
              </a:rPr>
              <a:t>），</a:t>
            </a:r>
            <a:r>
              <a:rPr lang="en" altLang="zh-CN">
                <a:effectLst/>
              </a:rPr>
              <a:t>Nested Mini-batch K-Means </a:t>
            </a:r>
            <a:r>
              <a:rPr lang="zh-CN" altLang="en">
                <a:effectLst/>
              </a:rPr>
              <a:t>（</a:t>
            </a:r>
            <a:r>
              <a:rPr lang="en" altLang="zh-CN">
                <a:effectLst/>
              </a:rPr>
              <a:t>NMBKM</a:t>
            </a:r>
            <a:r>
              <a:rPr lang="zh-CN" altLang="en">
                <a:effectLst/>
              </a:rPr>
              <a:t>）</a:t>
            </a:r>
            <a:r>
              <a:rPr lang="zh-CN" altLang="en-US">
                <a:effectLst/>
              </a:rPr>
              <a:t>会导致样本点在各簇中的分布更不均衡（空簇数量明显上升），使得集中在胖簇上的查询因要遍历更多向量而具有更低的查询</a:t>
            </a:r>
            <a:r>
              <a:rPr lang="en" altLang="zh-CN">
                <a:effectLst/>
              </a:rPr>
              <a:t>QPS</a:t>
            </a:r>
            <a:r>
              <a:rPr lang="zh-CN" altLang="en">
                <a:effectLst/>
              </a:rPr>
              <a:t>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38D0CEC-74CE-EFFB-26F4-0115FFCA5B3C}"/>
              </a:ext>
            </a:extLst>
          </p:cNvPr>
          <p:cNvSpPr txBox="1"/>
          <p:nvPr/>
        </p:nvSpPr>
        <p:spPr>
          <a:xfrm>
            <a:off x="1627736" y="3848534"/>
            <a:ext cx="4468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kumimoji="1" lang="en-US" altLang="zh-CN" sz="2000"/>
              <a:t>2.1.3</a:t>
            </a:r>
            <a:r>
              <a:rPr kumimoji="1" lang="zh-CN" altLang="en-US" sz="2000"/>
              <a:t> 解决方案</a:t>
            </a:r>
            <a:endParaRPr lang="zh-CN" altLang="en-US" sz="2000">
              <a:solidFill>
                <a:srgbClr val="001D35"/>
              </a:solidFill>
              <a:latin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D449763-83F0-3A77-5564-232E5467B9B8}"/>
              </a:ext>
            </a:extLst>
          </p:cNvPr>
          <p:cNvSpPr txBox="1"/>
          <p:nvPr/>
        </p:nvSpPr>
        <p:spPr>
          <a:xfrm>
            <a:off x="1828800" y="4316823"/>
            <a:ext cx="4134645" cy="692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60"/>
              </a:lnSpc>
            </a:pPr>
            <a:r>
              <a:rPr lang="zh-CN" altLang="en-US">
                <a:effectLst/>
              </a:rPr>
              <a:t>迭代结束后拆分</a:t>
            </a:r>
            <a:r>
              <a:rPr lang="zh-CN" altLang="en-US">
                <a:solidFill>
                  <a:srgbClr val="000000"/>
                </a:solidFill>
                <a:effectLst/>
              </a:rPr>
              <a:t>胖簇，用子簇替换空簇，从而提高分布均衡度。</a:t>
            </a:r>
            <a:endParaRPr lang="zh-CN" altLang="en">
              <a:effectLst/>
            </a:endParaRPr>
          </a:p>
        </p:txBody>
      </p:sp>
      <p:pic>
        <p:nvPicPr>
          <p:cNvPr id="3074" name="Picture 2" descr="利用主成分PCA进行特征提取- Hyacinth-Yuan - 博客园">
            <a:extLst>
              <a:ext uri="{FF2B5EF4-FFF2-40B4-BE49-F238E27FC236}">
                <a16:creationId xmlns:a16="http://schemas.microsoft.com/office/drawing/2014/main" id="{4C3ECE1C-B553-82AB-C35A-90D3165D7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29000"/>
            <a:ext cx="3500283" cy="339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E3ED8657-8E6A-7A88-6E39-72B14CBACA6B}"/>
              </a:ext>
            </a:extLst>
          </p:cNvPr>
          <p:cNvSpPr txBox="1"/>
          <p:nvPr/>
        </p:nvSpPr>
        <p:spPr>
          <a:xfrm>
            <a:off x="9011266" y="3660748"/>
            <a:ext cx="2305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solidFill>
                  <a:srgbClr val="00B050"/>
                </a:solidFill>
              </a:rPr>
              <a:t>数据方差最大的方向</a:t>
            </a:r>
            <a:endParaRPr kumimoji="1" lang="en-US" altLang="zh-CN" b="1">
              <a:solidFill>
                <a:srgbClr val="00B050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9295819-A3C9-985E-3AE5-49BDC3BD06C0}"/>
              </a:ext>
            </a:extLst>
          </p:cNvPr>
          <p:cNvSpPr txBox="1"/>
          <p:nvPr/>
        </p:nvSpPr>
        <p:spPr>
          <a:xfrm>
            <a:off x="8268927" y="5124019"/>
            <a:ext cx="1111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solidFill>
                  <a:srgbClr val="FF01FF"/>
                </a:solidFill>
              </a:rPr>
              <a:t>中位切割</a:t>
            </a: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792EEEE4-8157-B918-2399-D43DCCBC7AED}"/>
              </a:ext>
            </a:extLst>
          </p:cNvPr>
          <p:cNvSpPr/>
          <p:nvPr/>
        </p:nvSpPr>
        <p:spPr>
          <a:xfrm rot="18848113">
            <a:off x="6861615" y="5043720"/>
            <a:ext cx="1398783" cy="822979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FB9CE6BF-ED94-3414-51A3-D0E732BEA2F1}"/>
              </a:ext>
            </a:extLst>
          </p:cNvPr>
          <p:cNvSpPr/>
          <p:nvPr/>
        </p:nvSpPr>
        <p:spPr>
          <a:xfrm rot="18848113">
            <a:off x="7850503" y="4049103"/>
            <a:ext cx="1398783" cy="822979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66E5F5F-9AFC-0DF9-8883-CEFF2F76B013}"/>
              </a:ext>
            </a:extLst>
          </p:cNvPr>
          <p:cNvSpPr txBox="1"/>
          <p:nvPr/>
        </p:nvSpPr>
        <p:spPr>
          <a:xfrm>
            <a:off x="7827158" y="5602196"/>
            <a:ext cx="830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solidFill>
                  <a:srgbClr val="7030A0"/>
                </a:solidFill>
              </a:rPr>
              <a:t>子簇</a:t>
            </a:r>
            <a:r>
              <a:rPr kumimoji="1" lang="en-US" altLang="zh-CN" b="1">
                <a:solidFill>
                  <a:srgbClr val="7030A0"/>
                </a:solidFill>
              </a:rPr>
              <a:t>1</a:t>
            </a:r>
            <a:endParaRPr kumimoji="1" lang="zh-CN" altLang="en-US" b="1">
              <a:solidFill>
                <a:srgbClr val="7030A0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969B77C-E774-317C-D50A-8466D290B92D}"/>
              </a:ext>
            </a:extLst>
          </p:cNvPr>
          <p:cNvSpPr txBox="1"/>
          <p:nvPr/>
        </p:nvSpPr>
        <p:spPr>
          <a:xfrm>
            <a:off x="8897195" y="4526035"/>
            <a:ext cx="830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solidFill>
                  <a:srgbClr val="7030A0"/>
                </a:solidFill>
              </a:rPr>
              <a:t>子簇</a:t>
            </a:r>
            <a:r>
              <a:rPr kumimoji="1" lang="en-US" altLang="zh-CN" b="1">
                <a:solidFill>
                  <a:srgbClr val="7030A0"/>
                </a:solidFill>
              </a:rPr>
              <a:t>2</a:t>
            </a:r>
            <a:endParaRPr kumimoji="1" lang="zh-CN" altLang="en-US" b="1">
              <a:solidFill>
                <a:srgbClr val="7030A0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2C2F844-0CFD-6BF2-688A-16B818BAA806}"/>
              </a:ext>
            </a:extLst>
          </p:cNvPr>
          <p:cNvSpPr txBox="1"/>
          <p:nvPr/>
        </p:nvSpPr>
        <p:spPr>
          <a:xfrm>
            <a:off x="9030992" y="3960567"/>
            <a:ext cx="23251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200" b="1">
                <a:solidFill>
                  <a:srgbClr val="00B050"/>
                </a:solidFill>
              </a:rPr>
              <a:t>（第一主成分，通过</a:t>
            </a:r>
            <a:r>
              <a:rPr kumimoji="1" lang="en-US" altLang="zh-CN" sz="1200" b="1">
                <a:solidFill>
                  <a:srgbClr val="00B050"/>
                </a:solidFill>
              </a:rPr>
              <a:t>PCA</a:t>
            </a:r>
            <a:r>
              <a:rPr kumimoji="1" lang="zh-CN" altLang="en-US" sz="1200" b="1">
                <a:solidFill>
                  <a:srgbClr val="00B050"/>
                </a:solidFill>
              </a:rPr>
              <a:t>求得）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BDA1198-47F1-DEDC-EBF7-3FBE4D0879AA}"/>
              </a:ext>
            </a:extLst>
          </p:cNvPr>
          <p:cNvSpPr txBox="1"/>
          <p:nvPr/>
        </p:nvSpPr>
        <p:spPr>
          <a:xfrm>
            <a:off x="9158566" y="5200741"/>
            <a:ext cx="24434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200" b="1">
                <a:solidFill>
                  <a:srgbClr val="FF01FF"/>
                </a:solidFill>
              </a:rPr>
              <a:t>（得到两个中心高度分离的子簇）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714FFB5-857F-A409-EB43-8B7E2D2547C3}"/>
              </a:ext>
            </a:extLst>
          </p:cNvPr>
          <p:cNvSpPr txBox="1"/>
          <p:nvPr/>
        </p:nvSpPr>
        <p:spPr>
          <a:xfrm>
            <a:off x="2969951" y="5452834"/>
            <a:ext cx="3072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i="0">
                <a:solidFill>
                  <a:srgbClr val="1F2438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沿数据方差最大的方向进行中位切割，将大簇一分为二</a:t>
            </a:r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3E10003-7C97-8E91-E955-9D50E79B4F52}"/>
              </a:ext>
            </a:extLst>
          </p:cNvPr>
          <p:cNvSpPr txBox="1"/>
          <p:nvPr/>
        </p:nvSpPr>
        <p:spPr>
          <a:xfrm>
            <a:off x="1750225" y="5591333"/>
            <a:ext cx="1331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solidFill>
                  <a:srgbClr val="FF0000"/>
                </a:solidFill>
              </a:rPr>
              <a:t>如何拆分？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CA659C35-26CD-D2D5-8372-A29B53B3755C}"/>
              </a:ext>
            </a:extLst>
          </p:cNvPr>
          <p:cNvSpPr txBox="1"/>
          <p:nvPr/>
        </p:nvSpPr>
        <p:spPr>
          <a:xfrm>
            <a:off x="8760986" y="5514431"/>
            <a:ext cx="27072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>
                <a:highlight>
                  <a:srgbClr val="FFFF00"/>
                </a:highlight>
              </a:rPr>
              <a:t>好处：查询向量大概率能在最近中心对应的子簇中找到最近邻</a:t>
            </a:r>
            <a:endParaRPr lang="zh-CN" altLang="en-US" sz="1400">
              <a:highlight>
                <a:srgbClr val="FFFF00"/>
              </a:highlight>
            </a:endParaRPr>
          </a:p>
        </p:txBody>
      </p:sp>
      <p:sp>
        <p:nvSpPr>
          <p:cNvPr id="80" name="乘 79">
            <a:extLst>
              <a:ext uri="{FF2B5EF4-FFF2-40B4-BE49-F238E27FC236}">
                <a16:creationId xmlns:a16="http://schemas.microsoft.com/office/drawing/2014/main" id="{C3DC063B-C444-87D8-4266-1722B2ED44A9}"/>
              </a:ext>
            </a:extLst>
          </p:cNvPr>
          <p:cNvSpPr/>
          <p:nvPr/>
        </p:nvSpPr>
        <p:spPr>
          <a:xfrm>
            <a:off x="7635804" y="5081852"/>
            <a:ext cx="300941" cy="28936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3" name="乘 82">
            <a:extLst>
              <a:ext uri="{FF2B5EF4-FFF2-40B4-BE49-F238E27FC236}">
                <a16:creationId xmlns:a16="http://schemas.microsoft.com/office/drawing/2014/main" id="{D22029FA-A265-036D-F974-DDEFA3E8B066}"/>
              </a:ext>
            </a:extLst>
          </p:cNvPr>
          <p:cNvSpPr/>
          <p:nvPr/>
        </p:nvSpPr>
        <p:spPr>
          <a:xfrm>
            <a:off x="8174434" y="4530630"/>
            <a:ext cx="300941" cy="28936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063FEBF0-9AB6-93DF-A9F3-3B5A73E3DD44}"/>
              </a:ext>
            </a:extLst>
          </p:cNvPr>
          <p:cNvSpPr txBox="1"/>
          <p:nvPr/>
        </p:nvSpPr>
        <p:spPr>
          <a:xfrm>
            <a:off x="6888986" y="4695485"/>
            <a:ext cx="830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solidFill>
                  <a:srgbClr val="FF0000"/>
                </a:solidFill>
              </a:rPr>
              <a:t>中心</a:t>
            </a:r>
            <a:r>
              <a:rPr kumimoji="1" lang="en-US" altLang="zh-CN" b="1">
                <a:solidFill>
                  <a:srgbClr val="FF0000"/>
                </a:solidFill>
              </a:rPr>
              <a:t>1</a:t>
            </a:r>
            <a:endParaRPr kumimoji="1" lang="zh-CN" altLang="en-US" b="1">
              <a:solidFill>
                <a:srgbClr val="FF0000"/>
              </a:solidFill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A0D164E5-7079-5F0F-458E-5FD27D95AD72}"/>
              </a:ext>
            </a:extLst>
          </p:cNvPr>
          <p:cNvSpPr txBox="1"/>
          <p:nvPr/>
        </p:nvSpPr>
        <p:spPr>
          <a:xfrm>
            <a:off x="7435871" y="4063705"/>
            <a:ext cx="830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solidFill>
                  <a:srgbClr val="FF0000"/>
                </a:solidFill>
              </a:rPr>
              <a:t>中心</a:t>
            </a:r>
            <a:r>
              <a:rPr kumimoji="1" lang="en-US" altLang="zh-CN" b="1">
                <a:solidFill>
                  <a:srgbClr val="FF0000"/>
                </a:solidFill>
              </a:rPr>
              <a:t>2</a:t>
            </a:r>
            <a:endParaRPr kumimoji="1" lang="zh-CN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970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0E94D75-F5C5-E7E8-D320-C5DEE961D451}"/>
              </a:ext>
            </a:extLst>
          </p:cNvPr>
          <p:cNvSpPr txBox="1"/>
          <p:nvPr/>
        </p:nvSpPr>
        <p:spPr>
          <a:xfrm>
            <a:off x="1170017" y="507600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/>
              <a:t>2.</a:t>
            </a:r>
            <a:r>
              <a:rPr lang="zh-CN" altLang="en-US" sz="3200"/>
              <a:t> 索引创建性能优化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49D52D-2236-D488-4F0A-EE1AC3259055}"/>
              </a:ext>
            </a:extLst>
          </p:cNvPr>
          <p:cNvSpPr txBox="1"/>
          <p:nvPr/>
        </p:nvSpPr>
        <p:spPr>
          <a:xfrm>
            <a:off x="1504722" y="1239189"/>
            <a:ext cx="4468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kumimoji="1" lang="en-US" altLang="zh-CN" sz="2400"/>
              <a:t>2.1</a:t>
            </a:r>
            <a:r>
              <a:rPr kumimoji="1" lang="zh-CN" altLang="en-US" sz="2400"/>
              <a:t> </a:t>
            </a:r>
            <a:r>
              <a:rPr kumimoji="1" lang="en" altLang="zh-CN" sz="2400"/>
              <a:t>CPU </a:t>
            </a:r>
            <a:r>
              <a:rPr kumimoji="1" lang="en-US" altLang="zh-CN" sz="2400"/>
              <a:t>K-Means</a:t>
            </a:r>
            <a:r>
              <a:rPr kumimoji="1" lang="en" altLang="zh-CN" sz="2400"/>
              <a:t> </a:t>
            </a:r>
            <a:r>
              <a:rPr kumimoji="1" lang="zh-CN" altLang="en-US" sz="2400"/>
              <a:t>批</a:t>
            </a:r>
            <a:r>
              <a:rPr lang="zh-CN" altLang="en-US" sz="2400">
                <a:solidFill>
                  <a:srgbClr val="001D35"/>
                </a:solidFill>
                <a:latin typeface="Arial" panose="020B0604020202020204" pitchFamily="34" charset="0"/>
              </a:rPr>
              <a:t>处理优化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CBB7CD-22C3-9040-792A-93670A8DD9E0}"/>
              </a:ext>
            </a:extLst>
          </p:cNvPr>
          <p:cNvSpPr txBox="1"/>
          <p:nvPr/>
        </p:nvSpPr>
        <p:spPr>
          <a:xfrm>
            <a:off x="1627736" y="1847668"/>
            <a:ext cx="4468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kumimoji="1" lang="en-US" altLang="zh-CN" sz="2000"/>
              <a:t>2.1.4</a:t>
            </a:r>
            <a:r>
              <a:rPr kumimoji="1" lang="zh-CN" altLang="en-US" sz="2000"/>
              <a:t> 实验结果</a:t>
            </a:r>
            <a:endParaRPr lang="zh-CN" altLang="en-US" sz="2000">
              <a:solidFill>
                <a:srgbClr val="001D35"/>
              </a:solidFill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3B900C-C707-DAB5-7A92-A30EADB07355}"/>
              </a:ext>
            </a:extLst>
          </p:cNvPr>
          <p:cNvSpPr txBox="1"/>
          <p:nvPr/>
        </p:nvSpPr>
        <p:spPr>
          <a:xfrm>
            <a:off x="1828800" y="2394592"/>
            <a:ext cx="9901083" cy="3055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"/>
              <a:t>数据集</a:t>
            </a:r>
            <a:r>
              <a:rPr lang="zh-CN" altLang="en-US"/>
              <a:t>：</a:t>
            </a:r>
            <a:r>
              <a:rPr lang="en" altLang="zh-CN"/>
              <a:t>1536D50K</a:t>
            </a:r>
            <a:r>
              <a:rPr lang="zh-CN" altLang="en-US"/>
              <a:t>，</a:t>
            </a:r>
            <a:r>
              <a:rPr lang="en-US" altLang="zh-CN"/>
              <a:t>1536</a:t>
            </a:r>
            <a:r>
              <a:rPr lang="en" altLang="zh-CN"/>
              <a:t>D500K</a:t>
            </a:r>
            <a:r>
              <a:rPr lang="zh-CN" altLang="en-US"/>
              <a:t>，</a:t>
            </a:r>
            <a:r>
              <a:rPr lang="en-US" altLang="zh-CN"/>
              <a:t>768</a:t>
            </a:r>
            <a:r>
              <a:rPr lang="en" altLang="zh-CN"/>
              <a:t>D1M</a:t>
            </a:r>
          </a:p>
          <a:p>
            <a:pPr>
              <a:lnSpc>
                <a:spcPct val="150000"/>
              </a:lnSpc>
            </a:pPr>
            <a:r>
              <a:rPr lang="zh-CN" altLang="en"/>
              <a:t>中心</a:t>
            </a:r>
            <a:r>
              <a:rPr lang="zh-CN" altLang="en-US"/>
              <a:t>数：</a:t>
            </a:r>
            <a:r>
              <a:rPr lang="zh-CN" altLang="en-US" sz="1800">
                <a:effectLst/>
              </a:rPr>
              <a:t> </a:t>
            </a:r>
            <a:r>
              <a:rPr lang="en-US" altLang="zh-CN" sz="1800">
                <a:effectLst/>
              </a:rPr>
              <a:t>0.25</a:t>
            </a:r>
            <a:r>
              <a:rPr lang="zh-CN" altLang="en-US" sz="18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r>
              <a:rPr lang="en" altLang="zh-CN" sz="1800"/>
              <a:t>N</a:t>
            </a:r>
            <a:r>
              <a:rPr lang="zh-CN" altLang="en-US" sz="1800"/>
              <a:t>，</a:t>
            </a:r>
            <a:r>
              <a:rPr lang="en-US" altLang="zh-CN" sz="1800">
                <a:effectLst/>
              </a:rPr>
              <a:t>0.5</a:t>
            </a:r>
            <a:r>
              <a:rPr lang="zh-CN" altLang="en-US" sz="18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r>
              <a:rPr lang="en" altLang="zh-CN" sz="1800"/>
              <a:t>N</a:t>
            </a:r>
            <a:r>
              <a:rPr lang="zh-CN" altLang="en-US" sz="1800"/>
              <a:t>，</a:t>
            </a:r>
            <a:r>
              <a:rPr lang="zh-CN" altLang="en-US" sz="18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r>
              <a:rPr lang="en" altLang="zh-CN" sz="1800"/>
              <a:t>N</a:t>
            </a:r>
            <a:r>
              <a:rPr lang="zh-CN" altLang="en-US" sz="1800"/>
              <a:t>，</a:t>
            </a:r>
            <a:r>
              <a:rPr lang="en-US" altLang="zh-CN" sz="1800">
                <a:effectLst/>
              </a:rPr>
              <a:t>2</a:t>
            </a:r>
            <a:r>
              <a:rPr lang="zh-CN" altLang="en-US" sz="18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r>
              <a:rPr lang="en" altLang="zh-CN" sz="1800"/>
              <a:t>N</a:t>
            </a:r>
            <a:r>
              <a:rPr lang="zh-CN" altLang="en-US" sz="1800"/>
              <a:t>，</a:t>
            </a:r>
            <a:r>
              <a:rPr lang="en-US" altLang="zh-CN" sz="1800"/>
              <a:t>4</a:t>
            </a:r>
            <a:r>
              <a:rPr lang="zh-CN" altLang="en-US" sz="18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r>
              <a:rPr lang="en" altLang="zh-CN" sz="1800"/>
              <a:t>N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 sz="1400"/>
              <a:t>                   *根据 </a:t>
            </a:r>
            <a:r>
              <a:rPr lang="en" altLang="zh-CN" sz="1400"/>
              <a:t>FAISS Guidelines </a:t>
            </a:r>
            <a:r>
              <a:rPr lang="zh-CN" altLang="en-US" sz="1400"/>
              <a:t>建议，预设与</a:t>
            </a:r>
            <a:r>
              <a:rPr lang="zh-CN" altLang="en-US" sz="1400">
                <a:effectLst/>
              </a:rPr>
              <a:t>√</a:t>
            </a:r>
            <a:r>
              <a:rPr lang="en" altLang="zh-CN" sz="1400"/>
              <a:t>N</a:t>
            </a:r>
            <a:r>
              <a:rPr lang="zh-CN" altLang="en-US" sz="1400"/>
              <a:t>同量级的中心数，</a:t>
            </a:r>
            <a:r>
              <a:rPr lang="en" altLang="zh-CN" sz="1400"/>
              <a:t>N</a:t>
            </a:r>
            <a:r>
              <a:rPr lang="zh-CN" altLang="en-US" sz="1400"/>
              <a:t>为数据集样本点数</a:t>
            </a:r>
            <a:endParaRPr lang="en-US" altLang="zh-CN" sz="1400"/>
          </a:p>
          <a:p>
            <a:pPr>
              <a:lnSpc>
                <a:spcPct val="150000"/>
              </a:lnSpc>
            </a:pPr>
            <a:endParaRPr lang="zh-CN" altLang="en-US" sz="1400"/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结果（</a:t>
            </a:r>
            <a:r>
              <a:rPr lang="en-US" altLang="zh-CN"/>
              <a:t>NMBKM+PCA</a:t>
            </a:r>
            <a:r>
              <a:rPr lang="zh-CN" altLang="en-US"/>
              <a:t>胖簇拆分 </a:t>
            </a:r>
            <a:r>
              <a:rPr lang="en-US" altLang="zh-CN" err="1"/>
              <a:t>v.s</a:t>
            </a:r>
            <a:r>
              <a:rPr lang="en-US" altLang="zh-CN"/>
              <a:t>. KM</a:t>
            </a:r>
            <a:r>
              <a:rPr lang="zh-CN" altLang="en-US"/>
              <a:t>）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为索引创建环节提供</a:t>
            </a:r>
            <a:r>
              <a:rPr lang="en-US" altLang="zh-CN" sz="1600"/>
              <a:t>1</a:t>
            </a:r>
            <a:r>
              <a:rPr lang="en" altLang="zh-CN" sz="1600"/>
              <a:t>x-2x</a:t>
            </a:r>
            <a:r>
              <a:rPr lang="zh-CN" altLang="en-US" sz="1600"/>
              <a:t>的加速比，</a:t>
            </a:r>
            <a:endParaRPr lang="en-US" altLang="zh-CN" sz="1600"/>
          </a:p>
          <a:p>
            <a:pPr marL="285750" marR="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/>
              <a:t>跟标准</a:t>
            </a:r>
            <a:r>
              <a:rPr lang="en" altLang="zh-CN" sz="1600"/>
              <a:t>KM</a:t>
            </a:r>
            <a:r>
              <a:rPr lang="zh-CN" altLang="en-US" sz="1600"/>
              <a:t>相比召回率误差在</a:t>
            </a:r>
            <a:r>
              <a:rPr lang="en-US" altLang="zh-CN" sz="1600"/>
              <a:t>2%</a:t>
            </a:r>
            <a:r>
              <a:rPr lang="zh-CN" altLang="en-US" sz="1600"/>
              <a:t>以内</a:t>
            </a:r>
            <a:endParaRPr lang="en-US" altLang="zh-CN" sz="1600"/>
          </a:p>
          <a:p>
            <a:pPr marL="285750" marR="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altLang="zh-CN" sz="1600"/>
              <a:t>QPS</a:t>
            </a:r>
            <a:r>
              <a:rPr lang="zh-CN" altLang="en-US" sz="1600"/>
              <a:t>误差在</a:t>
            </a:r>
            <a:r>
              <a:rPr lang="en-US" altLang="zh-CN" sz="1600"/>
              <a:t>5%</a:t>
            </a:r>
            <a:r>
              <a:rPr lang="zh-CN" altLang="en-US" sz="1600"/>
              <a:t>以内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3825515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0E94D75-F5C5-E7E8-D320-C5DEE961D451}"/>
              </a:ext>
            </a:extLst>
          </p:cNvPr>
          <p:cNvSpPr txBox="1"/>
          <p:nvPr/>
        </p:nvSpPr>
        <p:spPr>
          <a:xfrm>
            <a:off x="1170017" y="507600"/>
            <a:ext cx="42967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/>
              <a:t>2.</a:t>
            </a:r>
            <a:r>
              <a:rPr lang="zh-CN" altLang="en-US" sz="3200"/>
              <a:t> 索引创建性能优化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49D52D-2236-D488-4F0A-EE1AC3259055}"/>
              </a:ext>
            </a:extLst>
          </p:cNvPr>
          <p:cNvSpPr txBox="1"/>
          <p:nvPr/>
        </p:nvSpPr>
        <p:spPr>
          <a:xfrm>
            <a:off x="1504722" y="1239189"/>
            <a:ext cx="4468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kumimoji="1" lang="en-US" altLang="zh-CN" sz="2400"/>
              <a:t>2.2</a:t>
            </a:r>
            <a:r>
              <a:rPr kumimoji="1" lang="zh-CN" altLang="en-US" sz="2400"/>
              <a:t> </a:t>
            </a:r>
            <a:r>
              <a:rPr kumimoji="1" lang="en" altLang="zh-CN" sz="2400"/>
              <a:t>GPU </a:t>
            </a:r>
            <a:r>
              <a:rPr kumimoji="1" lang="en-US" altLang="zh-CN" sz="2400"/>
              <a:t>K-Means</a:t>
            </a:r>
            <a:r>
              <a:rPr kumimoji="1" lang="en" altLang="zh-CN" sz="2400"/>
              <a:t> </a:t>
            </a:r>
            <a:r>
              <a:rPr kumimoji="1" lang="zh-CN" altLang="en-US" sz="2400"/>
              <a:t>算子移植</a:t>
            </a:r>
            <a:endParaRPr lang="zh-CN" altLang="en-US" sz="2400">
              <a:solidFill>
                <a:srgbClr val="001D35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E76C00C-18AB-F868-0F50-4CB8C6E48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202109"/>
              </p:ext>
            </p:extLst>
          </p:nvPr>
        </p:nvGraphicFramePr>
        <p:xfrm>
          <a:off x="1713105" y="2800792"/>
          <a:ext cx="9603825" cy="3559751"/>
        </p:xfrm>
        <a:graphic>
          <a:graphicData uri="http://schemas.openxmlformats.org/drawingml/2006/table">
            <a:tbl>
              <a:tblPr/>
              <a:tblGrid>
                <a:gridCol w="1344727">
                  <a:extLst>
                    <a:ext uri="{9D8B030D-6E8A-4147-A177-3AD203B41FA5}">
                      <a16:colId xmlns:a16="http://schemas.microsoft.com/office/drawing/2014/main" val="975475170"/>
                    </a:ext>
                  </a:extLst>
                </a:gridCol>
                <a:gridCol w="3628103">
                  <a:extLst>
                    <a:ext uri="{9D8B030D-6E8A-4147-A177-3AD203B41FA5}">
                      <a16:colId xmlns:a16="http://schemas.microsoft.com/office/drawing/2014/main" val="4120493719"/>
                    </a:ext>
                  </a:extLst>
                </a:gridCol>
                <a:gridCol w="4630995">
                  <a:extLst>
                    <a:ext uri="{9D8B030D-6E8A-4147-A177-3AD203B41FA5}">
                      <a16:colId xmlns:a16="http://schemas.microsoft.com/office/drawing/2014/main" val="3640191963"/>
                    </a:ext>
                  </a:extLst>
                </a:gridCol>
              </a:tblGrid>
              <a:tr h="37604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effectLst/>
                        </a:rPr>
                        <a:t>算子</a:t>
                      </a:r>
                    </a:p>
                  </a:txBody>
                  <a:tcPr marL="53720" marR="53720" marT="26860" marB="26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1400" b="1" dirty="0">
                          <a:solidFill>
                            <a:srgbClr val="1F2328"/>
                          </a:solidFill>
                          <a:effectLst/>
                        </a:rPr>
                        <a:t>Flash‑</a:t>
                      </a:r>
                      <a:r>
                        <a:rPr lang="en" sz="1400" b="1" dirty="0" err="1">
                          <a:solidFill>
                            <a:srgbClr val="1F2328"/>
                          </a:solidFill>
                          <a:effectLst/>
                        </a:rPr>
                        <a:t>KMeans</a:t>
                      </a:r>
                      <a:r>
                        <a:rPr lang="en" sz="1400" b="1" dirty="0">
                          <a:solidFill>
                            <a:srgbClr val="1F2328"/>
                          </a:solidFill>
                          <a:effectLst/>
                        </a:rPr>
                        <a:t> </a:t>
                      </a:r>
                      <a:endParaRPr lang="en" sz="1400" dirty="0">
                        <a:effectLst/>
                      </a:endParaRPr>
                    </a:p>
                  </a:txBody>
                  <a:tcPr marL="53720" marR="53720" marT="26860" marB="26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400" b="1" kern="1200" err="1">
                          <a:solidFill>
                            <a:srgbClr val="1F232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其他</a:t>
                      </a:r>
                      <a:r>
                        <a:rPr lang="zh-CN" altLang="en-US" sz="1400" b="1" kern="1200">
                          <a:solidFill>
                            <a:srgbClr val="1F232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" sz="1400" b="1" kern="1200" err="1">
                          <a:solidFill>
                            <a:srgbClr val="1F232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fast_pytorch_kmeans</a:t>
                      </a:r>
                      <a:r>
                        <a:rPr lang="zh-CN" altLang="en-US" sz="1400" b="1" kern="1200">
                          <a:solidFill>
                            <a:srgbClr val="1F232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>
                          <a:solidFill>
                            <a:srgbClr val="1F232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400" b="1" kern="1200">
                          <a:solidFill>
                            <a:srgbClr val="1F232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b="1" kern="1200" err="1">
                          <a:solidFill>
                            <a:srgbClr val="1F232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fastkmeans</a:t>
                      </a:r>
                      <a:r>
                        <a:rPr lang="en" sz="1400" b="1" kern="1200" err="1">
                          <a:solidFill>
                            <a:srgbClr val="1F232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等</a:t>
                      </a:r>
                      <a:r>
                        <a:rPr lang="zh-CN" altLang="en-US" sz="1400" b="1" kern="1200">
                          <a:solidFill>
                            <a:srgbClr val="1F232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en" sz="1400" b="1" kern="1200">
                        <a:solidFill>
                          <a:srgbClr val="1F232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720" marR="53720" marT="26860" marB="26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1338557"/>
                  </a:ext>
                </a:extLst>
              </a:tr>
              <a:tr h="1679543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距离计算</a:t>
                      </a:r>
                      <a:endParaRPr lang="zh-CN" altLang="en-US" sz="1400">
                        <a:effectLst/>
                      </a:endParaRPr>
                    </a:p>
                  </a:txBody>
                  <a:tcPr marL="53720" marR="53720" marT="26860" marB="26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✅ </a:t>
                      </a:r>
                      <a:r>
                        <a:rPr lang="zh-CN" altLang="en-US" sz="1400">
                          <a:effectLst/>
                          <a:highlight>
                            <a:srgbClr val="FFFF00"/>
                          </a:highlight>
                        </a:rPr>
                        <a:t>无需在显存物化距离矩阵</a:t>
                      </a:r>
                      <a:r>
                        <a:rPr lang="zh-CN" altLang="en-US" sz="1400">
                          <a:effectLst/>
                        </a:rPr>
                        <a:t>，节约显存空间与访存延迟</a:t>
                      </a:r>
                    </a:p>
                  </a:txBody>
                  <a:tcPr marL="53720" marR="53720" marT="26860" marB="26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❌</a:t>
                      </a: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需要在显存物化距离矩阵</a:t>
                      </a:r>
                      <a:endParaRPr lang="zh-CN" altLang="en-US" sz="1400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53720" marR="53720" marT="26860" marB="26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369616"/>
                  </a:ext>
                </a:extLst>
              </a:tr>
              <a:tr h="150416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中心更新</a:t>
                      </a:r>
                      <a:endParaRPr lang="zh-CN" altLang="en-US" sz="1400">
                        <a:effectLst/>
                      </a:endParaRPr>
                    </a:p>
                  </a:txBody>
                  <a:tcPr marL="53720" marR="53720" marT="26860" marB="26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✅排序</a:t>
                      </a:r>
                      <a:r>
                        <a:rPr lang="en-US" altLang="zh-CN" sz="1400">
                          <a:solidFill>
                            <a:srgbClr val="1F2328"/>
                          </a:solidFill>
                          <a:effectLst/>
                        </a:rPr>
                        <a:t>+</a:t>
                      </a:r>
                      <a:r>
                        <a:rPr lang="en" sz="1400">
                          <a:solidFill>
                            <a:srgbClr val="1F2328"/>
                          </a:solidFill>
                          <a:effectLst/>
                        </a:rPr>
                        <a:t>Block</a:t>
                      </a: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内聚合</a:t>
                      </a:r>
                      <a:r>
                        <a:rPr lang="en-US" altLang="zh-CN" sz="1400">
                          <a:solidFill>
                            <a:srgbClr val="1F2328"/>
                          </a:solidFill>
                          <a:effectLst/>
                        </a:rPr>
                        <a:t>+</a:t>
                      </a:r>
                      <a:r>
                        <a:rPr lang="en" sz="1400">
                          <a:solidFill>
                            <a:srgbClr val="1F2328"/>
                          </a:solidFill>
                          <a:effectLst/>
                        </a:rPr>
                        <a:t>Block</a:t>
                      </a: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间</a:t>
                      </a:r>
                      <a:r>
                        <a:rPr lang="en" sz="1400">
                          <a:solidFill>
                            <a:srgbClr val="1F2328"/>
                          </a:solidFill>
                          <a:effectLst/>
                        </a:rPr>
                        <a:t>Atomic Add，</a:t>
                      </a: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减少对中心数组的 </a:t>
                      </a:r>
                      <a:r>
                        <a:rPr lang="en" altLang="zh-CN" sz="1400">
                          <a:solidFill>
                            <a:srgbClr val="1F2328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Atomic Add</a:t>
                      </a: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 竞争</a:t>
                      </a:r>
                      <a:br>
                        <a:rPr lang="en-US" altLang="zh-CN" sz="1400">
                          <a:solidFill>
                            <a:srgbClr val="1F2328"/>
                          </a:solidFill>
                          <a:effectLst/>
                        </a:rPr>
                      </a:br>
                      <a:br>
                        <a:rPr lang="en-US" altLang="zh-CN" sz="1400">
                          <a:solidFill>
                            <a:srgbClr val="1F2328"/>
                          </a:solidFill>
                          <a:effectLst/>
                        </a:rPr>
                      </a:b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*中心数组：用于累加被分配到该中心的样本</a:t>
                      </a:r>
                      <a:endParaRPr lang="zh-CN" altLang="en-US" sz="1400">
                        <a:effectLst/>
                      </a:endParaRPr>
                    </a:p>
                  </a:txBody>
                  <a:tcPr marL="53720" marR="53720" marT="26860" marB="26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❌方案</a:t>
                      </a:r>
                      <a:r>
                        <a:rPr lang="en-US" altLang="zh-CN" sz="1400">
                          <a:solidFill>
                            <a:srgbClr val="1F2328"/>
                          </a:solidFill>
                          <a:effectLst/>
                        </a:rPr>
                        <a:t>1.</a:t>
                      </a: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 所有样本 </a:t>
                      </a:r>
                      <a:r>
                        <a:rPr lang="en" altLang="zh-CN" sz="1400">
                          <a:solidFill>
                            <a:srgbClr val="1F2328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Atomic Add</a:t>
                      </a: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至对应中心数组</a:t>
                      </a:r>
                      <a:endParaRPr lang="en-US" altLang="zh-CN" sz="1400">
                        <a:solidFill>
                          <a:srgbClr val="1F2328"/>
                        </a:solidFill>
                        <a:effectLst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>
                        <a:solidFill>
                          <a:srgbClr val="1F2328"/>
                        </a:solidFill>
                        <a:effectLst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❌方案</a:t>
                      </a:r>
                      <a:r>
                        <a:rPr lang="en-US" altLang="zh-CN" sz="1400">
                          <a:solidFill>
                            <a:srgbClr val="1F2328"/>
                          </a:solidFill>
                          <a:effectLst/>
                        </a:rPr>
                        <a:t>2.</a:t>
                      </a: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 构造一个</a:t>
                      </a:r>
                      <a:r>
                        <a:rPr lang="en" sz="1400">
                          <a:solidFill>
                            <a:srgbClr val="1F2328"/>
                          </a:solidFill>
                          <a:effectLst/>
                        </a:rPr>
                        <a:t>Mask</a:t>
                      </a: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矩阵，利用</a:t>
                      </a:r>
                      <a:r>
                        <a:rPr lang="en" sz="1400">
                          <a:solidFill>
                            <a:srgbClr val="1F2328"/>
                          </a:solidFill>
                          <a:effectLst/>
                        </a:rPr>
                        <a:t>GEMM</a:t>
                      </a: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</a:rPr>
                        <a:t>矩阵乘完成各簇的样本累加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effectLst/>
                        </a:rPr>
                        <a:t>，</a:t>
                      </a:r>
                      <a:r>
                        <a:rPr lang="en" sz="1400">
                          <a:solidFill>
                            <a:srgbClr val="1F2328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Mask</a:t>
                      </a:r>
                      <a:r>
                        <a:rPr lang="zh-CN" altLang="en-US" sz="1400">
                          <a:solidFill>
                            <a:srgbClr val="1F2328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矩</a:t>
                      </a:r>
                      <a:r>
                        <a:rPr lang="zh-CN" altLang="en-US" sz="1400">
                          <a:effectLst/>
                          <a:highlight>
                            <a:srgbClr val="FFFF00"/>
                          </a:highlight>
                        </a:rPr>
                        <a:t>阵显存开销巨大</a:t>
                      </a:r>
                      <a:endParaRPr lang="en-US" altLang="zh-CN" sz="1400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53720" marR="53720" marT="26860" marB="26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002337"/>
                  </a:ext>
                </a:extLst>
              </a:tr>
            </a:tbl>
          </a:graphicData>
        </a:graphic>
      </p:graphicFrame>
      <p:sp>
        <p:nvSpPr>
          <p:cNvPr id="3" name="AutoShape 1">
            <a:extLst>
              <a:ext uri="{FF2B5EF4-FFF2-40B4-BE49-F238E27FC236}">
                <a16:creationId xmlns:a16="http://schemas.microsoft.com/office/drawing/2014/main" id="{3467095B-2666-4D93-8A56-BEF5D799BC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24891" y="2341256"/>
            <a:ext cx="5016500" cy="501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7C3A19-86F8-3F5E-7CE3-D668E2F621D8}"/>
              </a:ext>
            </a:extLst>
          </p:cNvPr>
          <p:cNvSpPr txBox="1"/>
          <p:nvPr/>
        </p:nvSpPr>
        <p:spPr>
          <a:xfrm>
            <a:off x="1627736" y="1847668"/>
            <a:ext cx="4468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kumimoji="1" lang="en-US" altLang="zh-CN" sz="2000"/>
              <a:t>2.2.1</a:t>
            </a:r>
            <a:r>
              <a:rPr kumimoji="1" lang="zh-CN" altLang="en-US" sz="2000"/>
              <a:t> 算子选择</a:t>
            </a:r>
            <a:endParaRPr lang="zh-CN" altLang="en-US" sz="2000">
              <a:solidFill>
                <a:srgbClr val="001D35"/>
              </a:solidFill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EABBCC-8C43-4D49-8139-BD7F74D92935}"/>
              </a:ext>
            </a:extLst>
          </p:cNvPr>
          <p:cNvSpPr txBox="1"/>
          <p:nvPr/>
        </p:nvSpPr>
        <p:spPr>
          <a:xfrm>
            <a:off x="4318725" y="2394592"/>
            <a:ext cx="3554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/>
              <a:t>表</a:t>
            </a:r>
            <a:r>
              <a:rPr kumimoji="1" lang="en-US" altLang="zh-CN" sz="1600"/>
              <a:t>.</a:t>
            </a:r>
            <a:r>
              <a:rPr kumimoji="1" lang="zh-CN" altLang="en-US" sz="1600"/>
              <a:t>不同 </a:t>
            </a:r>
            <a:r>
              <a:rPr kumimoji="1" lang="en-US" altLang="zh-CN" sz="1600"/>
              <a:t>K-Means</a:t>
            </a:r>
            <a:r>
              <a:rPr kumimoji="1" lang="zh-CN" altLang="en-US" sz="1600"/>
              <a:t> 算子优劣总结</a:t>
            </a:r>
          </a:p>
        </p:txBody>
      </p:sp>
    </p:spTree>
    <p:extLst>
      <p:ext uri="{BB962C8B-B14F-4D97-AF65-F5344CB8AC3E}">
        <p14:creationId xmlns:p14="http://schemas.microsoft.com/office/powerpoint/2010/main" val="1136476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C49D52D-2236-D488-4F0A-EE1AC3259055}"/>
              </a:ext>
            </a:extLst>
          </p:cNvPr>
          <p:cNvSpPr txBox="1"/>
          <p:nvPr/>
        </p:nvSpPr>
        <p:spPr>
          <a:xfrm>
            <a:off x="1504722" y="1239189"/>
            <a:ext cx="4468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kumimoji="1" lang="en-US" altLang="zh-CN" sz="2400"/>
              <a:t>2.2</a:t>
            </a:r>
            <a:r>
              <a:rPr kumimoji="1" lang="zh-CN" altLang="en-US" sz="2400"/>
              <a:t> </a:t>
            </a:r>
            <a:r>
              <a:rPr kumimoji="1" lang="en" altLang="zh-CN" sz="2400"/>
              <a:t>GPU </a:t>
            </a:r>
            <a:r>
              <a:rPr kumimoji="1" lang="en-US" altLang="zh-CN" sz="2400"/>
              <a:t>K-Means</a:t>
            </a:r>
            <a:r>
              <a:rPr kumimoji="1" lang="en" altLang="zh-CN" sz="2400"/>
              <a:t> </a:t>
            </a:r>
            <a:r>
              <a:rPr kumimoji="1" lang="zh-CN" altLang="en-US" sz="2400"/>
              <a:t>算子移植</a:t>
            </a:r>
            <a:endParaRPr lang="zh-CN" altLang="en-US" sz="2400">
              <a:solidFill>
                <a:srgbClr val="001D35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2422660-FAE9-E602-4937-156AEA6A0E66}"/>
              </a:ext>
            </a:extLst>
          </p:cNvPr>
          <p:cNvSpPr txBox="1"/>
          <p:nvPr/>
        </p:nvSpPr>
        <p:spPr>
          <a:xfrm>
            <a:off x="1145600" y="2084820"/>
            <a:ext cx="4548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rgbClr val="1F2328"/>
                </a:solidFill>
                <a:effectLst/>
              </a:rPr>
              <a:t>图</a:t>
            </a:r>
            <a:r>
              <a:rPr lang="en-US" altLang="zh-CN" sz="1600">
                <a:solidFill>
                  <a:srgbClr val="1F2328"/>
                </a:solidFill>
                <a:effectLst/>
              </a:rPr>
              <a:t>1.</a:t>
            </a:r>
            <a:r>
              <a:rPr lang="zh-CN" altLang="en-US" sz="1600">
                <a:solidFill>
                  <a:srgbClr val="1F2328"/>
                </a:solidFill>
                <a:effectLst/>
              </a:rPr>
              <a:t> </a:t>
            </a:r>
            <a:r>
              <a:rPr lang="zh-CN" altLang="en-US" sz="1600">
                <a:solidFill>
                  <a:srgbClr val="1F2328"/>
                </a:solidFill>
              </a:rPr>
              <a:t>典型距离计算流程</a:t>
            </a:r>
            <a:r>
              <a:rPr lang="zh-CN" altLang="en-US" sz="1600">
                <a:solidFill>
                  <a:srgbClr val="1F2328"/>
                </a:solidFill>
                <a:effectLst/>
              </a:rPr>
              <a:t>（</a:t>
            </a:r>
            <a:r>
              <a:rPr lang="en" altLang="zh-CN" sz="1600" kern="1200" err="1">
                <a:solidFill>
                  <a:srgbClr val="1F2328"/>
                </a:solidFill>
                <a:effectLst/>
                <a:latin typeface="+mn-lt"/>
                <a:ea typeface="+mn-ea"/>
                <a:cs typeface="+mn-cs"/>
              </a:rPr>
              <a:t>fast_pytorch_kmeans</a:t>
            </a:r>
            <a:r>
              <a:rPr lang="zh-CN" altLang="en-US" sz="1600" kern="1200">
                <a:solidFill>
                  <a:srgbClr val="1F2328"/>
                </a:solidFill>
                <a:effectLst/>
                <a:latin typeface="+mn-lt"/>
                <a:ea typeface="+mn-ea"/>
                <a:cs typeface="+mn-cs"/>
              </a:rPr>
              <a:t> 等</a:t>
            </a:r>
            <a:r>
              <a:rPr lang="zh-CN" altLang="en-US" sz="1600">
                <a:solidFill>
                  <a:srgbClr val="1F2328"/>
                </a:solidFill>
                <a:effectLst/>
              </a:rPr>
              <a:t>）</a:t>
            </a:r>
            <a:endParaRPr lang="en" altLang="zh-CN" sz="1600">
              <a:effectLst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C67E259-D3F3-9DD2-E522-FE55F984E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755" y="2481224"/>
            <a:ext cx="4143310" cy="415831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68F7B63-DEF8-820C-508A-2B9F268218FF}"/>
              </a:ext>
            </a:extLst>
          </p:cNvPr>
          <p:cNvSpPr txBox="1"/>
          <p:nvPr/>
        </p:nvSpPr>
        <p:spPr>
          <a:xfrm>
            <a:off x="8040473" y="2084820"/>
            <a:ext cx="3169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/>
              <a:t>图</a:t>
            </a:r>
            <a:r>
              <a:rPr kumimoji="1" lang="en-US" altLang="zh-CN" sz="1600"/>
              <a:t>2.</a:t>
            </a:r>
            <a:r>
              <a:rPr kumimoji="1" lang="zh-CN" altLang="en-US" sz="1600"/>
              <a:t> </a:t>
            </a:r>
            <a:r>
              <a:rPr kumimoji="1" lang="en-US" altLang="zh-CN" sz="1600">
                <a:highlight>
                  <a:srgbClr val="FFFF00"/>
                </a:highlight>
              </a:rPr>
              <a:t>Flash</a:t>
            </a:r>
            <a:r>
              <a:rPr kumimoji="1" lang="zh-CN" altLang="en-US" sz="1600">
                <a:highlight>
                  <a:srgbClr val="FFFF00"/>
                </a:highlight>
              </a:rPr>
              <a:t> </a:t>
            </a:r>
            <a:r>
              <a:rPr kumimoji="1" lang="en-US" altLang="zh-CN" sz="1600">
                <a:highlight>
                  <a:srgbClr val="FFFF00"/>
                </a:highlight>
              </a:rPr>
              <a:t>K-Means</a:t>
            </a:r>
            <a:r>
              <a:rPr kumimoji="1" lang="zh-CN" altLang="en-US" sz="1600">
                <a:highlight>
                  <a:srgbClr val="FFFF00"/>
                </a:highlight>
              </a:rPr>
              <a:t> 距离计算流程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1020F3C-E15A-FA4D-F8AE-FFEC235FFE94}"/>
              </a:ext>
            </a:extLst>
          </p:cNvPr>
          <p:cNvGrpSpPr/>
          <p:nvPr/>
        </p:nvGrpSpPr>
        <p:grpSpPr>
          <a:xfrm>
            <a:off x="971376" y="2481224"/>
            <a:ext cx="4143310" cy="4158318"/>
            <a:chOff x="320430" y="2179817"/>
            <a:chExt cx="4457700" cy="4546600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159153A-039F-E46B-26AC-F5E831389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0430" y="2179817"/>
              <a:ext cx="4457700" cy="4546600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2404D16-0962-4E69-A2A3-6DDBD9B221C0}"/>
                </a:ext>
              </a:extLst>
            </p:cNvPr>
            <p:cNvSpPr/>
            <p:nvPr/>
          </p:nvSpPr>
          <p:spPr>
            <a:xfrm>
              <a:off x="1956619" y="4129548"/>
              <a:ext cx="412955" cy="1179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1EE3193-E29A-A397-373E-9A8EAFE3B48B}"/>
                </a:ext>
              </a:extLst>
            </p:cNvPr>
            <p:cNvSpPr/>
            <p:nvPr/>
          </p:nvSpPr>
          <p:spPr>
            <a:xfrm>
              <a:off x="2389237" y="4011561"/>
              <a:ext cx="932400" cy="2449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41DA815-A6BC-63B2-B21C-0A86DF400E67}"/>
                </a:ext>
              </a:extLst>
            </p:cNvPr>
            <p:cNvSpPr/>
            <p:nvPr/>
          </p:nvSpPr>
          <p:spPr>
            <a:xfrm>
              <a:off x="3338922" y="4011561"/>
              <a:ext cx="440212" cy="2449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14A57B3-6FEA-9080-308F-2B7D44CDA632}"/>
                </a:ext>
              </a:extLst>
            </p:cNvPr>
            <p:cNvSpPr/>
            <p:nvPr/>
          </p:nvSpPr>
          <p:spPr>
            <a:xfrm>
              <a:off x="2061849" y="4735433"/>
              <a:ext cx="1659412" cy="13239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9E0FC8A-ED4E-5CE7-FD09-64DD0A5739EE}"/>
                </a:ext>
              </a:extLst>
            </p:cNvPr>
            <p:cNvSpPr/>
            <p:nvPr/>
          </p:nvSpPr>
          <p:spPr>
            <a:xfrm>
              <a:off x="1747777" y="6088214"/>
              <a:ext cx="2361236" cy="5845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C565A4E-8F72-0AAE-5233-AF84739A1675}"/>
                </a:ext>
              </a:extLst>
            </p:cNvPr>
            <p:cNvSpPr/>
            <p:nvPr/>
          </p:nvSpPr>
          <p:spPr>
            <a:xfrm>
              <a:off x="3965280" y="4204516"/>
              <a:ext cx="311566" cy="1993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4133CE2-1894-719A-386B-0CC84297E310}"/>
                </a:ext>
              </a:extLst>
            </p:cNvPr>
            <p:cNvSpPr txBox="1"/>
            <p:nvPr/>
          </p:nvSpPr>
          <p:spPr>
            <a:xfrm>
              <a:off x="1902969" y="4685922"/>
              <a:ext cx="92822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sz="1400" b="0" i="0">
                  <a:solidFill>
                    <a:srgbClr val="0D1239"/>
                  </a:solidFill>
                  <a:effectLst/>
                  <a:latin typeface="PingFang SC" panose="020B0400000000000000" pitchFamily="34" charset="-122"/>
                  <a:ea typeface="PingFang SC" panose="020B0400000000000000" pitchFamily="34" charset="-122"/>
                </a:rPr>
                <a:t>Thread Block</a:t>
              </a:r>
              <a:endParaRPr lang="zh-CN" altLang="en-US" sz="140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0779D71-26BD-317B-C484-F473E6562FCF}"/>
                </a:ext>
              </a:extLst>
            </p:cNvPr>
            <p:cNvSpPr/>
            <p:nvPr/>
          </p:nvSpPr>
          <p:spPr>
            <a:xfrm>
              <a:off x="4019124" y="3191677"/>
              <a:ext cx="733532" cy="31215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461116B4-9267-5167-933B-D848A41CB0FA}"/>
              </a:ext>
            </a:extLst>
          </p:cNvPr>
          <p:cNvSpPr txBox="1"/>
          <p:nvPr/>
        </p:nvSpPr>
        <p:spPr>
          <a:xfrm>
            <a:off x="971376" y="3388686"/>
            <a:ext cx="1100767" cy="309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/>
              <a:t>样本集合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BAF3F1-05D5-D9B8-1E34-3D830324BD97}"/>
              </a:ext>
            </a:extLst>
          </p:cNvPr>
          <p:cNvSpPr txBox="1"/>
          <p:nvPr/>
        </p:nvSpPr>
        <p:spPr>
          <a:xfrm>
            <a:off x="1320327" y="2767138"/>
            <a:ext cx="1100767" cy="309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/>
              <a:t>中心集合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0BD17A-EC56-1BC1-A16F-C0868EC4E7A3}"/>
              </a:ext>
            </a:extLst>
          </p:cNvPr>
          <p:cNvSpPr/>
          <p:nvPr/>
        </p:nvSpPr>
        <p:spPr>
          <a:xfrm>
            <a:off x="4432841" y="3881752"/>
            <a:ext cx="969884" cy="21608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52ED56-4BBA-F04B-474F-1CB085E03BBF}"/>
              </a:ext>
            </a:extLst>
          </p:cNvPr>
          <p:cNvSpPr/>
          <p:nvPr/>
        </p:nvSpPr>
        <p:spPr>
          <a:xfrm>
            <a:off x="10700899" y="3572350"/>
            <a:ext cx="860942" cy="102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42B2021E-21FD-0E25-8D9D-A26820D7B553}"/>
              </a:ext>
            </a:extLst>
          </p:cNvPr>
          <p:cNvCxnSpPr>
            <a:cxnSpLocks/>
          </p:cNvCxnSpPr>
          <p:nvPr/>
        </p:nvCxnSpPr>
        <p:spPr>
          <a:xfrm>
            <a:off x="4424805" y="6113366"/>
            <a:ext cx="96988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F0A3347F-EA12-C8A5-FADC-68FACCB3CDB6}"/>
              </a:ext>
            </a:extLst>
          </p:cNvPr>
          <p:cNvSpPr txBox="1"/>
          <p:nvPr/>
        </p:nvSpPr>
        <p:spPr>
          <a:xfrm>
            <a:off x="4800668" y="6051633"/>
            <a:ext cx="483704" cy="337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/>
              <a:t>K</a:t>
            </a:r>
            <a:endParaRPr kumimoji="1" lang="zh-CN" altLang="en-US" sz="1600"/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5B5042D6-76DA-1FAA-7549-6DE8ED470661}"/>
              </a:ext>
            </a:extLst>
          </p:cNvPr>
          <p:cNvCxnSpPr>
            <a:cxnSpLocks/>
          </p:cNvCxnSpPr>
          <p:nvPr/>
        </p:nvCxnSpPr>
        <p:spPr>
          <a:xfrm>
            <a:off x="10968477" y="6127788"/>
            <a:ext cx="27889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1F9D5E8-DD77-7F2D-886C-2446179662CC}"/>
              </a:ext>
            </a:extLst>
          </p:cNvPr>
          <p:cNvSpPr txBox="1"/>
          <p:nvPr/>
        </p:nvSpPr>
        <p:spPr>
          <a:xfrm>
            <a:off x="10968477" y="6092734"/>
            <a:ext cx="483704" cy="337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/>
              <a:t>1</a:t>
            </a:r>
            <a:endParaRPr kumimoji="1" lang="zh-CN" altLang="en-US" sz="1600"/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3C1EC677-EA62-43E4-CA9D-CE3A60F0D69C}"/>
              </a:ext>
            </a:extLst>
          </p:cNvPr>
          <p:cNvCxnSpPr>
            <a:cxnSpLocks/>
          </p:cNvCxnSpPr>
          <p:nvPr/>
        </p:nvCxnSpPr>
        <p:spPr>
          <a:xfrm>
            <a:off x="6006103" y="3881752"/>
            <a:ext cx="0" cy="221098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C88CA10-EECE-5CDE-E336-4AB6ABEF3F15}"/>
              </a:ext>
            </a:extLst>
          </p:cNvPr>
          <p:cNvSpPr txBox="1"/>
          <p:nvPr/>
        </p:nvSpPr>
        <p:spPr>
          <a:xfrm>
            <a:off x="5438276" y="4665255"/>
            <a:ext cx="483704" cy="337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/>
              <a:t>N</a:t>
            </a:r>
            <a:endParaRPr kumimoji="1" lang="zh-CN" altLang="en-US" sz="1600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8C3BCD50-8FC1-5B25-44BF-691E203B3E5B}"/>
              </a:ext>
            </a:extLst>
          </p:cNvPr>
          <p:cNvCxnSpPr>
            <a:cxnSpLocks/>
          </p:cNvCxnSpPr>
          <p:nvPr/>
        </p:nvCxnSpPr>
        <p:spPr>
          <a:xfrm>
            <a:off x="11304747" y="3897554"/>
            <a:ext cx="0" cy="215828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B7C1427D-C3CF-8BBA-050C-064858B381EE}"/>
              </a:ext>
            </a:extLst>
          </p:cNvPr>
          <p:cNvSpPr txBox="1"/>
          <p:nvPr/>
        </p:nvSpPr>
        <p:spPr>
          <a:xfrm>
            <a:off x="11267188" y="4681057"/>
            <a:ext cx="483704" cy="337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/>
              <a:t>N</a:t>
            </a:r>
            <a:endParaRPr kumimoji="1" lang="zh-CN" altLang="en-US" sz="16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E182E89-C8DA-7774-8E55-3AFC871AA177}"/>
              </a:ext>
            </a:extLst>
          </p:cNvPr>
          <p:cNvSpPr/>
          <p:nvPr/>
        </p:nvSpPr>
        <p:spPr>
          <a:xfrm>
            <a:off x="4648756" y="3868551"/>
            <a:ext cx="157283" cy="2169881"/>
          </a:xfrm>
          <a:prstGeom prst="rect">
            <a:avLst/>
          </a:prstGeom>
          <a:solidFill>
            <a:srgbClr val="F59D11">
              <a:alpha val="3394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F1A02FB-F560-F28F-D2A9-5111DC9DDD3C}"/>
              </a:ext>
            </a:extLst>
          </p:cNvPr>
          <p:cNvSpPr/>
          <p:nvPr/>
        </p:nvSpPr>
        <p:spPr>
          <a:xfrm rot="16200000">
            <a:off x="4838533" y="4150680"/>
            <a:ext cx="144825" cy="969884"/>
          </a:xfrm>
          <a:prstGeom prst="rect">
            <a:avLst/>
          </a:prstGeom>
          <a:solidFill>
            <a:srgbClr val="F59D11">
              <a:alpha val="3394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6FF3A9C-549C-DD07-348F-945BF7795894}"/>
              </a:ext>
            </a:extLst>
          </p:cNvPr>
          <p:cNvSpPr txBox="1"/>
          <p:nvPr/>
        </p:nvSpPr>
        <p:spPr>
          <a:xfrm>
            <a:off x="4061224" y="3272918"/>
            <a:ext cx="18917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>
                <a:solidFill>
                  <a:srgbClr val="FF0000"/>
                </a:solidFill>
              </a:rPr>
              <a:t>在显存物化距离矩阵，以待后续距离比较</a:t>
            </a:r>
            <a:endParaRPr kumimoji="1" lang="en-US" altLang="zh-CN" sz="1400" b="1">
              <a:solidFill>
                <a:srgbClr val="FF0000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C7ED3FF-8237-608B-A55C-3760216E1CD8}"/>
              </a:ext>
            </a:extLst>
          </p:cNvPr>
          <p:cNvSpPr/>
          <p:nvPr/>
        </p:nvSpPr>
        <p:spPr>
          <a:xfrm>
            <a:off x="3356327" y="3224069"/>
            <a:ext cx="593868" cy="673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CC9666B-FD81-1154-71B9-F538EBAF1EE9}"/>
              </a:ext>
            </a:extLst>
          </p:cNvPr>
          <p:cNvSpPr/>
          <p:nvPr/>
        </p:nvSpPr>
        <p:spPr>
          <a:xfrm>
            <a:off x="3434082" y="3913101"/>
            <a:ext cx="613980" cy="8790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53E1C6EF-FF8C-DD51-A1D7-193BF2B10021}"/>
              </a:ext>
            </a:extLst>
          </p:cNvPr>
          <p:cNvCxnSpPr>
            <a:cxnSpLocks/>
          </p:cNvCxnSpPr>
          <p:nvPr/>
        </p:nvCxnSpPr>
        <p:spPr>
          <a:xfrm>
            <a:off x="3067736" y="4635621"/>
            <a:ext cx="1673051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81754EE8-26F0-4D67-D7C8-E0C9F4FC2CA4}"/>
              </a:ext>
            </a:extLst>
          </p:cNvPr>
          <p:cNvSpPr/>
          <p:nvPr/>
        </p:nvSpPr>
        <p:spPr>
          <a:xfrm>
            <a:off x="8551420" y="6113366"/>
            <a:ext cx="2149479" cy="526176"/>
          </a:xfrm>
          <a:custGeom>
            <a:avLst/>
            <a:gdLst>
              <a:gd name="connsiteX0" fmla="*/ 0 w 2149479"/>
              <a:gd name="connsiteY0" fmla="*/ 0 h 526176"/>
              <a:gd name="connsiteX1" fmla="*/ 515875 w 2149479"/>
              <a:gd name="connsiteY1" fmla="*/ 0 h 526176"/>
              <a:gd name="connsiteX2" fmla="*/ 988760 w 2149479"/>
              <a:gd name="connsiteY2" fmla="*/ 0 h 526176"/>
              <a:gd name="connsiteX3" fmla="*/ 1569120 w 2149479"/>
              <a:gd name="connsiteY3" fmla="*/ 0 h 526176"/>
              <a:gd name="connsiteX4" fmla="*/ 2149479 w 2149479"/>
              <a:gd name="connsiteY4" fmla="*/ 0 h 526176"/>
              <a:gd name="connsiteX5" fmla="*/ 2149479 w 2149479"/>
              <a:gd name="connsiteY5" fmla="*/ 526176 h 526176"/>
              <a:gd name="connsiteX6" fmla="*/ 1655099 w 2149479"/>
              <a:gd name="connsiteY6" fmla="*/ 526176 h 526176"/>
              <a:gd name="connsiteX7" fmla="*/ 1160719 w 2149479"/>
              <a:gd name="connsiteY7" fmla="*/ 526176 h 526176"/>
              <a:gd name="connsiteX8" fmla="*/ 580359 w 2149479"/>
              <a:gd name="connsiteY8" fmla="*/ 526176 h 526176"/>
              <a:gd name="connsiteX9" fmla="*/ 0 w 2149479"/>
              <a:gd name="connsiteY9" fmla="*/ 526176 h 526176"/>
              <a:gd name="connsiteX10" fmla="*/ 0 w 2149479"/>
              <a:gd name="connsiteY10" fmla="*/ 0 h 526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49479" h="526176" extrusionOk="0">
                <a:moveTo>
                  <a:pt x="0" y="0"/>
                </a:moveTo>
                <a:cubicBezTo>
                  <a:pt x="148483" y="-15469"/>
                  <a:pt x="396794" y="-19687"/>
                  <a:pt x="515875" y="0"/>
                </a:cubicBezTo>
                <a:cubicBezTo>
                  <a:pt x="634957" y="19687"/>
                  <a:pt x="823888" y="21214"/>
                  <a:pt x="988760" y="0"/>
                </a:cubicBezTo>
                <a:cubicBezTo>
                  <a:pt x="1153633" y="-21214"/>
                  <a:pt x="1402121" y="-489"/>
                  <a:pt x="1569120" y="0"/>
                </a:cubicBezTo>
                <a:cubicBezTo>
                  <a:pt x="1736119" y="489"/>
                  <a:pt x="2016069" y="-17811"/>
                  <a:pt x="2149479" y="0"/>
                </a:cubicBezTo>
                <a:cubicBezTo>
                  <a:pt x="2149454" y="168669"/>
                  <a:pt x="2140327" y="273206"/>
                  <a:pt x="2149479" y="526176"/>
                </a:cubicBezTo>
                <a:cubicBezTo>
                  <a:pt x="1922250" y="542482"/>
                  <a:pt x="1865762" y="549840"/>
                  <a:pt x="1655099" y="526176"/>
                </a:cubicBezTo>
                <a:cubicBezTo>
                  <a:pt x="1444436" y="502512"/>
                  <a:pt x="1356743" y="522004"/>
                  <a:pt x="1160719" y="526176"/>
                </a:cubicBezTo>
                <a:cubicBezTo>
                  <a:pt x="964695" y="530348"/>
                  <a:pt x="739678" y="505087"/>
                  <a:pt x="580359" y="526176"/>
                </a:cubicBezTo>
                <a:cubicBezTo>
                  <a:pt x="421040" y="547265"/>
                  <a:pt x="118815" y="524771"/>
                  <a:pt x="0" y="526176"/>
                </a:cubicBezTo>
                <a:cubicBezTo>
                  <a:pt x="-17060" y="358651"/>
                  <a:pt x="14914" y="184138"/>
                  <a:pt x="0" y="0"/>
                </a:cubicBezTo>
                <a:close/>
              </a:path>
            </a:pathLst>
          </a:custGeom>
          <a:noFill/>
          <a:ln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704B202-6BEF-6A69-7696-1EC55731487D}"/>
              </a:ext>
            </a:extLst>
          </p:cNvPr>
          <p:cNvSpPr txBox="1"/>
          <p:nvPr/>
        </p:nvSpPr>
        <p:spPr>
          <a:xfrm>
            <a:off x="6353866" y="6122006"/>
            <a:ext cx="2267151" cy="53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>
                <a:solidFill>
                  <a:srgbClr val="00B050"/>
                </a:solidFill>
              </a:rPr>
              <a:t>在</a:t>
            </a:r>
            <a:r>
              <a:rPr kumimoji="1" lang="en-US" altLang="zh-CN" sz="1400" b="1">
                <a:solidFill>
                  <a:srgbClr val="00B050"/>
                </a:solidFill>
              </a:rPr>
              <a:t>On-chip</a:t>
            </a:r>
            <a:r>
              <a:rPr kumimoji="1" lang="zh-CN" altLang="en-US" sz="1400" b="1">
                <a:solidFill>
                  <a:srgbClr val="00B050"/>
                </a:solidFill>
              </a:rPr>
              <a:t> </a:t>
            </a:r>
            <a:r>
              <a:rPr kumimoji="1" lang="en-US" altLang="zh-CN" sz="1400" b="1">
                <a:solidFill>
                  <a:srgbClr val="00B050"/>
                </a:solidFill>
              </a:rPr>
              <a:t>Shared</a:t>
            </a:r>
            <a:r>
              <a:rPr kumimoji="1" lang="zh-CN" altLang="en-US" sz="1400" b="1">
                <a:solidFill>
                  <a:srgbClr val="00B050"/>
                </a:solidFill>
              </a:rPr>
              <a:t> </a:t>
            </a:r>
            <a:r>
              <a:rPr kumimoji="1" lang="en-US" altLang="zh-CN" sz="1400" b="1">
                <a:solidFill>
                  <a:srgbClr val="00B050"/>
                </a:solidFill>
              </a:rPr>
              <a:t>Memory</a:t>
            </a:r>
            <a:r>
              <a:rPr kumimoji="1" lang="zh-CN" altLang="en-US" sz="1400" b="1">
                <a:solidFill>
                  <a:srgbClr val="00B050"/>
                </a:solidFill>
              </a:rPr>
              <a:t>中完成距离比较</a:t>
            </a:r>
            <a:endParaRPr kumimoji="1" lang="en-US" altLang="zh-CN" sz="1400" b="1">
              <a:solidFill>
                <a:srgbClr val="00B050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5C7A14C-42EE-02C7-E659-71FFC06F6919}"/>
              </a:ext>
            </a:extLst>
          </p:cNvPr>
          <p:cNvSpPr txBox="1"/>
          <p:nvPr/>
        </p:nvSpPr>
        <p:spPr>
          <a:xfrm>
            <a:off x="1170017" y="507600"/>
            <a:ext cx="42967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/>
              <a:t>2.</a:t>
            </a:r>
            <a:r>
              <a:rPr lang="zh-CN" altLang="en-US" sz="3200"/>
              <a:t> 索引创建性能优化</a:t>
            </a:r>
          </a:p>
        </p:txBody>
      </p:sp>
    </p:spTree>
    <p:extLst>
      <p:ext uri="{BB962C8B-B14F-4D97-AF65-F5344CB8AC3E}">
        <p14:creationId xmlns:p14="http://schemas.microsoft.com/office/powerpoint/2010/main" val="1904713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0E94D75-F5C5-E7E8-D320-C5DEE961D451}"/>
              </a:ext>
            </a:extLst>
          </p:cNvPr>
          <p:cNvSpPr txBox="1"/>
          <p:nvPr/>
        </p:nvSpPr>
        <p:spPr>
          <a:xfrm>
            <a:off x="1170017" y="507600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/>
              <a:t>2.</a:t>
            </a:r>
            <a:r>
              <a:rPr lang="zh-CN" altLang="en-US" sz="3200" dirty="0"/>
              <a:t> 索引创建性能优化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49D52D-2236-D488-4F0A-EE1AC3259055}"/>
              </a:ext>
            </a:extLst>
          </p:cNvPr>
          <p:cNvSpPr txBox="1"/>
          <p:nvPr/>
        </p:nvSpPr>
        <p:spPr>
          <a:xfrm>
            <a:off x="1504722" y="1239189"/>
            <a:ext cx="4468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kumimoji="1" lang="en-US" altLang="zh-CN" sz="2400" dirty="0"/>
              <a:t>2.2</a:t>
            </a:r>
            <a:r>
              <a:rPr kumimoji="1" lang="zh-CN" altLang="en-US" sz="2400" dirty="0"/>
              <a:t> </a:t>
            </a:r>
            <a:r>
              <a:rPr kumimoji="1" lang="en" altLang="zh-CN" sz="2400" dirty="0"/>
              <a:t>GPU </a:t>
            </a:r>
            <a:r>
              <a:rPr kumimoji="1" lang="en-US" altLang="zh-CN" sz="2400" dirty="0"/>
              <a:t>K-Means</a:t>
            </a:r>
            <a:r>
              <a:rPr kumimoji="1" lang="en" altLang="zh-CN" sz="2400" dirty="0"/>
              <a:t> </a:t>
            </a:r>
            <a:r>
              <a:rPr kumimoji="1" lang="zh-CN" altLang="en-US" sz="2400" dirty="0"/>
              <a:t>算子移植</a:t>
            </a:r>
            <a:endParaRPr lang="zh-CN" altLang="en-US" sz="2400" dirty="0">
              <a:solidFill>
                <a:srgbClr val="001D35"/>
              </a:solidFill>
              <a:latin typeface="Arial" panose="020B06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850981B-9AF1-35BB-6D4D-1C88798E5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259" y="2887158"/>
            <a:ext cx="3157203" cy="359828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95B92E1-E3A6-A2D6-6834-463802AA3D15}"/>
              </a:ext>
            </a:extLst>
          </p:cNvPr>
          <p:cNvSpPr txBox="1"/>
          <p:nvPr/>
        </p:nvSpPr>
        <p:spPr>
          <a:xfrm>
            <a:off x="1145600" y="2084820"/>
            <a:ext cx="4548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1F2328"/>
                </a:solidFill>
                <a:effectLst/>
              </a:rPr>
              <a:t>图</a:t>
            </a:r>
            <a:r>
              <a:rPr lang="en-US" altLang="zh-CN" sz="1600" dirty="0">
                <a:solidFill>
                  <a:srgbClr val="1F2328"/>
                </a:solidFill>
                <a:effectLst/>
              </a:rPr>
              <a:t>1.</a:t>
            </a:r>
            <a:r>
              <a:rPr lang="zh-CN" altLang="en-US" sz="1600" dirty="0">
                <a:solidFill>
                  <a:srgbClr val="1F2328"/>
                </a:solidFill>
                <a:effectLst/>
              </a:rPr>
              <a:t> </a:t>
            </a:r>
            <a:r>
              <a:rPr lang="zh-CN" altLang="en-US" sz="1600" dirty="0">
                <a:solidFill>
                  <a:srgbClr val="1F2328"/>
                </a:solidFill>
              </a:rPr>
              <a:t>典型中心更新流程</a:t>
            </a:r>
            <a:r>
              <a:rPr lang="zh-CN" altLang="en-US" sz="1600" dirty="0">
                <a:solidFill>
                  <a:srgbClr val="1F2328"/>
                </a:solidFill>
                <a:effectLst/>
              </a:rPr>
              <a:t>（</a:t>
            </a:r>
            <a:r>
              <a:rPr lang="en" altLang="zh-CN" sz="1600" kern="1200" dirty="0" err="1">
                <a:solidFill>
                  <a:srgbClr val="1F2328"/>
                </a:solidFill>
                <a:effectLst/>
                <a:latin typeface="+mn-lt"/>
                <a:ea typeface="+mn-ea"/>
                <a:cs typeface="+mn-cs"/>
              </a:rPr>
              <a:t>fast_pytorch_kmeans</a:t>
            </a:r>
            <a:r>
              <a:rPr lang="zh-CN" altLang="en-US" sz="1600" kern="1200" dirty="0">
                <a:solidFill>
                  <a:srgbClr val="1F2328"/>
                </a:solidFill>
                <a:effectLst/>
                <a:latin typeface="+mn-lt"/>
                <a:ea typeface="+mn-ea"/>
                <a:cs typeface="+mn-cs"/>
              </a:rPr>
              <a:t> 等</a:t>
            </a:r>
            <a:r>
              <a:rPr lang="zh-CN" altLang="en-US" sz="1600" dirty="0">
                <a:solidFill>
                  <a:srgbClr val="1F2328"/>
                </a:solidFill>
                <a:effectLst/>
              </a:rPr>
              <a:t>）</a:t>
            </a:r>
            <a:endParaRPr lang="en" altLang="zh-CN" sz="1600" dirty="0">
              <a:effectLst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736E779-1AD8-E595-30EF-F1F240599ADB}"/>
              </a:ext>
            </a:extLst>
          </p:cNvPr>
          <p:cNvSpPr txBox="1"/>
          <p:nvPr/>
        </p:nvSpPr>
        <p:spPr>
          <a:xfrm>
            <a:off x="8434293" y="1918225"/>
            <a:ext cx="3169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/>
              <a:t>图</a:t>
            </a:r>
            <a:r>
              <a:rPr kumimoji="1" lang="en-US" altLang="zh-CN" sz="1600" dirty="0"/>
              <a:t>2.</a:t>
            </a:r>
            <a:r>
              <a:rPr kumimoji="1" lang="zh-CN" altLang="en-US" sz="1600" dirty="0"/>
              <a:t> </a:t>
            </a:r>
            <a:r>
              <a:rPr kumimoji="1" lang="en-US" altLang="zh-CN" sz="1600" dirty="0">
                <a:highlight>
                  <a:srgbClr val="FFFF00"/>
                </a:highlight>
              </a:rPr>
              <a:t>Flash</a:t>
            </a:r>
            <a:r>
              <a:rPr kumimoji="1" lang="zh-CN" altLang="en-US" sz="1600" dirty="0">
                <a:highlight>
                  <a:srgbClr val="FFFF00"/>
                </a:highlight>
              </a:rPr>
              <a:t> </a:t>
            </a:r>
            <a:r>
              <a:rPr kumimoji="1" lang="en-US" altLang="zh-CN" sz="1600" dirty="0">
                <a:highlight>
                  <a:srgbClr val="FFFF00"/>
                </a:highlight>
              </a:rPr>
              <a:t>K-Means</a:t>
            </a:r>
            <a:r>
              <a:rPr kumimoji="1" lang="zh-CN" altLang="en-US" sz="1600" dirty="0">
                <a:highlight>
                  <a:srgbClr val="FFFF00"/>
                </a:highlight>
              </a:rPr>
              <a:t> 中心更新流程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CA90821-3000-E047-2D6B-3DCA23019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46" y="3166618"/>
            <a:ext cx="2868259" cy="322679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59783256-4DF4-6DD2-2837-24C66CDC9E6D}"/>
              </a:ext>
            </a:extLst>
          </p:cNvPr>
          <p:cNvSpPr txBox="1"/>
          <p:nvPr/>
        </p:nvSpPr>
        <p:spPr>
          <a:xfrm>
            <a:off x="681534" y="2643398"/>
            <a:ext cx="2421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方案</a:t>
            </a:r>
            <a:r>
              <a:rPr kumimoji="1" lang="en-US" altLang="zh-CN" sz="1400" dirty="0"/>
              <a:t>1.</a:t>
            </a:r>
            <a:r>
              <a:rPr lang="zh-CN" altLang="en-US" sz="1400" dirty="0">
                <a:solidFill>
                  <a:srgbClr val="1F2328"/>
                </a:solidFill>
                <a:effectLst/>
              </a:rPr>
              <a:t>所有样本 </a:t>
            </a:r>
            <a:r>
              <a:rPr lang="en" altLang="zh-CN" sz="1400" b="1" dirty="0">
                <a:solidFill>
                  <a:srgbClr val="FF0000"/>
                </a:solidFill>
                <a:effectLst/>
              </a:rPr>
              <a:t>Atomic Add</a:t>
            </a:r>
            <a:r>
              <a:rPr lang="zh-CN" altLang="en-US" sz="1400" b="1" dirty="0">
                <a:solidFill>
                  <a:srgbClr val="FF0000"/>
                </a:solidFill>
                <a:effectLst/>
              </a:rPr>
              <a:t> </a:t>
            </a:r>
            <a:r>
              <a:rPr lang="zh-CN" altLang="en-US" sz="1400" dirty="0">
                <a:solidFill>
                  <a:srgbClr val="1F2328"/>
                </a:solidFill>
                <a:effectLst/>
              </a:rPr>
              <a:t>至对应中心数组</a:t>
            </a:r>
            <a:endParaRPr lang="en-US" altLang="zh-CN" sz="1400" dirty="0">
              <a:solidFill>
                <a:srgbClr val="1F2328"/>
              </a:solidFill>
              <a:effectLst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A87D53-DE40-ECCD-3AE6-7FFEF57A1F20}"/>
              </a:ext>
            </a:extLst>
          </p:cNvPr>
          <p:cNvSpPr txBox="1"/>
          <p:nvPr/>
        </p:nvSpPr>
        <p:spPr>
          <a:xfrm>
            <a:off x="3916447" y="2647173"/>
            <a:ext cx="24214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方案</a:t>
            </a:r>
            <a:r>
              <a:rPr kumimoji="1" lang="en-US" altLang="zh-CN" sz="1400" dirty="0"/>
              <a:t>2.</a:t>
            </a:r>
            <a:r>
              <a:rPr kumimoji="1" lang="zh-CN" altLang="en-US" sz="1400" dirty="0"/>
              <a:t> </a:t>
            </a:r>
            <a:r>
              <a:rPr lang="zh-CN" altLang="en-US" sz="1400" dirty="0">
                <a:solidFill>
                  <a:srgbClr val="1F2328"/>
                </a:solidFill>
                <a:effectLst/>
              </a:rPr>
              <a:t>构造一个</a:t>
            </a:r>
            <a:r>
              <a:rPr lang="zh-CN" altLang="en-US" sz="1400" b="1" dirty="0">
                <a:solidFill>
                  <a:srgbClr val="FF0000"/>
                </a:solidFill>
                <a:effectLst/>
              </a:rPr>
              <a:t>显存占用巨大的</a:t>
            </a:r>
            <a:r>
              <a:rPr lang="en" altLang="zh-CN" sz="1400" b="1" dirty="0">
                <a:solidFill>
                  <a:srgbClr val="FF0000"/>
                </a:solidFill>
                <a:effectLst/>
              </a:rPr>
              <a:t>Mask</a:t>
            </a:r>
            <a:r>
              <a:rPr lang="zh-CN" altLang="en-US" sz="1400" b="1" dirty="0">
                <a:solidFill>
                  <a:srgbClr val="FF0000"/>
                </a:solidFill>
                <a:effectLst/>
              </a:rPr>
              <a:t>矩阵</a:t>
            </a:r>
            <a:r>
              <a:rPr lang="zh-CN" altLang="en-US" sz="1400" dirty="0">
                <a:solidFill>
                  <a:srgbClr val="1F2328"/>
                </a:solidFill>
                <a:effectLst/>
              </a:rPr>
              <a:t>，利用</a:t>
            </a:r>
            <a:r>
              <a:rPr lang="en" altLang="zh-CN" sz="1400" dirty="0">
                <a:solidFill>
                  <a:srgbClr val="1F2328"/>
                </a:solidFill>
                <a:effectLst/>
              </a:rPr>
              <a:t>GEMM</a:t>
            </a:r>
            <a:r>
              <a:rPr lang="zh-CN" altLang="en-US" sz="1400" dirty="0">
                <a:solidFill>
                  <a:srgbClr val="1F2328"/>
                </a:solidFill>
                <a:effectLst/>
              </a:rPr>
              <a:t>矩阵乘完成各簇的样本累加</a:t>
            </a:r>
            <a:endParaRPr lang="en-US" altLang="zh-CN" sz="1400" dirty="0">
              <a:solidFill>
                <a:srgbClr val="1F2328"/>
              </a:solidFill>
              <a:effectLst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055E71-AC5C-E04C-0A6D-9E10E63F5D47}"/>
              </a:ext>
            </a:extLst>
          </p:cNvPr>
          <p:cNvSpPr/>
          <p:nvPr/>
        </p:nvSpPr>
        <p:spPr>
          <a:xfrm>
            <a:off x="9805885" y="5506065"/>
            <a:ext cx="223017" cy="341671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" name="肘形连接符 23">
            <a:extLst>
              <a:ext uri="{FF2B5EF4-FFF2-40B4-BE49-F238E27FC236}">
                <a16:creationId xmlns:a16="http://schemas.microsoft.com/office/drawing/2014/main" id="{319D51EF-6D19-A3AF-8570-19427478F998}"/>
              </a:ext>
            </a:extLst>
          </p:cNvPr>
          <p:cNvCxnSpPr>
            <a:cxnSpLocks/>
            <a:stCxn id="34" idx="3"/>
            <a:endCxn id="31" idx="1"/>
          </p:cNvCxnSpPr>
          <p:nvPr/>
        </p:nvCxnSpPr>
        <p:spPr>
          <a:xfrm flipV="1">
            <a:off x="9958971" y="4998897"/>
            <a:ext cx="802472" cy="925391"/>
          </a:xfrm>
          <a:prstGeom prst="bentConnector3">
            <a:avLst>
              <a:gd name="adj1" fmla="val 848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A0D655D9-7B62-5D8A-302A-F0D5E04E316B}"/>
              </a:ext>
            </a:extLst>
          </p:cNvPr>
          <p:cNvSpPr/>
          <p:nvPr/>
        </p:nvSpPr>
        <p:spPr>
          <a:xfrm>
            <a:off x="10761443" y="4976037"/>
            <a:ext cx="111509" cy="45719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7758D61-C285-B951-4C00-30B87CF989AA}"/>
              </a:ext>
            </a:extLst>
          </p:cNvPr>
          <p:cNvSpPr/>
          <p:nvPr/>
        </p:nvSpPr>
        <p:spPr>
          <a:xfrm>
            <a:off x="9847462" y="5901428"/>
            <a:ext cx="111509" cy="45719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104F4765-5CD9-4057-3864-BB770E885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764" y="4363819"/>
            <a:ext cx="3848245" cy="1484602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A4042F5F-9CBF-B3EF-94C4-34188A242017}"/>
              </a:ext>
            </a:extLst>
          </p:cNvPr>
          <p:cNvSpPr/>
          <p:nvPr/>
        </p:nvSpPr>
        <p:spPr>
          <a:xfrm>
            <a:off x="4404430" y="4147179"/>
            <a:ext cx="1496255" cy="1891226"/>
          </a:xfrm>
          <a:custGeom>
            <a:avLst/>
            <a:gdLst>
              <a:gd name="connsiteX0" fmla="*/ 0 w 1496255"/>
              <a:gd name="connsiteY0" fmla="*/ 0 h 1891226"/>
              <a:gd name="connsiteX1" fmla="*/ 498752 w 1496255"/>
              <a:gd name="connsiteY1" fmla="*/ 0 h 1891226"/>
              <a:gd name="connsiteX2" fmla="*/ 982541 w 1496255"/>
              <a:gd name="connsiteY2" fmla="*/ 0 h 1891226"/>
              <a:gd name="connsiteX3" fmla="*/ 1496255 w 1496255"/>
              <a:gd name="connsiteY3" fmla="*/ 0 h 1891226"/>
              <a:gd name="connsiteX4" fmla="*/ 1496255 w 1496255"/>
              <a:gd name="connsiteY4" fmla="*/ 668233 h 1891226"/>
              <a:gd name="connsiteX5" fmla="*/ 1496255 w 1496255"/>
              <a:gd name="connsiteY5" fmla="*/ 1241905 h 1891226"/>
              <a:gd name="connsiteX6" fmla="*/ 1496255 w 1496255"/>
              <a:gd name="connsiteY6" fmla="*/ 1891226 h 1891226"/>
              <a:gd name="connsiteX7" fmla="*/ 997503 w 1496255"/>
              <a:gd name="connsiteY7" fmla="*/ 1891226 h 1891226"/>
              <a:gd name="connsiteX8" fmla="*/ 528677 w 1496255"/>
              <a:gd name="connsiteY8" fmla="*/ 1891226 h 1891226"/>
              <a:gd name="connsiteX9" fmla="*/ 0 w 1496255"/>
              <a:gd name="connsiteY9" fmla="*/ 1891226 h 1891226"/>
              <a:gd name="connsiteX10" fmla="*/ 0 w 1496255"/>
              <a:gd name="connsiteY10" fmla="*/ 1241905 h 1891226"/>
              <a:gd name="connsiteX11" fmla="*/ 0 w 1496255"/>
              <a:gd name="connsiteY11" fmla="*/ 573672 h 1891226"/>
              <a:gd name="connsiteX12" fmla="*/ 0 w 1496255"/>
              <a:gd name="connsiteY12" fmla="*/ 0 h 189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96255" h="1891226" extrusionOk="0">
                <a:moveTo>
                  <a:pt x="0" y="0"/>
                </a:moveTo>
                <a:cubicBezTo>
                  <a:pt x="208437" y="12016"/>
                  <a:pt x="370441" y="-12996"/>
                  <a:pt x="498752" y="0"/>
                </a:cubicBezTo>
                <a:cubicBezTo>
                  <a:pt x="627063" y="12996"/>
                  <a:pt x="866608" y="966"/>
                  <a:pt x="982541" y="0"/>
                </a:cubicBezTo>
                <a:cubicBezTo>
                  <a:pt x="1098474" y="-966"/>
                  <a:pt x="1303610" y="20099"/>
                  <a:pt x="1496255" y="0"/>
                </a:cubicBezTo>
                <a:cubicBezTo>
                  <a:pt x="1469784" y="252398"/>
                  <a:pt x="1483117" y="440723"/>
                  <a:pt x="1496255" y="668233"/>
                </a:cubicBezTo>
                <a:cubicBezTo>
                  <a:pt x="1509393" y="895743"/>
                  <a:pt x="1475352" y="996076"/>
                  <a:pt x="1496255" y="1241905"/>
                </a:cubicBezTo>
                <a:cubicBezTo>
                  <a:pt x="1517158" y="1487734"/>
                  <a:pt x="1520505" y="1635165"/>
                  <a:pt x="1496255" y="1891226"/>
                </a:cubicBezTo>
                <a:cubicBezTo>
                  <a:pt x="1296349" y="1899997"/>
                  <a:pt x="1135475" y="1913385"/>
                  <a:pt x="997503" y="1891226"/>
                </a:cubicBezTo>
                <a:cubicBezTo>
                  <a:pt x="859531" y="1869067"/>
                  <a:pt x="703938" y="1886416"/>
                  <a:pt x="528677" y="1891226"/>
                </a:cubicBezTo>
                <a:cubicBezTo>
                  <a:pt x="353416" y="1896036"/>
                  <a:pt x="109447" y="1881610"/>
                  <a:pt x="0" y="1891226"/>
                </a:cubicBezTo>
                <a:cubicBezTo>
                  <a:pt x="21149" y="1747784"/>
                  <a:pt x="-16381" y="1550728"/>
                  <a:pt x="0" y="1241905"/>
                </a:cubicBezTo>
                <a:cubicBezTo>
                  <a:pt x="16381" y="933082"/>
                  <a:pt x="-6671" y="729568"/>
                  <a:pt x="0" y="573672"/>
                </a:cubicBezTo>
                <a:cubicBezTo>
                  <a:pt x="6671" y="417776"/>
                  <a:pt x="1461" y="118904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6174996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6B97B3D-16AC-3807-2E11-8D7867A0F185}"/>
              </a:ext>
            </a:extLst>
          </p:cNvPr>
          <p:cNvSpPr txBox="1"/>
          <p:nvPr/>
        </p:nvSpPr>
        <p:spPr>
          <a:xfrm>
            <a:off x="3749917" y="3641299"/>
            <a:ext cx="279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chemeClr val="accent1"/>
                </a:solidFill>
              </a:rPr>
              <a:t>Mask</a:t>
            </a:r>
            <a:r>
              <a:rPr kumimoji="1" lang="zh-CN" altLang="en-US" sz="1200" dirty="0">
                <a:solidFill>
                  <a:schemeClr val="accent1"/>
                </a:solidFill>
              </a:rPr>
              <a:t>矩阵，每个样本对应矩阵中一行</a:t>
            </a:r>
            <a:r>
              <a:rPr kumimoji="1" lang="en-US" altLang="zh-CN" sz="1200" dirty="0">
                <a:solidFill>
                  <a:schemeClr val="accent1"/>
                </a:solidFill>
              </a:rPr>
              <a:t>Mask</a:t>
            </a:r>
            <a:r>
              <a:rPr kumimoji="1" lang="zh-CN" altLang="en-US" sz="1200" dirty="0">
                <a:solidFill>
                  <a:schemeClr val="accent1"/>
                </a:solidFill>
              </a:rPr>
              <a:t>向量，用于标记该行属于哪个簇</a:t>
            </a:r>
            <a:endParaRPr lang="en-US" altLang="zh-CN" sz="1200" dirty="0">
              <a:solidFill>
                <a:schemeClr val="accent1"/>
              </a:solidFill>
              <a:effectLst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7E3A306-288A-44C7-BCE0-C72A9C132CC1}"/>
              </a:ext>
            </a:extLst>
          </p:cNvPr>
          <p:cNvSpPr/>
          <p:nvPr/>
        </p:nvSpPr>
        <p:spPr>
          <a:xfrm>
            <a:off x="8242977" y="2795073"/>
            <a:ext cx="1451400" cy="3802372"/>
          </a:xfrm>
          <a:custGeom>
            <a:avLst/>
            <a:gdLst>
              <a:gd name="connsiteX0" fmla="*/ 0 w 1451400"/>
              <a:gd name="connsiteY0" fmla="*/ 0 h 3802372"/>
              <a:gd name="connsiteX1" fmla="*/ 483800 w 1451400"/>
              <a:gd name="connsiteY1" fmla="*/ 0 h 3802372"/>
              <a:gd name="connsiteX2" fmla="*/ 953086 w 1451400"/>
              <a:gd name="connsiteY2" fmla="*/ 0 h 3802372"/>
              <a:gd name="connsiteX3" fmla="*/ 1451400 w 1451400"/>
              <a:gd name="connsiteY3" fmla="*/ 0 h 3802372"/>
              <a:gd name="connsiteX4" fmla="*/ 1451400 w 1451400"/>
              <a:gd name="connsiteY4" fmla="*/ 709776 h 3802372"/>
              <a:gd name="connsiteX5" fmla="*/ 1451400 w 1451400"/>
              <a:gd name="connsiteY5" fmla="*/ 1229434 h 3802372"/>
              <a:gd name="connsiteX6" fmla="*/ 1451400 w 1451400"/>
              <a:gd name="connsiteY6" fmla="*/ 1749091 h 3802372"/>
              <a:gd name="connsiteX7" fmla="*/ 1451400 w 1451400"/>
              <a:gd name="connsiteY7" fmla="*/ 2382820 h 3802372"/>
              <a:gd name="connsiteX8" fmla="*/ 1451400 w 1451400"/>
              <a:gd name="connsiteY8" fmla="*/ 2902477 h 3802372"/>
              <a:gd name="connsiteX9" fmla="*/ 1451400 w 1451400"/>
              <a:gd name="connsiteY9" fmla="*/ 3802372 h 3802372"/>
              <a:gd name="connsiteX10" fmla="*/ 1011142 w 1451400"/>
              <a:gd name="connsiteY10" fmla="*/ 3802372 h 3802372"/>
              <a:gd name="connsiteX11" fmla="*/ 498314 w 1451400"/>
              <a:gd name="connsiteY11" fmla="*/ 3802372 h 3802372"/>
              <a:gd name="connsiteX12" fmla="*/ 0 w 1451400"/>
              <a:gd name="connsiteY12" fmla="*/ 3802372 h 3802372"/>
              <a:gd name="connsiteX13" fmla="*/ 0 w 1451400"/>
              <a:gd name="connsiteY13" fmla="*/ 3168643 h 3802372"/>
              <a:gd name="connsiteX14" fmla="*/ 0 w 1451400"/>
              <a:gd name="connsiteY14" fmla="*/ 2496891 h 3802372"/>
              <a:gd name="connsiteX15" fmla="*/ 0 w 1451400"/>
              <a:gd name="connsiteY15" fmla="*/ 1863162 h 3802372"/>
              <a:gd name="connsiteX16" fmla="*/ 0 w 1451400"/>
              <a:gd name="connsiteY16" fmla="*/ 1153386 h 3802372"/>
              <a:gd name="connsiteX17" fmla="*/ 0 w 1451400"/>
              <a:gd name="connsiteY17" fmla="*/ 595705 h 3802372"/>
              <a:gd name="connsiteX18" fmla="*/ 0 w 1451400"/>
              <a:gd name="connsiteY18" fmla="*/ 0 h 380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51400" h="3802372" extrusionOk="0">
                <a:moveTo>
                  <a:pt x="0" y="0"/>
                </a:moveTo>
                <a:cubicBezTo>
                  <a:pt x="237631" y="21024"/>
                  <a:pt x="325557" y="-20219"/>
                  <a:pt x="483800" y="0"/>
                </a:cubicBezTo>
                <a:cubicBezTo>
                  <a:pt x="642043" y="20219"/>
                  <a:pt x="807762" y="412"/>
                  <a:pt x="953086" y="0"/>
                </a:cubicBezTo>
                <a:cubicBezTo>
                  <a:pt x="1098410" y="-412"/>
                  <a:pt x="1291901" y="3026"/>
                  <a:pt x="1451400" y="0"/>
                </a:cubicBezTo>
                <a:cubicBezTo>
                  <a:pt x="1431493" y="336297"/>
                  <a:pt x="1432562" y="363129"/>
                  <a:pt x="1451400" y="709776"/>
                </a:cubicBezTo>
                <a:cubicBezTo>
                  <a:pt x="1470238" y="1056423"/>
                  <a:pt x="1426181" y="983956"/>
                  <a:pt x="1451400" y="1229434"/>
                </a:cubicBezTo>
                <a:cubicBezTo>
                  <a:pt x="1476619" y="1474912"/>
                  <a:pt x="1462462" y="1638481"/>
                  <a:pt x="1451400" y="1749091"/>
                </a:cubicBezTo>
                <a:cubicBezTo>
                  <a:pt x="1440338" y="1859701"/>
                  <a:pt x="1435428" y="2250481"/>
                  <a:pt x="1451400" y="2382820"/>
                </a:cubicBezTo>
                <a:cubicBezTo>
                  <a:pt x="1467372" y="2515159"/>
                  <a:pt x="1459079" y="2775580"/>
                  <a:pt x="1451400" y="2902477"/>
                </a:cubicBezTo>
                <a:cubicBezTo>
                  <a:pt x="1443721" y="3029374"/>
                  <a:pt x="1490255" y="3458225"/>
                  <a:pt x="1451400" y="3802372"/>
                </a:cubicBezTo>
                <a:cubicBezTo>
                  <a:pt x="1348082" y="3821151"/>
                  <a:pt x="1157818" y="3816277"/>
                  <a:pt x="1011142" y="3802372"/>
                </a:cubicBezTo>
                <a:cubicBezTo>
                  <a:pt x="864466" y="3788467"/>
                  <a:pt x="730918" y="3790396"/>
                  <a:pt x="498314" y="3802372"/>
                </a:cubicBezTo>
                <a:cubicBezTo>
                  <a:pt x="265710" y="3814348"/>
                  <a:pt x="139703" y="3816604"/>
                  <a:pt x="0" y="3802372"/>
                </a:cubicBezTo>
                <a:cubicBezTo>
                  <a:pt x="-24928" y="3667318"/>
                  <a:pt x="-9116" y="3472720"/>
                  <a:pt x="0" y="3168643"/>
                </a:cubicBezTo>
                <a:cubicBezTo>
                  <a:pt x="9116" y="2864566"/>
                  <a:pt x="533" y="2733188"/>
                  <a:pt x="0" y="2496891"/>
                </a:cubicBezTo>
                <a:cubicBezTo>
                  <a:pt x="-533" y="2260594"/>
                  <a:pt x="-21286" y="2064238"/>
                  <a:pt x="0" y="1863162"/>
                </a:cubicBezTo>
                <a:cubicBezTo>
                  <a:pt x="21286" y="1662086"/>
                  <a:pt x="-12323" y="1471778"/>
                  <a:pt x="0" y="1153386"/>
                </a:cubicBezTo>
                <a:cubicBezTo>
                  <a:pt x="12323" y="834994"/>
                  <a:pt x="-424" y="737550"/>
                  <a:pt x="0" y="595705"/>
                </a:cubicBezTo>
                <a:cubicBezTo>
                  <a:pt x="424" y="453860"/>
                  <a:pt x="-14650" y="264042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6174996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2F6D004-D1ED-446B-3E9E-110465D20B19}"/>
              </a:ext>
            </a:extLst>
          </p:cNvPr>
          <p:cNvSpPr txBox="1"/>
          <p:nvPr/>
        </p:nvSpPr>
        <p:spPr>
          <a:xfrm>
            <a:off x="7448205" y="2345482"/>
            <a:ext cx="2246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步骤</a:t>
            </a:r>
            <a:r>
              <a:rPr kumimoji="1" lang="en-US" altLang="zh-CN" sz="1400" dirty="0"/>
              <a:t>1.</a:t>
            </a:r>
            <a:r>
              <a:rPr kumimoji="1" lang="zh-CN" altLang="en-US" sz="1400" dirty="0"/>
              <a:t>排序</a:t>
            </a:r>
            <a:endParaRPr kumimoji="1" lang="en-US" altLang="zh-CN" sz="1400" dirty="0"/>
          </a:p>
          <a:p>
            <a:pPr algn="ctr"/>
            <a:r>
              <a:rPr kumimoji="1" lang="zh-CN" altLang="en-US" sz="1000" dirty="0">
                <a:effectLst/>
              </a:rPr>
              <a:t>（使用基数排序等高性能排序算法）</a:t>
            </a:r>
            <a:endParaRPr lang="en-US" altLang="zh-CN" sz="1000" dirty="0">
              <a:effectLst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0923C51-84F8-A087-7563-773999F7B2BD}"/>
              </a:ext>
            </a:extLst>
          </p:cNvPr>
          <p:cNvSpPr/>
          <p:nvPr/>
        </p:nvSpPr>
        <p:spPr>
          <a:xfrm>
            <a:off x="8571937" y="2937363"/>
            <a:ext cx="581894" cy="24640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66D04B4-5F23-A091-03D4-652FB66577A0}"/>
              </a:ext>
            </a:extLst>
          </p:cNvPr>
          <p:cNvSpPr/>
          <p:nvPr/>
        </p:nvSpPr>
        <p:spPr>
          <a:xfrm>
            <a:off x="581812" y="3196800"/>
            <a:ext cx="499716" cy="24640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EC5E70B-BC3A-B101-DBBE-D0DE3C7978EB}"/>
              </a:ext>
            </a:extLst>
          </p:cNvPr>
          <p:cNvSpPr txBox="1"/>
          <p:nvPr/>
        </p:nvSpPr>
        <p:spPr>
          <a:xfrm>
            <a:off x="8434293" y="2955094"/>
            <a:ext cx="1260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Sample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ID</a:t>
            </a:r>
            <a:endParaRPr kumimoji="1" lang="zh-CN" altLang="en-US" sz="12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D6CB46A-53D6-3276-D69E-90219C8D19FC}"/>
              </a:ext>
            </a:extLst>
          </p:cNvPr>
          <p:cNvSpPr txBox="1"/>
          <p:nvPr/>
        </p:nvSpPr>
        <p:spPr>
          <a:xfrm>
            <a:off x="323787" y="3232093"/>
            <a:ext cx="1260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Sample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ID</a:t>
            </a:r>
            <a:endParaRPr kumimoji="1" lang="zh-CN" altLang="en-US" sz="1200" dirty="0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21CAB626-D82A-87F4-FEA5-1C0446C822AB}"/>
              </a:ext>
            </a:extLst>
          </p:cNvPr>
          <p:cNvSpPr/>
          <p:nvPr/>
        </p:nvSpPr>
        <p:spPr>
          <a:xfrm>
            <a:off x="9863787" y="3060566"/>
            <a:ext cx="455234" cy="108661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A873B87-ADBB-77CB-F48F-34413B1E350F}"/>
              </a:ext>
            </a:extLst>
          </p:cNvPr>
          <p:cNvSpPr txBox="1"/>
          <p:nvPr/>
        </p:nvSpPr>
        <p:spPr>
          <a:xfrm>
            <a:off x="9594174" y="2548198"/>
            <a:ext cx="192471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步骤</a:t>
            </a:r>
            <a:r>
              <a:rPr kumimoji="1" lang="en-US" altLang="zh-CN" sz="1400" dirty="0"/>
              <a:t>2.Block</a:t>
            </a:r>
            <a:r>
              <a:rPr kumimoji="1" lang="zh-CN" altLang="en-US" sz="1400" dirty="0"/>
              <a:t>内聚合</a:t>
            </a:r>
            <a:endParaRPr kumimoji="1" lang="en-US" altLang="zh-CN" sz="1400" dirty="0"/>
          </a:p>
          <a:p>
            <a:pPr algn="ctr"/>
            <a:r>
              <a:rPr kumimoji="1" lang="zh-CN" altLang="en-US" sz="1000" dirty="0">
                <a:effectLst/>
              </a:rPr>
              <a:t>（使用</a:t>
            </a:r>
            <a:r>
              <a:rPr kumimoji="1" lang="en-US" altLang="zh-CN" sz="1000" dirty="0">
                <a:effectLst/>
              </a:rPr>
              <a:t>Reduce</a:t>
            </a:r>
            <a:r>
              <a:rPr kumimoji="1" lang="zh-CN" altLang="en-US" sz="1000" dirty="0">
                <a:effectLst/>
              </a:rPr>
              <a:t>等</a:t>
            </a:r>
            <a:r>
              <a:rPr kumimoji="1" lang="zh-CN" altLang="en-US" sz="1200" b="1" dirty="0">
                <a:solidFill>
                  <a:schemeClr val="accent6"/>
                </a:solidFill>
                <a:effectLst/>
              </a:rPr>
              <a:t>无竞争</a:t>
            </a:r>
            <a:r>
              <a:rPr kumimoji="1" lang="zh-CN" altLang="en-US" sz="1000" dirty="0">
                <a:effectLst/>
              </a:rPr>
              <a:t>算法）</a:t>
            </a:r>
            <a:endParaRPr lang="en-US" altLang="zh-CN" sz="1000" dirty="0">
              <a:effectLst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AD750B2-8D99-D615-A895-1DAE6354BF43}"/>
              </a:ext>
            </a:extLst>
          </p:cNvPr>
          <p:cNvSpPr/>
          <p:nvPr/>
        </p:nvSpPr>
        <p:spPr>
          <a:xfrm>
            <a:off x="10642607" y="3509092"/>
            <a:ext cx="935271" cy="2438055"/>
          </a:xfrm>
          <a:custGeom>
            <a:avLst/>
            <a:gdLst>
              <a:gd name="connsiteX0" fmla="*/ 0 w 935271"/>
              <a:gd name="connsiteY0" fmla="*/ 0 h 2438055"/>
              <a:gd name="connsiteX1" fmla="*/ 467636 w 935271"/>
              <a:gd name="connsiteY1" fmla="*/ 0 h 2438055"/>
              <a:gd name="connsiteX2" fmla="*/ 935271 w 935271"/>
              <a:gd name="connsiteY2" fmla="*/ 0 h 2438055"/>
              <a:gd name="connsiteX3" fmla="*/ 935271 w 935271"/>
              <a:gd name="connsiteY3" fmla="*/ 633894 h 2438055"/>
              <a:gd name="connsiteX4" fmla="*/ 935271 w 935271"/>
              <a:gd name="connsiteY4" fmla="*/ 1267789 h 2438055"/>
              <a:gd name="connsiteX5" fmla="*/ 935271 w 935271"/>
              <a:gd name="connsiteY5" fmla="*/ 1804161 h 2438055"/>
              <a:gd name="connsiteX6" fmla="*/ 935271 w 935271"/>
              <a:gd name="connsiteY6" fmla="*/ 2438055 h 2438055"/>
              <a:gd name="connsiteX7" fmla="*/ 467636 w 935271"/>
              <a:gd name="connsiteY7" fmla="*/ 2438055 h 2438055"/>
              <a:gd name="connsiteX8" fmla="*/ 0 w 935271"/>
              <a:gd name="connsiteY8" fmla="*/ 2438055 h 2438055"/>
              <a:gd name="connsiteX9" fmla="*/ 0 w 935271"/>
              <a:gd name="connsiteY9" fmla="*/ 1828541 h 2438055"/>
              <a:gd name="connsiteX10" fmla="*/ 0 w 935271"/>
              <a:gd name="connsiteY10" fmla="*/ 1267789 h 2438055"/>
              <a:gd name="connsiteX11" fmla="*/ 0 w 935271"/>
              <a:gd name="connsiteY11" fmla="*/ 609514 h 2438055"/>
              <a:gd name="connsiteX12" fmla="*/ 0 w 935271"/>
              <a:gd name="connsiteY12" fmla="*/ 0 h 243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35271" h="2438055" extrusionOk="0">
                <a:moveTo>
                  <a:pt x="0" y="0"/>
                </a:moveTo>
                <a:cubicBezTo>
                  <a:pt x="193406" y="-22353"/>
                  <a:pt x="294659" y="22857"/>
                  <a:pt x="467636" y="0"/>
                </a:cubicBezTo>
                <a:cubicBezTo>
                  <a:pt x="640613" y="-22857"/>
                  <a:pt x="809191" y="21546"/>
                  <a:pt x="935271" y="0"/>
                </a:cubicBezTo>
                <a:cubicBezTo>
                  <a:pt x="909139" y="127606"/>
                  <a:pt x="930523" y="432074"/>
                  <a:pt x="935271" y="633894"/>
                </a:cubicBezTo>
                <a:cubicBezTo>
                  <a:pt x="940019" y="835714"/>
                  <a:pt x="913461" y="1047613"/>
                  <a:pt x="935271" y="1267789"/>
                </a:cubicBezTo>
                <a:cubicBezTo>
                  <a:pt x="957081" y="1487965"/>
                  <a:pt x="934273" y="1646782"/>
                  <a:pt x="935271" y="1804161"/>
                </a:cubicBezTo>
                <a:cubicBezTo>
                  <a:pt x="936269" y="1961540"/>
                  <a:pt x="924952" y="2158745"/>
                  <a:pt x="935271" y="2438055"/>
                </a:cubicBezTo>
                <a:cubicBezTo>
                  <a:pt x="769853" y="2427989"/>
                  <a:pt x="624139" y="2446379"/>
                  <a:pt x="467636" y="2438055"/>
                </a:cubicBezTo>
                <a:cubicBezTo>
                  <a:pt x="311134" y="2429731"/>
                  <a:pt x="201098" y="2435569"/>
                  <a:pt x="0" y="2438055"/>
                </a:cubicBezTo>
                <a:cubicBezTo>
                  <a:pt x="-9141" y="2272577"/>
                  <a:pt x="-19869" y="2105260"/>
                  <a:pt x="0" y="1828541"/>
                </a:cubicBezTo>
                <a:cubicBezTo>
                  <a:pt x="19869" y="1551822"/>
                  <a:pt x="26080" y="1522582"/>
                  <a:pt x="0" y="1267789"/>
                </a:cubicBezTo>
                <a:cubicBezTo>
                  <a:pt x="-26080" y="1012996"/>
                  <a:pt x="-1771" y="779095"/>
                  <a:pt x="0" y="609514"/>
                </a:cubicBezTo>
                <a:cubicBezTo>
                  <a:pt x="1771" y="439933"/>
                  <a:pt x="-6304" y="127968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6174996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4F72D96-F83E-1A8C-36E4-CA9134866BD0}"/>
              </a:ext>
            </a:extLst>
          </p:cNvPr>
          <p:cNvSpPr txBox="1"/>
          <p:nvPr/>
        </p:nvSpPr>
        <p:spPr>
          <a:xfrm>
            <a:off x="10831681" y="3064700"/>
            <a:ext cx="1429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步骤</a:t>
            </a:r>
            <a:r>
              <a:rPr kumimoji="1" lang="en-US" altLang="zh-CN" sz="1400" dirty="0"/>
              <a:t>3.</a:t>
            </a:r>
            <a:r>
              <a:rPr kumimoji="1" lang="zh-CN" altLang="en-US" sz="1400" dirty="0"/>
              <a:t>跨</a:t>
            </a:r>
            <a:r>
              <a:rPr kumimoji="1" lang="en-US" altLang="zh-CN" sz="1400" dirty="0"/>
              <a:t>Block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Atomic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Add</a:t>
            </a:r>
          </a:p>
          <a:p>
            <a:pPr algn="ctr"/>
            <a:r>
              <a:rPr kumimoji="1" lang="zh-CN" altLang="en-US" sz="1000" dirty="0"/>
              <a:t>（</a:t>
            </a:r>
            <a:r>
              <a:rPr kumimoji="1" lang="zh-CN" altLang="en-US" sz="1200" b="1" dirty="0">
                <a:solidFill>
                  <a:schemeClr val="accent6"/>
                </a:solidFill>
              </a:rPr>
              <a:t>低竞争</a:t>
            </a:r>
            <a:r>
              <a:rPr kumimoji="1" lang="zh-CN" altLang="en-US" sz="1000" dirty="0"/>
              <a:t>）</a:t>
            </a:r>
            <a:endParaRPr kumimoji="1" lang="en-US" altLang="zh-CN" sz="1000" dirty="0"/>
          </a:p>
        </p:txBody>
      </p:sp>
    </p:spTree>
    <p:extLst>
      <p:ext uri="{BB962C8B-B14F-4D97-AF65-F5344CB8AC3E}">
        <p14:creationId xmlns:p14="http://schemas.microsoft.com/office/powerpoint/2010/main" val="2716013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A15CD50-28A4-91FA-1C1F-DBC3F0C53493}"/>
              </a:ext>
            </a:extLst>
          </p:cNvPr>
          <p:cNvSpPr txBox="1"/>
          <p:nvPr/>
        </p:nvSpPr>
        <p:spPr>
          <a:xfrm>
            <a:off x="1170017" y="507600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/>
              <a:t>2.</a:t>
            </a:r>
            <a:r>
              <a:rPr lang="zh-CN" altLang="en-US" sz="3200" dirty="0"/>
              <a:t> 索引创建性能优化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AEFE8E-F473-B44E-3153-1E60E5C9B920}"/>
              </a:ext>
            </a:extLst>
          </p:cNvPr>
          <p:cNvSpPr txBox="1"/>
          <p:nvPr/>
        </p:nvSpPr>
        <p:spPr>
          <a:xfrm>
            <a:off x="1504722" y="1239189"/>
            <a:ext cx="4468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kumimoji="1" lang="en-US" altLang="zh-CN" sz="2400" dirty="0"/>
              <a:t>2.2</a:t>
            </a:r>
            <a:r>
              <a:rPr kumimoji="1" lang="zh-CN" altLang="en-US" sz="2400" dirty="0"/>
              <a:t> </a:t>
            </a:r>
            <a:r>
              <a:rPr kumimoji="1" lang="en" altLang="zh-CN" sz="2400" dirty="0"/>
              <a:t>GPU </a:t>
            </a:r>
            <a:r>
              <a:rPr kumimoji="1" lang="en-US" altLang="zh-CN" sz="2400" dirty="0"/>
              <a:t>K-Means</a:t>
            </a:r>
            <a:r>
              <a:rPr kumimoji="1" lang="en" altLang="zh-CN" sz="2400" dirty="0"/>
              <a:t> </a:t>
            </a:r>
            <a:r>
              <a:rPr kumimoji="1" lang="zh-CN" altLang="en-US" sz="2400" dirty="0"/>
              <a:t>算子移植</a:t>
            </a:r>
            <a:endParaRPr lang="zh-CN" altLang="en-US" sz="2400" dirty="0">
              <a:solidFill>
                <a:srgbClr val="001D35"/>
              </a:solidFill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150EFA-E6C8-0F84-A372-71EA2E69AB1A}"/>
              </a:ext>
            </a:extLst>
          </p:cNvPr>
          <p:cNvSpPr txBox="1"/>
          <p:nvPr/>
        </p:nvSpPr>
        <p:spPr>
          <a:xfrm>
            <a:off x="1627736" y="1847668"/>
            <a:ext cx="4468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kumimoji="1" lang="en-US" altLang="zh-CN" sz="2000" dirty="0"/>
              <a:t>2.1.4</a:t>
            </a:r>
            <a:r>
              <a:rPr kumimoji="1" lang="zh-CN" altLang="en-US" sz="2000" dirty="0"/>
              <a:t> 实验结果</a:t>
            </a:r>
            <a:endParaRPr lang="zh-CN" altLang="en-US" sz="2000" dirty="0">
              <a:solidFill>
                <a:srgbClr val="001D35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661027-574B-7D10-4812-6958483DFB3E}"/>
              </a:ext>
            </a:extLst>
          </p:cNvPr>
          <p:cNvSpPr txBox="1"/>
          <p:nvPr/>
        </p:nvSpPr>
        <p:spPr>
          <a:xfrm>
            <a:off x="1828799" y="2394592"/>
            <a:ext cx="10176387" cy="2363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" dirty="0"/>
              <a:t>数据集</a:t>
            </a:r>
            <a:r>
              <a:rPr lang="zh-CN" altLang="en-US" dirty="0"/>
              <a:t>：</a:t>
            </a:r>
            <a:r>
              <a:rPr lang="en" altLang="zh-CN" dirty="0"/>
              <a:t>1536D50K</a:t>
            </a:r>
            <a:r>
              <a:rPr lang="zh-CN" altLang="en-US" dirty="0"/>
              <a:t>，</a:t>
            </a:r>
            <a:r>
              <a:rPr lang="en-US" altLang="zh-CN" dirty="0"/>
              <a:t>1536</a:t>
            </a:r>
            <a:r>
              <a:rPr lang="en" altLang="zh-CN" dirty="0"/>
              <a:t>D500K</a:t>
            </a:r>
            <a:r>
              <a:rPr lang="zh-CN" altLang="en-US" dirty="0"/>
              <a:t>，</a:t>
            </a:r>
            <a:r>
              <a:rPr lang="en-US" altLang="zh-CN" dirty="0"/>
              <a:t>768</a:t>
            </a:r>
            <a:r>
              <a:rPr lang="en" altLang="zh-CN" dirty="0"/>
              <a:t>D1M</a:t>
            </a:r>
          </a:p>
          <a:p>
            <a:pPr>
              <a:lnSpc>
                <a:spcPct val="150000"/>
              </a:lnSpc>
            </a:pPr>
            <a:r>
              <a:rPr lang="zh-CN" altLang="en" dirty="0"/>
              <a:t>中心</a:t>
            </a:r>
            <a:r>
              <a:rPr lang="zh-CN" altLang="en-US" dirty="0"/>
              <a:t>数：</a:t>
            </a:r>
            <a:r>
              <a:rPr lang="zh-CN" altLang="en-US" sz="1800" dirty="0">
                <a:effectLst/>
              </a:rPr>
              <a:t> </a:t>
            </a:r>
            <a:r>
              <a:rPr lang="en-US" altLang="zh-CN" sz="1800" dirty="0">
                <a:effectLst/>
              </a:rPr>
              <a:t>0.25</a:t>
            </a:r>
            <a:r>
              <a:rPr lang="zh-CN" alt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r>
              <a:rPr lang="en" altLang="zh-CN" sz="1800" dirty="0"/>
              <a:t>N</a:t>
            </a:r>
            <a:r>
              <a:rPr lang="zh-CN" altLang="en-US" sz="1800" dirty="0"/>
              <a:t>，</a:t>
            </a:r>
            <a:r>
              <a:rPr lang="en-US" altLang="zh-CN" sz="1800" dirty="0">
                <a:effectLst/>
              </a:rPr>
              <a:t>0.5</a:t>
            </a:r>
            <a:r>
              <a:rPr lang="zh-CN" alt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r>
              <a:rPr lang="en" altLang="zh-CN" sz="1800" dirty="0"/>
              <a:t>N</a:t>
            </a:r>
            <a:r>
              <a:rPr lang="zh-CN" altLang="en-US" sz="1800" dirty="0"/>
              <a:t>，</a:t>
            </a:r>
            <a:r>
              <a:rPr lang="zh-CN" alt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r>
              <a:rPr lang="en" altLang="zh-CN" sz="1800" dirty="0"/>
              <a:t>N</a:t>
            </a:r>
            <a:r>
              <a:rPr lang="zh-CN" altLang="en-US" sz="1800" dirty="0"/>
              <a:t>，</a:t>
            </a:r>
            <a:r>
              <a:rPr lang="en-US" altLang="zh-CN" sz="1800" dirty="0">
                <a:effectLst/>
              </a:rPr>
              <a:t>2</a:t>
            </a:r>
            <a:r>
              <a:rPr lang="zh-CN" alt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r>
              <a:rPr lang="en" altLang="zh-CN" sz="1800" dirty="0"/>
              <a:t>N</a:t>
            </a:r>
            <a:r>
              <a:rPr lang="zh-CN" altLang="en-US" sz="1800" dirty="0"/>
              <a:t>，</a:t>
            </a:r>
            <a:r>
              <a:rPr lang="en-US" altLang="zh-CN" sz="1800" dirty="0"/>
              <a:t>4</a:t>
            </a:r>
            <a:r>
              <a:rPr lang="zh-CN" alt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r>
              <a:rPr lang="en" altLang="zh-CN" sz="1800" dirty="0"/>
              <a:t>N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sz="1400" dirty="0"/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结果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小数据集：受冷启动及数据传输开销制约，索引创建加速比低（在 </a:t>
            </a:r>
            <a:r>
              <a:rPr lang="en-US" altLang="zh-CN" sz="1600" dirty="0"/>
              <a:t>&lt;1536</a:t>
            </a:r>
            <a:r>
              <a:rPr lang="en" altLang="zh-CN" sz="1600" dirty="0"/>
              <a:t>D, 50K&gt; </a:t>
            </a:r>
            <a:r>
              <a:rPr lang="zh-CN" altLang="en-US" sz="1600" dirty="0"/>
              <a:t>规模下仅 </a:t>
            </a:r>
            <a:r>
              <a:rPr lang="en-US" altLang="zh-CN" sz="1600" dirty="0"/>
              <a:t>0.6</a:t>
            </a:r>
            <a:r>
              <a:rPr lang="en" altLang="zh-CN" sz="1600" dirty="0"/>
              <a:t>x </a:t>
            </a:r>
            <a:r>
              <a:rPr lang="zh-CN" altLang="en-US" sz="1600" dirty="0"/>
              <a:t>）</a:t>
            </a:r>
            <a:r>
              <a:rPr lang="zh-CN" altLang="en" sz="1600" dirty="0"/>
              <a:t>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大数据集：并行计算收益超过启动开销，索引创建加速比提升（在 </a:t>
            </a:r>
            <a:r>
              <a:rPr lang="en-US" altLang="zh-CN" sz="1600" dirty="0"/>
              <a:t>&lt;1536</a:t>
            </a:r>
            <a:r>
              <a:rPr lang="en" altLang="zh-CN" sz="1600" dirty="0"/>
              <a:t>D, 500K&gt; </a:t>
            </a:r>
            <a:r>
              <a:rPr lang="zh-CN" altLang="en-US" sz="1600" dirty="0"/>
              <a:t>规模下加速比可达 </a:t>
            </a:r>
            <a:r>
              <a:rPr lang="en-US" altLang="zh-CN" sz="1600" dirty="0"/>
              <a:t>2.1</a:t>
            </a:r>
            <a:r>
              <a:rPr lang="en" altLang="zh-CN" sz="1600" dirty="0"/>
              <a:t>x</a:t>
            </a:r>
            <a:r>
              <a:rPr lang="zh-CN" altLang="en-US" sz="1600" dirty="0"/>
              <a:t> ）</a:t>
            </a:r>
            <a:r>
              <a:rPr lang="zh-CN" altLang="en" sz="1600" dirty="0"/>
              <a:t>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3C7DB1-73B5-0B47-C953-B97149563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22" y="4757739"/>
            <a:ext cx="9698088" cy="183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922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A15CD50-28A4-91FA-1C1F-DBC3F0C53493}"/>
              </a:ext>
            </a:extLst>
          </p:cNvPr>
          <p:cNvSpPr txBox="1"/>
          <p:nvPr/>
        </p:nvSpPr>
        <p:spPr>
          <a:xfrm>
            <a:off x="1170017" y="507600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/>
              <a:t>3.</a:t>
            </a:r>
            <a:r>
              <a:rPr kumimoji="1" lang="zh-CN" altLang="en-US" sz="3200" dirty="0"/>
              <a:t>向量检索性能优化</a:t>
            </a:r>
            <a:endParaRPr kumimoji="1" lang="en-US" altLang="zh-CN" sz="3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AEFE8E-F473-B44E-3153-1E60E5C9B920}"/>
              </a:ext>
            </a:extLst>
          </p:cNvPr>
          <p:cNvSpPr txBox="1"/>
          <p:nvPr/>
        </p:nvSpPr>
        <p:spPr>
          <a:xfrm>
            <a:off x="1504722" y="1239189"/>
            <a:ext cx="4468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3.1</a:t>
            </a:r>
            <a:r>
              <a:rPr kumimoji="1" lang="zh-CN" altLang="en-US" sz="2400" dirty="0"/>
              <a:t> </a:t>
            </a:r>
            <a:r>
              <a:rPr lang="en" altLang="zh-CN" sz="2400" dirty="0">
                <a:effectLst/>
              </a:rPr>
              <a:t>IVF</a:t>
            </a:r>
            <a:r>
              <a:rPr lang="zh-CN" altLang="en-US" sz="2400" dirty="0">
                <a:effectLst/>
              </a:rPr>
              <a:t> 存储访问优化</a:t>
            </a:r>
            <a:endParaRPr lang="en-US" altLang="zh-CN" sz="2400" dirty="0">
              <a:effectLst/>
            </a:endParaRPr>
          </a:p>
          <a:p>
            <a:pPr marL="0" marR="0"/>
            <a:endParaRPr lang="zh-CN" altLang="en-US" sz="2400" dirty="0">
              <a:solidFill>
                <a:srgbClr val="001D35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87374D-3A00-2425-9F4F-3C6F1BCB0B85}"/>
              </a:ext>
            </a:extLst>
          </p:cNvPr>
          <p:cNvSpPr txBox="1"/>
          <p:nvPr/>
        </p:nvSpPr>
        <p:spPr>
          <a:xfrm>
            <a:off x="1627736" y="1847668"/>
            <a:ext cx="4468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kumimoji="1" lang="en-US" altLang="zh-CN" sz="2000" dirty="0"/>
              <a:t>3.1.1</a:t>
            </a:r>
            <a:r>
              <a:rPr kumimoji="1" lang="zh-CN" altLang="en-US" sz="2000" dirty="0"/>
              <a:t> 问题描述</a:t>
            </a:r>
            <a:endParaRPr lang="zh-CN" altLang="en-US" sz="2000" dirty="0">
              <a:solidFill>
                <a:srgbClr val="001D35"/>
              </a:solidFill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48347C-C1FE-7252-19CB-71CA8769367F}"/>
              </a:ext>
            </a:extLst>
          </p:cNvPr>
          <p:cNvSpPr txBox="1"/>
          <p:nvPr/>
        </p:nvSpPr>
        <p:spPr>
          <a:xfrm>
            <a:off x="6815116" y="3527323"/>
            <a:ext cx="4184806" cy="171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" dirty="0"/>
              <a:t>对</a:t>
            </a:r>
            <a:r>
              <a:rPr lang="zh-CN" altLang="en-US" dirty="0"/>
              <a:t> </a:t>
            </a:r>
            <a:r>
              <a:rPr lang="en" altLang="zh-CN" dirty="0"/>
              <a:t>IVF-FLAT </a:t>
            </a:r>
            <a:r>
              <a:rPr lang="zh-CN" altLang="en-US" dirty="0"/>
              <a:t>链路进行延迟拆解，观察到单次查询 </a:t>
            </a:r>
            <a:r>
              <a:rPr lang="en-US" altLang="zh-CN" dirty="0"/>
              <a:t>85% </a:t>
            </a:r>
            <a:r>
              <a:rPr lang="zh-CN" altLang="en-US" dirty="0"/>
              <a:t>以上延迟花费在从存储层获取 </a:t>
            </a:r>
            <a:r>
              <a:rPr lang="en-US" altLang="zh-CN" dirty="0"/>
              <a:t>IVF</a:t>
            </a:r>
            <a:r>
              <a:rPr lang="zh-CN" altLang="en-US" dirty="0"/>
              <a:t> 索引表中的向量数据（</a:t>
            </a:r>
            <a:r>
              <a:rPr lang="en" altLang="zh-CN" dirty="0"/>
              <a:t>storage fetch</a:t>
            </a:r>
            <a:r>
              <a:rPr lang="zh-CN" altLang="en" dirty="0"/>
              <a:t>）</a:t>
            </a:r>
            <a:r>
              <a:rPr lang="zh-CN" altLang="en-US" dirty="0"/>
              <a:t>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6388E9F-91E3-05D7-3A97-19E9CA09C224}"/>
              </a:ext>
            </a:extLst>
          </p:cNvPr>
          <p:cNvSpPr txBox="1"/>
          <p:nvPr/>
        </p:nvSpPr>
        <p:spPr>
          <a:xfrm>
            <a:off x="6815116" y="2946423"/>
            <a:ext cx="41848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solidFill>
                  <a:schemeClr val="bg1">
                    <a:lumMod val="50000"/>
                  </a:schemeClr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*以 </a:t>
            </a:r>
            <a:r>
              <a:rPr lang="en" altLang="zh-CN" sz="1400" b="0" i="0" dirty="0">
                <a:solidFill>
                  <a:schemeClr val="bg1">
                    <a:lumMod val="50000"/>
                  </a:schemeClr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IVF-FLAT </a:t>
            </a:r>
            <a:r>
              <a:rPr lang="zh-CN" altLang="en-US" sz="1400" b="0" i="0" dirty="0">
                <a:solidFill>
                  <a:schemeClr val="bg1">
                    <a:lumMod val="50000"/>
                  </a:schemeClr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为例，</a:t>
            </a:r>
            <a:r>
              <a:rPr lang="en" altLang="zh-CN" sz="1400" b="0" i="0" dirty="0">
                <a:solidFill>
                  <a:schemeClr val="bg1">
                    <a:lumMod val="50000"/>
                  </a:schemeClr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FLAT 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表示</a:t>
            </a:r>
            <a:r>
              <a:rPr lang="zh-CN" altLang="en-US" sz="1400" b="0" i="0" dirty="0">
                <a:solidFill>
                  <a:schemeClr val="bg1">
                    <a:lumMod val="50000"/>
                  </a:schemeClr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搜索过程中，直接拿原始高维高精度向量做距离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计算，访存压力最大</a:t>
            </a:r>
            <a:r>
              <a:rPr lang="zh-CN" altLang="en-US" sz="1400" b="0" i="0" dirty="0">
                <a:solidFill>
                  <a:schemeClr val="bg1">
                    <a:lumMod val="50000"/>
                  </a:schemeClr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16FEB6A-D715-304C-2E07-1A25D2350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809" y="2467273"/>
            <a:ext cx="4241800" cy="39370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A500F4F2-84AB-3689-004C-3A2EEEF12586}"/>
              </a:ext>
            </a:extLst>
          </p:cNvPr>
          <p:cNvSpPr/>
          <p:nvPr/>
        </p:nvSpPr>
        <p:spPr>
          <a:xfrm>
            <a:off x="3055623" y="5642478"/>
            <a:ext cx="1612490" cy="540774"/>
          </a:xfrm>
          <a:custGeom>
            <a:avLst/>
            <a:gdLst>
              <a:gd name="connsiteX0" fmla="*/ 0 w 1612490"/>
              <a:gd name="connsiteY0" fmla="*/ 0 h 540774"/>
              <a:gd name="connsiteX1" fmla="*/ 521372 w 1612490"/>
              <a:gd name="connsiteY1" fmla="*/ 0 h 540774"/>
              <a:gd name="connsiteX2" fmla="*/ 1010494 w 1612490"/>
              <a:gd name="connsiteY2" fmla="*/ 0 h 540774"/>
              <a:gd name="connsiteX3" fmla="*/ 1612490 w 1612490"/>
              <a:gd name="connsiteY3" fmla="*/ 0 h 540774"/>
              <a:gd name="connsiteX4" fmla="*/ 1612490 w 1612490"/>
              <a:gd name="connsiteY4" fmla="*/ 540774 h 540774"/>
              <a:gd name="connsiteX5" fmla="*/ 1107243 w 1612490"/>
              <a:gd name="connsiteY5" fmla="*/ 540774 h 540774"/>
              <a:gd name="connsiteX6" fmla="*/ 537497 w 1612490"/>
              <a:gd name="connsiteY6" fmla="*/ 540774 h 540774"/>
              <a:gd name="connsiteX7" fmla="*/ 0 w 1612490"/>
              <a:gd name="connsiteY7" fmla="*/ 540774 h 540774"/>
              <a:gd name="connsiteX8" fmla="*/ 0 w 1612490"/>
              <a:gd name="connsiteY8" fmla="*/ 0 h 540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12490" h="540774" extrusionOk="0">
                <a:moveTo>
                  <a:pt x="0" y="0"/>
                </a:moveTo>
                <a:cubicBezTo>
                  <a:pt x="149609" y="23578"/>
                  <a:pt x="361938" y="-22479"/>
                  <a:pt x="521372" y="0"/>
                </a:cubicBezTo>
                <a:cubicBezTo>
                  <a:pt x="680806" y="22479"/>
                  <a:pt x="842207" y="20054"/>
                  <a:pt x="1010494" y="0"/>
                </a:cubicBezTo>
                <a:cubicBezTo>
                  <a:pt x="1178781" y="-20054"/>
                  <a:pt x="1443587" y="-26121"/>
                  <a:pt x="1612490" y="0"/>
                </a:cubicBezTo>
                <a:cubicBezTo>
                  <a:pt x="1602964" y="189569"/>
                  <a:pt x="1621863" y="412029"/>
                  <a:pt x="1612490" y="540774"/>
                </a:cubicBezTo>
                <a:cubicBezTo>
                  <a:pt x="1385247" y="559015"/>
                  <a:pt x="1326157" y="548530"/>
                  <a:pt x="1107243" y="540774"/>
                </a:cubicBezTo>
                <a:cubicBezTo>
                  <a:pt x="888329" y="533018"/>
                  <a:pt x="765226" y="537745"/>
                  <a:pt x="537497" y="540774"/>
                </a:cubicBezTo>
                <a:cubicBezTo>
                  <a:pt x="309768" y="543803"/>
                  <a:pt x="239291" y="544259"/>
                  <a:pt x="0" y="540774"/>
                </a:cubicBezTo>
                <a:cubicBezTo>
                  <a:pt x="-21110" y="285663"/>
                  <a:pt x="-4031" y="267260"/>
                  <a:pt x="0" y="0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A3ED990-C470-FE47-7002-50398460BDF7}"/>
              </a:ext>
            </a:extLst>
          </p:cNvPr>
          <p:cNvSpPr txBox="1"/>
          <p:nvPr/>
        </p:nvSpPr>
        <p:spPr>
          <a:xfrm>
            <a:off x="3360149" y="6365603"/>
            <a:ext cx="18607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1F2328"/>
                </a:solidFill>
                <a:effectLst/>
              </a:rPr>
              <a:t>图</a:t>
            </a:r>
            <a:r>
              <a:rPr lang="en-US" altLang="zh-CN" sz="1600" dirty="0">
                <a:solidFill>
                  <a:srgbClr val="1F2328"/>
                </a:solidFill>
                <a:effectLst/>
              </a:rPr>
              <a:t>.</a:t>
            </a:r>
            <a:r>
              <a:rPr lang="zh-CN" altLang="en-US" sz="1600" dirty="0">
                <a:solidFill>
                  <a:srgbClr val="1F2328"/>
                </a:solidFill>
                <a:effectLst/>
              </a:rPr>
              <a:t> 向量查询流程 </a:t>
            </a:r>
            <a:endParaRPr lang="en" altLang="zh-CN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82103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A15CD50-28A4-91FA-1C1F-DBC3F0C53493}"/>
              </a:ext>
            </a:extLst>
          </p:cNvPr>
          <p:cNvSpPr txBox="1"/>
          <p:nvPr/>
        </p:nvSpPr>
        <p:spPr>
          <a:xfrm>
            <a:off x="1170017" y="507600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/>
              <a:t>3.</a:t>
            </a:r>
            <a:r>
              <a:rPr kumimoji="1" lang="zh-CN" altLang="en-US" sz="3200" dirty="0"/>
              <a:t>向量检索性能优化</a:t>
            </a:r>
            <a:endParaRPr kumimoji="1" lang="en-US" altLang="zh-CN" sz="3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AEFE8E-F473-B44E-3153-1E60E5C9B920}"/>
              </a:ext>
            </a:extLst>
          </p:cNvPr>
          <p:cNvSpPr txBox="1"/>
          <p:nvPr/>
        </p:nvSpPr>
        <p:spPr>
          <a:xfrm>
            <a:off x="1504722" y="1239189"/>
            <a:ext cx="4468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3.1</a:t>
            </a:r>
            <a:r>
              <a:rPr kumimoji="1" lang="zh-CN" altLang="en-US" sz="2400" dirty="0"/>
              <a:t> </a:t>
            </a:r>
            <a:r>
              <a:rPr lang="en" altLang="zh-CN" sz="2400" dirty="0">
                <a:effectLst/>
              </a:rPr>
              <a:t>IVF </a:t>
            </a:r>
            <a:r>
              <a:rPr lang="zh-CN" altLang="en-US" sz="2400" dirty="0">
                <a:effectLst/>
              </a:rPr>
              <a:t>存储访问优化</a:t>
            </a:r>
            <a:endParaRPr lang="en-US" altLang="zh-CN" sz="2400" dirty="0">
              <a:effectLst/>
            </a:endParaRPr>
          </a:p>
          <a:p>
            <a:pPr marL="0" marR="0"/>
            <a:endParaRPr lang="zh-CN" altLang="en-US" sz="2400" dirty="0">
              <a:solidFill>
                <a:srgbClr val="001D35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87374D-3A00-2425-9F4F-3C6F1BCB0B85}"/>
              </a:ext>
            </a:extLst>
          </p:cNvPr>
          <p:cNvSpPr txBox="1"/>
          <p:nvPr/>
        </p:nvSpPr>
        <p:spPr>
          <a:xfrm>
            <a:off x="1627736" y="1847668"/>
            <a:ext cx="4468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/>
              <a:t>3.1.2</a:t>
            </a:r>
            <a:r>
              <a:rPr kumimoji="1" lang="zh-CN" altLang="en-US" sz="2000" dirty="0"/>
              <a:t> </a:t>
            </a:r>
            <a:r>
              <a:rPr lang="zh-CN" altLang="en-US" sz="2000" dirty="0">
                <a:effectLst/>
              </a:rPr>
              <a:t>原因分析</a:t>
            </a:r>
          </a:p>
          <a:p>
            <a:pPr marL="0" marR="0"/>
            <a:endParaRPr lang="zh-CN" altLang="en-US" sz="2000" dirty="0">
              <a:solidFill>
                <a:srgbClr val="001D35"/>
              </a:solidFill>
              <a:latin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58B8753-6555-5B5F-C4FE-DBB99AADA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388" y="3605028"/>
            <a:ext cx="7393354" cy="242847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F8A6E60-3123-0F02-DD41-9A250863C84F}"/>
              </a:ext>
            </a:extLst>
          </p:cNvPr>
          <p:cNvSpPr txBox="1"/>
          <p:nvPr/>
        </p:nvSpPr>
        <p:spPr>
          <a:xfrm>
            <a:off x="1627736" y="2363814"/>
            <a:ext cx="9423722" cy="1070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ts val="2560"/>
              </a:lnSpc>
              <a:spcBef>
                <a:spcPts val="0"/>
              </a:spcBef>
              <a:spcAft>
                <a:spcPts val="0"/>
              </a:spcAft>
            </a:pPr>
            <a:r>
              <a:rPr lang="en" altLang="zh-CN" dirty="0" err="1">
                <a:effectLst/>
              </a:rPr>
              <a:t>get_next_rows</a:t>
            </a:r>
            <a:r>
              <a:rPr lang="zh-CN" altLang="en-US" dirty="0">
                <a:effectLst/>
              </a:rPr>
              <a:t> </a:t>
            </a:r>
            <a:r>
              <a:rPr lang="zh-CN" altLang="en-US" dirty="0"/>
              <a:t>以 </a:t>
            </a:r>
            <a:r>
              <a:rPr lang="en" altLang="zh-CN" dirty="0">
                <a:effectLst/>
                <a:highlight>
                  <a:srgbClr val="FFFF00"/>
                </a:highlight>
              </a:rPr>
              <a:t>micro-block</a:t>
            </a:r>
            <a:r>
              <a:rPr lang="zh-CN" altLang="en-US" dirty="0">
                <a:highlight>
                  <a:srgbClr val="FFFF00"/>
                </a:highlight>
              </a:rPr>
              <a:t> 为粒度</a:t>
            </a:r>
            <a:r>
              <a:rPr lang="zh-CN" altLang="en-US" dirty="0"/>
              <a:t>获取向量。</a:t>
            </a:r>
            <a:r>
              <a:rPr lang="zh-CN" altLang="en-US" dirty="0">
                <a:effectLst/>
              </a:rPr>
              <a:t>每次调用</a:t>
            </a:r>
            <a:r>
              <a:rPr lang="zh-CN" altLang="en-US" dirty="0">
                <a:effectLst/>
                <a:highlight>
                  <a:srgbClr val="FFFF00"/>
                </a:highlight>
              </a:rPr>
              <a:t>从磁盘或块缓存</a:t>
            </a:r>
            <a:r>
              <a:rPr lang="zh-CN" altLang="en-US" dirty="0">
                <a:effectLst/>
              </a:rPr>
              <a:t>中返回某块中属于</a:t>
            </a:r>
            <a:r>
              <a:rPr lang="zh-CN" altLang="en-US" dirty="0"/>
              <a:t>某</a:t>
            </a:r>
            <a:r>
              <a:rPr lang="zh-CN" altLang="en-US" dirty="0">
                <a:effectLst/>
              </a:rPr>
              <a:t>簇的若干行向量（</a:t>
            </a:r>
            <a:r>
              <a:rPr lang="en-US" altLang="zh-CN" dirty="0">
                <a:effectLst/>
              </a:rPr>
              <a:t>1536</a:t>
            </a:r>
            <a:r>
              <a:rPr lang="en" altLang="zh-CN" dirty="0">
                <a:effectLst/>
              </a:rPr>
              <a:t>D/50K </a:t>
            </a:r>
            <a:r>
              <a:rPr lang="zh-CN" altLang="en-US" dirty="0">
                <a:effectLst/>
              </a:rPr>
              <a:t>量级～</a:t>
            </a:r>
            <a:r>
              <a:rPr lang="en-US" altLang="zh-CN" dirty="0">
                <a:effectLst/>
              </a:rPr>
              <a:t>10</a:t>
            </a:r>
            <a:r>
              <a:rPr lang="zh-CN" altLang="en-US" dirty="0">
                <a:effectLst/>
              </a:rPr>
              <a:t>行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次）。一次查询要调 几百～几千次，每一次都需</a:t>
            </a:r>
            <a:r>
              <a:rPr lang="zh-CN" altLang="en-US" dirty="0">
                <a:effectLst/>
                <a:highlight>
                  <a:srgbClr val="FFFF00"/>
                </a:highlight>
              </a:rPr>
              <a:t>重启整个调用流程</a:t>
            </a:r>
            <a:r>
              <a:rPr lang="zh-CN" altLang="en-US" dirty="0">
                <a:effectLst/>
              </a:rPr>
              <a:t>（找块 → 读块 → 解压缩 → 解码 → 物化），造成高昂的访问延迟。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CA67DCE-1FA1-05AD-9DA8-22507785CDE6}"/>
              </a:ext>
            </a:extLst>
          </p:cNvPr>
          <p:cNvSpPr txBox="1"/>
          <p:nvPr/>
        </p:nvSpPr>
        <p:spPr>
          <a:xfrm>
            <a:off x="4436003" y="6083553"/>
            <a:ext cx="3840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1F2328"/>
                </a:solidFill>
                <a:effectLst/>
              </a:rPr>
              <a:t>图</a:t>
            </a:r>
            <a:r>
              <a:rPr lang="en-US" altLang="zh-CN" sz="1600" dirty="0">
                <a:solidFill>
                  <a:srgbClr val="1F2328"/>
                </a:solidFill>
                <a:effectLst/>
              </a:rPr>
              <a:t>.</a:t>
            </a:r>
            <a:r>
              <a:rPr lang="zh-CN" altLang="en-US" sz="1600" dirty="0">
                <a:solidFill>
                  <a:srgbClr val="1F2328"/>
                </a:solidFill>
                <a:effectLst/>
              </a:rPr>
              <a:t> 簇中向量在磁盘上的存放方式示意图</a:t>
            </a:r>
            <a:endParaRPr lang="en" altLang="zh-CN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752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A15CD50-28A4-91FA-1C1F-DBC3F0C53493}"/>
              </a:ext>
            </a:extLst>
          </p:cNvPr>
          <p:cNvSpPr txBox="1"/>
          <p:nvPr/>
        </p:nvSpPr>
        <p:spPr>
          <a:xfrm>
            <a:off x="1170017" y="507600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/>
              <a:t>3.</a:t>
            </a:r>
            <a:r>
              <a:rPr kumimoji="1" lang="zh-CN" altLang="en-US" sz="3200" dirty="0"/>
              <a:t>向量检索性能优化</a:t>
            </a:r>
            <a:endParaRPr kumimoji="1" lang="en-US" altLang="zh-CN" sz="3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AEFE8E-F473-B44E-3153-1E60E5C9B920}"/>
              </a:ext>
            </a:extLst>
          </p:cNvPr>
          <p:cNvSpPr txBox="1"/>
          <p:nvPr/>
        </p:nvSpPr>
        <p:spPr>
          <a:xfrm>
            <a:off x="1504722" y="1239189"/>
            <a:ext cx="4468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3.1</a:t>
            </a:r>
            <a:r>
              <a:rPr kumimoji="1" lang="zh-CN" altLang="en-US" sz="2400" dirty="0"/>
              <a:t> </a:t>
            </a:r>
            <a:r>
              <a:rPr lang="en" altLang="zh-CN" sz="2400" dirty="0">
                <a:effectLst/>
              </a:rPr>
              <a:t>IVF </a:t>
            </a:r>
            <a:r>
              <a:rPr lang="zh-CN" altLang="en-US" sz="2400" dirty="0">
                <a:effectLst/>
              </a:rPr>
              <a:t>存储访问优化</a:t>
            </a:r>
            <a:endParaRPr lang="en-US" altLang="zh-CN" sz="2400" dirty="0">
              <a:effectLst/>
            </a:endParaRPr>
          </a:p>
          <a:p>
            <a:pPr marL="0" marR="0"/>
            <a:endParaRPr lang="zh-CN" altLang="en-US" sz="2400" dirty="0">
              <a:solidFill>
                <a:srgbClr val="001D35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87374D-3A00-2425-9F4F-3C6F1BCB0B85}"/>
              </a:ext>
            </a:extLst>
          </p:cNvPr>
          <p:cNvSpPr txBox="1"/>
          <p:nvPr/>
        </p:nvSpPr>
        <p:spPr>
          <a:xfrm>
            <a:off x="1627736" y="1847668"/>
            <a:ext cx="44682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/>
              <a:t>3.1.3</a:t>
            </a:r>
            <a:r>
              <a:rPr kumimoji="1" lang="zh-CN" altLang="en-US" sz="2000" dirty="0"/>
              <a:t> </a:t>
            </a:r>
            <a:r>
              <a:rPr lang="zh-CN" altLang="en-US" sz="2000" dirty="0"/>
              <a:t>解决方案：</a:t>
            </a:r>
            <a:r>
              <a:rPr lang="en-US" altLang="zh-CN" sz="2000" dirty="0"/>
              <a:t>IVF</a:t>
            </a:r>
            <a:r>
              <a:rPr lang="zh-CN" altLang="en-US" sz="2000" dirty="0"/>
              <a:t> </a:t>
            </a:r>
            <a:r>
              <a:rPr lang="en-US" altLang="zh-CN" sz="2000" dirty="0"/>
              <a:t>Cache</a:t>
            </a:r>
            <a:endParaRPr lang="zh-CN" altLang="en-US" sz="2000" dirty="0"/>
          </a:p>
          <a:p>
            <a:endParaRPr lang="zh-CN" altLang="en-US" sz="2000" dirty="0">
              <a:effectLst/>
            </a:endParaRPr>
          </a:p>
          <a:p>
            <a:pPr marL="0" marR="0"/>
            <a:endParaRPr lang="zh-CN" altLang="en-US" sz="2000" dirty="0">
              <a:solidFill>
                <a:srgbClr val="001D35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A3E2A67-3BDF-2352-49E6-2901BB9AD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092272"/>
              </p:ext>
            </p:extLst>
          </p:nvPr>
        </p:nvGraphicFramePr>
        <p:xfrm>
          <a:off x="5506065" y="2217000"/>
          <a:ext cx="6269752" cy="3959124"/>
        </p:xfrm>
        <a:graphic>
          <a:graphicData uri="http://schemas.openxmlformats.org/drawingml/2006/table">
            <a:tbl>
              <a:tblPr/>
              <a:tblGrid>
                <a:gridCol w="835741">
                  <a:extLst>
                    <a:ext uri="{9D8B030D-6E8A-4147-A177-3AD203B41FA5}">
                      <a16:colId xmlns:a16="http://schemas.microsoft.com/office/drawing/2014/main" val="1818220754"/>
                    </a:ext>
                  </a:extLst>
                </a:gridCol>
                <a:gridCol w="3574525">
                  <a:extLst>
                    <a:ext uri="{9D8B030D-6E8A-4147-A177-3AD203B41FA5}">
                      <a16:colId xmlns:a16="http://schemas.microsoft.com/office/drawing/2014/main" val="3737276334"/>
                    </a:ext>
                  </a:extLst>
                </a:gridCol>
                <a:gridCol w="1859486">
                  <a:extLst>
                    <a:ext uri="{9D8B030D-6E8A-4147-A177-3AD203B41FA5}">
                      <a16:colId xmlns:a16="http://schemas.microsoft.com/office/drawing/2014/main" val="2235215865"/>
                    </a:ext>
                  </a:extLst>
                </a:gridCol>
              </a:tblGrid>
              <a:tr h="383152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dirty="0">
                          <a:effectLst/>
                        </a:rPr>
                        <a:t>查询模式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dirty="0">
                          <a:effectLst/>
                        </a:rPr>
                        <a:t>含义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dirty="0">
                          <a:effectLst/>
                        </a:rPr>
                        <a:t>操作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246611"/>
                  </a:ext>
                </a:extLst>
              </a:tr>
              <a:tr h="651228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dirty="0">
                          <a:effectLst/>
                        </a:rPr>
                        <a:t>命中</a:t>
                      </a:r>
                      <a:endParaRPr lang="en" sz="1400" b="0" dirty="0">
                        <a:effectLst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dirty="0">
                          <a:effectLst/>
                        </a:rPr>
                        <a:t>相关簇</a:t>
                      </a:r>
                      <a:r>
                        <a:rPr lang="zh-CN" altLang="en-US" sz="1400" b="0" dirty="0">
                          <a:effectLst/>
                          <a:highlight>
                            <a:srgbClr val="FFFF00"/>
                          </a:highlight>
                        </a:rPr>
                        <a:t>已被缓存</a:t>
                      </a:r>
                      <a:r>
                        <a:rPr lang="en" sz="1400" b="0" dirty="0">
                          <a:effectLst/>
                        </a:rPr>
                        <a:t>；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effectLst/>
                        </a:rPr>
                        <a:t>返回</a:t>
                      </a:r>
                      <a:r>
                        <a:rPr lang="en" altLang="zh-CN" sz="1400" b="0" dirty="0">
                          <a:effectLst/>
                        </a:rPr>
                        <a:t>Cache </a:t>
                      </a:r>
                      <a:r>
                        <a:rPr lang="zh-CN" altLang="en-US" sz="1400" b="0" dirty="0">
                          <a:effectLst/>
                        </a:rPr>
                        <a:t>中向量算距离（零拷贝），不读 </a:t>
                      </a:r>
                      <a:r>
                        <a:rPr lang="en" altLang="zh-CN" sz="1400" b="0" dirty="0">
                          <a:effectLst/>
                        </a:rPr>
                        <a:t>Storage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9030295"/>
                  </a:ext>
                </a:extLst>
              </a:tr>
              <a:tr h="1552929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dirty="0">
                          <a:effectLst/>
                        </a:rPr>
                        <a:t>填充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dirty="0">
                          <a:effectLst/>
                        </a:rPr>
                        <a:t>相关簇</a:t>
                      </a:r>
                      <a:r>
                        <a:rPr lang="zh-CN" altLang="en-US" sz="1400" b="0" dirty="0">
                          <a:effectLst/>
                          <a:highlight>
                            <a:srgbClr val="FFFF00"/>
                          </a:highlight>
                        </a:rPr>
                        <a:t>未被缓存</a:t>
                      </a:r>
                      <a:r>
                        <a:rPr lang="en" sz="1400" b="0" dirty="0">
                          <a:effectLst/>
                        </a:rPr>
                        <a:t>，</a:t>
                      </a:r>
                      <a:r>
                        <a:rPr lang="zh-CN" altLang="en-US" sz="1400" b="0" dirty="0">
                          <a:effectLst/>
                        </a:rPr>
                        <a:t>但 </a:t>
                      </a:r>
                      <a:r>
                        <a:rPr lang="en" sz="1400" b="0" dirty="0">
                          <a:effectLst/>
                        </a:rPr>
                        <a:t>IVF</a:t>
                      </a:r>
                      <a:r>
                        <a:rPr lang="zh-CN" altLang="en-US" sz="1400" b="0" dirty="0">
                          <a:effectLst/>
                        </a:rPr>
                        <a:t> </a:t>
                      </a:r>
                      <a:r>
                        <a:rPr lang="en-US" altLang="zh-CN" sz="1400" b="0" dirty="0" err="1">
                          <a:effectLst/>
                        </a:rPr>
                        <a:t>Iter</a:t>
                      </a:r>
                      <a:r>
                        <a:rPr lang="en" sz="1400" b="0" dirty="0">
                          <a:effectLst/>
                        </a:rPr>
                        <a:t> </a:t>
                      </a:r>
                      <a:r>
                        <a:rPr lang="zh-CN" altLang="en-US" sz="1400" b="0" dirty="0">
                          <a:effectLst/>
                        </a:rPr>
                        <a:t>判定本条查询成为该簇的 </a:t>
                      </a:r>
                      <a:r>
                        <a:rPr lang="en" altLang="zh-CN" sz="1400" b="0" dirty="0">
                          <a:effectLst/>
                        </a:rPr>
                        <a:t>F</a:t>
                      </a:r>
                      <a:r>
                        <a:rPr lang="en" sz="1400" b="0" dirty="0">
                          <a:effectLst/>
                        </a:rPr>
                        <a:t>ill leader</a:t>
                      </a:r>
                    </a:p>
                    <a:p>
                      <a:pPr marL="0" marR="0">
                        <a:lnSpc>
                          <a:spcPts val="18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* 需要满足以下条件：</a:t>
                      </a:r>
                    </a:p>
                    <a:p>
                      <a:pPr marR="0">
                        <a:lnSpc>
                          <a:spcPts val="18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① 该簇的累计访问次数达到阈值；</a:t>
                      </a:r>
                    </a:p>
                    <a:p>
                      <a:pPr marR="0">
                        <a:lnSpc>
                          <a:spcPts val="18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② 此刻没有别的查询正在 </a:t>
                      </a:r>
                      <a:r>
                        <a:rPr lang="en" sz="12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Fill </a:t>
                      </a:r>
                      <a:r>
                        <a:rPr lang="zh-CN" altLang="en-US" sz="12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该簇</a:t>
                      </a:r>
                      <a:r>
                        <a:rPr lang="en" sz="12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；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dirty="0">
                          <a:effectLst/>
                        </a:rPr>
                        <a:t>本条查询会在扫完</a:t>
                      </a:r>
                      <a:r>
                        <a:rPr lang="en" altLang="zh-CN" sz="1400" b="0" dirty="0">
                          <a:effectLst/>
                        </a:rPr>
                        <a:t>Storage</a:t>
                      </a:r>
                      <a:r>
                        <a:rPr lang="zh-CN" altLang="en-US" sz="1400" b="0" dirty="0">
                          <a:effectLst/>
                        </a:rPr>
                        <a:t> </a:t>
                      </a:r>
                      <a:r>
                        <a:rPr lang="zh-CN" altLang="en" sz="1400" b="0" dirty="0">
                          <a:effectLst/>
                        </a:rPr>
                        <a:t>中</a:t>
                      </a:r>
                      <a:r>
                        <a:rPr lang="zh-CN" altLang="en-US" sz="1400" b="0" dirty="0">
                          <a:effectLst/>
                        </a:rPr>
                        <a:t>的整个簇后将其填入</a:t>
                      </a:r>
                      <a:r>
                        <a:rPr lang="en" altLang="zh-CN" sz="1400" b="0" dirty="0">
                          <a:effectLst/>
                        </a:rPr>
                        <a:t>Cache</a:t>
                      </a:r>
                      <a:endParaRPr lang="en" sz="1400" b="0" dirty="0">
                        <a:effectLst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7970187"/>
                  </a:ext>
                </a:extLst>
              </a:tr>
              <a:tr h="1252362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dirty="0">
                          <a:effectLst/>
                        </a:rPr>
                        <a:t>未命中</a:t>
                      </a:r>
                      <a:endParaRPr lang="en" sz="1400" b="0" dirty="0">
                        <a:effectLst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dirty="0">
                          <a:effectLst/>
                        </a:rPr>
                        <a:t>相关簇</a:t>
                      </a:r>
                      <a:r>
                        <a:rPr lang="zh-CN" altLang="en-US" sz="1400" b="0" dirty="0">
                          <a:effectLst/>
                          <a:highlight>
                            <a:srgbClr val="FFFF00"/>
                          </a:highlight>
                        </a:rPr>
                        <a:t>未被缓存</a:t>
                      </a:r>
                      <a:r>
                        <a:rPr lang="en" sz="1400" b="0" dirty="0">
                          <a:effectLst/>
                        </a:rPr>
                        <a:t>，</a:t>
                      </a:r>
                      <a:r>
                        <a:rPr lang="zh-CN" altLang="en-US" sz="1400" b="0" dirty="0">
                          <a:effectLst/>
                        </a:rPr>
                        <a:t>本条查询也不是该簇 </a:t>
                      </a:r>
                      <a:r>
                        <a:rPr lang="en" altLang="zh-CN" sz="1400" b="0" dirty="0">
                          <a:effectLst/>
                        </a:rPr>
                        <a:t>F</a:t>
                      </a:r>
                      <a:r>
                        <a:rPr lang="en" sz="1400" b="0" dirty="0">
                          <a:effectLst/>
                        </a:rPr>
                        <a:t>ill leader；</a:t>
                      </a:r>
                    </a:p>
                    <a:p>
                      <a:pPr marL="0" marR="0">
                        <a:lnSpc>
                          <a:spcPts val="18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* 原因包括：</a:t>
                      </a:r>
                    </a:p>
                    <a:p>
                      <a:pPr marR="0">
                        <a:lnSpc>
                          <a:spcPts val="18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① 簇不够热；</a:t>
                      </a:r>
                    </a:p>
                    <a:p>
                      <a:pPr marR="0">
                        <a:lnSpc>
                          <a:spcPts val="18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② 别的查询正在 </a:t>
                      </a:r>
                      <a:r>
                        <a:rPr lang="en" sz="12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Fill </a:t>
                      </a:r>
                      <a:r>
                        <a:rPr lang="zh-CN" altLang="en-US" sz="12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该簇；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effectLst/>
                        </a:rPr>
                        <a:t>本条查询读 </a:t>
                      </a:r>
                      <a:r>
                        <a:rPr lang="en" altLang="zh-CN" sz="1400" b="0" dirty="0">
                          <a:effectLst/>
                        </a:rPr>
                        <a:t>Storage </a:t>
                      </a:r>
                      <a:r>
                        <a:rPr lang="zh-CN" altLang="en-US" sz="1400" b="0" dirty="0">
                          <a:effectLst/>
                        </a:rPr>
                        <a:t>获取向量，并累加相关簇的访问热度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053844"/>
                  </a:ext>
                </a:extLst>
              </a:tr>
            </a:tbl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4F1CDC52-AF8E-C425-4878-CA132AC6C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323" y="2949063"/>
            <a:ext cx="43180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57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A15CD50-28A4-91FA-1C1F-DBC3F0C53493}"/>
              </a:ext>
            </a:extLst>
          </p:cNvPr>
          <p:cNvSpPr txBox="1"/>
          <p:nvPr/>
        </p:nvSpPr>
        <p:spPr>
          <a:xfrm>
            <a:off x="1170017" y="507600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/>
              <a:t>3.</a:t>
            </a:r>
            <a:r>
              <a:rPr kumimoji="1" lang="zh-CN" altLang="en-US" sz="3200" dirty="0"/>
              <a:t>向量检索性能优化</a:t>
            </a:r>
            <a:endParaRPr kumimoji="1" lang="en-US" altLang="zh-CN" sz="3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AEFE8E-F473-B44E-3153-1E60E5C9B920}"/>
              </a:ext>
            </a:extLst>
          </p:cNvPr>
          <p:cNvSpPr txBox="1"/>
          <p:nvPr/>
        </p:nvSpPr>
        <p:spPr>
          <a:xfrm>
            <a:off x="1504722" y="1239189"/>
            <a:ext cx="4468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3.1</a:t>
            </a:r>
            <a:r>
              <a:rPr kumimoji="1" lang="zh-CN" altLang="en-US" sz="2400" dirty="0"/>
              <a:t> </a:t>
            </a:r>
            <a:r>
              <a:rPr lang="en" altLang="zh-CN" sz="2400" dirty="0">
                <a:effectLst/>
              </a:rPr>
              <a:t>IVF </a:t>
            </a:r>
            <a:r>
              <a:rPr lang="zh-CN" altLang="en-US" sz="2400" dirty="0">
                <a:effectLst/>
              </a:rPr>
              <a:t>存储访问优化</a:t>
            </a:r>
            <a:endParaRPr lang="en-US" altLang="zh-CN" sz="2400" dirty="0">
              <a:effectLst/>
            </a:endParaRPr>
          </a:p>
          <a:p>
            <a:pPr marL="0" marR="0"/>
            <a:endParaRPr lang="zh-CN" altLang="en-US" sz="2400" dirty="0">
              <a:solidFill>
                <a:srgbClr val="001D35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87374D-3A00-2425-9F4F-3C6F1BCB0B85}"/>
              </a:ext>
            </a:extLst>
          </p:cNvPr>
          <p:cNvSpPr txBox="1"/>
          <p:nvPr/>
        </p:nvSpPr>
        <p:spPr>
          <a:xfrm>
            <a:off x="1627736" y="1847668"/>
            <a:ext cx="2000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/>
              <a:t>3.1.4</a:t>
            </a:r>
            <a:r>
              <a:rPr kumimoji="1" lang="zh-CN" altLang="en-US" sz="2000" dirty="0"/>
              <a:t> 实验结果</a:t>
            </a:r>
          </a:p>
        </p:txBody>
      </p:sp>
      <p:sp>
        <p:nvSpPr>
          <p:cNvPr id="3" name="AutoShape 1">
            <a:extLst>
              <a:ext uri="{FF2B5EF4-FFF2-40B4-BE49-F238E27FC236}">
                <a16:creationId xmlns:a16="http://schemas.microsoft.com/office/drawing/2014/main" id="{019A7B40-95AB-7378-DB99-46EED60DB9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27368500" cy="273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22C8575-6843-E2BF-48FF-AA4358386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5" y="2775515"/>
            <a:ext cx="7210533" cy="408248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1C707B1-ECB4-37AE-114E-A48AF886DF27}"/>
              </a:ext>
            </a:extLst>
          </p:cNvPr>
          <p:cNvSpPr txBox="1"/>
          <p:nvPr/>
        </p:nvSpPr>
        <p:spPr>
          <a:xfrm>
            <a:off x="4676712" y="1797704"/>
            <a:ext cx="5181378" cy="793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effectLst/>
              </a:rPr>
              <a:t>单查询：</a:t>
            </a:r>
            <a:r>
              <a:rPr lang="en" altLang="zh-CN" sz="1600" dirty="0">
                <a:effectLst/>
              </a:rPr>
              <a:t>Cache Hit</a:t>
            </a:r>
            <a:r>
              <a:rPr lang="zh-CN" altLang="en-US" sz="1600" dirty="0">
                <a:effectLst/>
              </a:rPr>
              <a:t>可以为单查询提供</a:t>
            </a:r>
            <a:r>
              <a:rPr lang="en-US" altLang="zh-CN" sz="1600" dirty="0">
                <a:effectLst/>
              </a:rPr>
              <a:t>2-5</a:t>
            </a:r>
            <a:r>
              <a:rPr lang="en" altLang="zh-CN" sz="1600" dirty="0">
                <a:effectLst/>
              </a:rPr>
              <a:t>x</a:t>
            </a:r>
            <a:r>
              <a:rPr lang="zh-CN" altLang="en-US" sz="1600" dirty="0">
                <a:effectLst/>
              </a:rPr>
              <a:t>加速比。</a:t>
            </a:r>
          </a:p>
          <a:p>
            <a:pPr marL="285750" marR="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effectLst/>
              </a:rPr>
              <a:t>总</a:t>
            </a:r>
            <a:r>
              <a:rPr lang="en" altLang="zh-CN" sz="1600" dirty="0">
                <a:effectLst/>
              </a:rPr>
              <a:t>QPS</a:t>
            </a:r>
            <a:r>
              <a:rPr lang="zh-CN" altLang="en" sz="1600" dirty="0">
                <a:effectLst/>
              </a:rPr>
              <a:t>：</a:t>
            </a:r>
            <a:r>
              <a:rPr lang="en" altLang="zh-CN" sz="1600" dirty="0">
                <a:effectLst/>
              </a:rPr>
              <a:t>IVF Cache</a:t>
            </a:r>
            <a:r>
              <a:rPr lang="zh-CN" altLang="en-US" sz="1600" dirty="0">
                <a:effectLst/>
              </a:rPr>
              <a:t> 带来约 </a:t>
            </a:r>
            <a:r>
              <a:rPr lang="en-US" altLang="zh-CN" sz="1600" dirty="0">
                <a:effectLst/>
              </a:rPr>
              <a:t>1.4–2.3</a:t>
            </a:r>
            <a:r>
              <a:rPr lang="en" altLang="zh-CN" sz="1600" dirty="0">
                <a:effectLst/>
              </a:rPr>
              <a:t>x QPS </a:t>
            </a:r>
            <a:r>
              <a:rPr lang="zh-CN" altLang="en-US" sz="1600" dirty="0">
                <a:effectLst/>
              </a:rPr>
              <a:t>提升。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B11956AC-ABF5-E56D-B10D-3E7A81533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48256"/>
              </p:ext>
            </p:extLst>
          </p:nvPr>
        </p:nvGraphicFramePr>
        <p:xfrm>
          <a:off x="993363" y="4062377"/>
          <a:ext cx="3269111" cy="1508760"/>
        </p:xfrm>
        <a:graphic>
          <a:graphicData uri="http://schemas.openxmlformats.org/drawingml/2006/table">
            <a:tbl>
              <a:tblPr/>
              <a:tblGrid>
                <a:gridCol w="879873">
                  <a:extLst>
                    <a:ext uri="{9D8B030D-6E8A-4147-A177-3AD203B41FA5}">
                      <a16:colId xmlns:a16="http://schemas.microsoft.com/office/drawing/2014/main" val="420594807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4167590107"/>
                    </a:ext>
                  </a:extLst>
                </a:gridCol>
                <a:gridCol w="1327354">
                  <a:extLst>
                    <a:ext uri="{9D8B030D-6E8A-4147-A177-3AD203B41FA5}">
                      <a16:colId xmlns:a16="http://schemas.microsoft.com/office/drawing/2014/main" val="26000042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>
                          <a:effectLst/>
                        </a:rPr>
                        <a:t>参数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>
                          <a:effectLst/>
                        </a:rPr>
                        <a:t>值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>
                          <a:effectLst/>
                        </a:rPr>
                        <a:t>含义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221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>
                          <a:effectLst/>
                        </a:rPr>
                        <a:t>索引类型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1050">
                          <a:effectLst/>
                        </a:rPr>
                        <a:t>IVF_FALT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1050">
                          <a:effectLst/>
                        </a:rPr>
                        <a:t>OceanBase IVF Flat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223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1050">
                          <a:effectLst/>
                        </a:rPr>
                        <a:t>metric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1050">
                          <a:effectLst/>
                        </a:rPr>
                        <a:t>COSINE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dirty="0">
                          <a:effectLst/>
                        </a:rPr>
                        <a:t>余弦距离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0252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1050">
                          <a:effectLst/>
                        </a:rPr>
                        <a:t>ivf_nprobes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1050">
                          <a:effectLst/>
                        </a:rPr>
                        <a:t>min(nlist，100)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>
                          <a:effectLst/>
                        </a:rPr>
                        <a:t>最多探测 </a:t>
                      </a:r>
                      <a:r>
                        <a:rPr lang="en-US" altLang="zh-CN" sz="1050">
                          <a:effectLst/>
                        </a:rPr>
                        <a:t>100 </a:t>
                      </a:r>
                      <a:r>
                        <a:rPr lang="zh-CN" altLang="en-US" sz="1050">
                          <a:effectLst/>
                        </a:rPr>
                        <a:t>个簇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148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1050">
                          <a:effectLst/>
                        </a:rPr>
                        <a:t>k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>
                          <a:effectLst/>
                        </a:rPr>
                        <a:t>100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1050">
                          <a:effectLst/>
                        </a:rPr>
                        <a:t>Recall@100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74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>
                          <a:effectLst/>
                        </a:rPr>
                        <a:t>并发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>
                          <a:effectLst/>
                        </a:rPr>
                        <a:t>80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dirty="0">
                          <a:effectLst/>
                        </a:rPr>
                        <a:t>并发查询线程数</a:t>
                      </a: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767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9935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A15CD50-28A4-91FA-1C1F-DBC3F0C53493}"/>
              </a:ext>
            </a:extLst>
          </p:cNvPr>
          <p:cNvSpPr txBox="1"/>
          <p:nvPr/>
        </p:nvSpPr>
        <p:spPr>
          <a:xfrm>
            <a:off x="1170017" y="507600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/>
              <a:t>3.</a:t>
            </a:r>
            <a:r>
              <a:rPr kumimoji="1" lang="zh-CN" altLang="en-US" sz="3200" dirty="0"/>
              <a:t>向量检索性能优化</a:t>
            </a:r>
            <a:endParaRPr kumimoji="1" lang="en-US" altLang="zh-CN" sz="3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AEFE8E-F473-B44E-3153-1E60E5C9B920}"/>
              </a:ext>
            </a:extLst>
          </p:cNvPr>
          <p:cNvSpPr txBox="1"/>
          <p:nvPr/>
        </p:nvSpPr>
        <p:spPr>
          <a:xfrm>
            <a:off x="1504722" y="1239189"/>
            <a:ext cx="4468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3.2</a:t>
            </a:r>
            <a:r>
              <a:rPr kumimoji="1" lang="zh-CN" altLang="en-US" sz="2400" dirty="0"/>
              <a:t> </a:t>
            </a:r>
            <a:r>
              <a:rPr lang="en" altLang="zh-CN" sz="2400" dirty="0">
                <a:solidFill>
                  <a:srgbClr val="0D1239"/>
                </a:solidFill>
                <a:effectLst/>
              </a:rPr>
              <a:t>I</a:t>
            </a:r>
            <a:r>
              <a:rPr lang="en" altLang="zh-CN" sz="2400" dirty="0">
                <a:effectLst/>
              </a:rPr>
              <a:t>VF-PQ </a:t>
            </a:r>
            <a:r>
              <a:rPr lang="zh-CN" altLang="en-US" sz="2400" dirty="0">
                <a:effectLst/>
              </a:rPr>
              <a:t>检索精度增强</a:t>
            </a:r>
          </a:p>
          <a:p>
            <a:endParaRPr lang="en-US" altLang="zh-CN" sz="2400" dirty="0">
              <a:effectLst/>
            </a:endParaRPr>
          </a:p>
          <a:p>
            <a:pPr marL="0" marR="0"/>
            <a:endParaRPr lang="zh-CN" altLang="en-US" sz="2400" dirty="0">
              <a:solidFill>
                <a:srgbClr val="001D35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87374D-3A00-2425-9F4F-3C6F1BCB0B85}"/>
              </a:ext>
            </a:extLst>
          </p:cNvPr>
          <p:cNvSpPr txBox="1"/>
          <p:nvPr/>
        </p:nvSpPr>
        <p:spPr>
          <a:xfrm>
            <a:off x="1627736" y="1847668"/>
            <a:ext cx="2324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/>
              <a:t>3.1.1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IVF-PQ</a:t>
            </a:r>
            <a:r>
              <a:rPr kumimoji="1" lang="zh-CN" altLang="en-US" sz="2000" dirty="0"/>
              <a:t> 简介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52E332-19EA-2179-9893-F7C8C2EDD099}"/>
              </a:ext>
            </a:extLst>
          </p:cNvPr>
          <p:cNvSpPr txBox="1"/>
          <p:nvPr/>
        </p:nvSpPr>
        <p:spPr>
          <a:xfrm>
            <a:off x="1917267" y="2346101"/>
            <a:ext cx="9085029" cy="879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dirty="0"/>
              <a:t>全称：</a:t>
            </a:r>
            <a:r>
              <a:rPr lang="en" altLang="zh-CN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Inverted File Index</a:t>
            </a:r>
            <a:r>
              <a:rPr lang="zh-CN" altLang="en-US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with</a:t>
            </a:r>
            <a:r>
              <a:rPr lang="zh-CN" altLang="en-US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" altLang="zh-CN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Product Quantization</a:t>
            </a:r>
            <a:r>
              <a:rPr lang="zh-CN" altLang="en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，</a:t>
            </a:r>
            <a:r>
              <a:rPr lang="zh-CN" altLang="en-US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基于乘积量化的倒排文件索引</a:t>
            </a:r>
            <a:endParaRPr lang="en-US" altLang="zh-CN" i="0" dirty="0">
              <a:solidFill>
                <a:srgbClr val="1F1F1F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dirty="0">
                <a:solidFill>
                  <a:srgbClr val="1F1F1F"/>
                </a:solidFill>
                <a:latin typeface="Arial" panose="020B0604020202020204" pitchFamily="34" charset="0"/>
              </a:rPr>
              <a:t>功能：解决 </a:t>
            </a:r>
            <a:r>
              <a:rPr kumimoji="1" lang="en-US" altLang="zh-CN" dirty="0">
                <a:solidFill>
                  <a:srgbClr val="1F1F1F"/>
                </a:solidFill>
                <a:latin typeface="Arial" panose="020B0604020202020204" pitchFamily="34" charset="0"/>
              </a:rPr>
              <a:t>IVF-FLAT</a:t>
            </a:r>
            <a:r>
              <a:rPr kumimoji="1" lang="zh-CN" altLang="en-US" dirty="0">
                <a:solidFill>
                  <a:srgbClr val="1F1F1F"/>
                </a:solidFill>
                <a:latin typeface="Arial" panose="020B0604020202020204" pitchFamily="34" charset="0"/>
              </a:rPr>
              <a:t> 索引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体积大</a:t>
            </a:r>
            <a:r>
              <a:rPr kumimoji="1" lang="zh-CN" altLang="en-US" dirty="0">
                <a:solidFill>
                  <a:srgbClr val="1F1F1F"/>
                </a:solidFill>
                <a:latin typeface="Arial" panose="020B0604020202020204" pitchFamily="34" charset="0"/>
              </a:rPr>
              <a:t>、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检索慢</a:t>
            </a:r>
            <a:r>
              <a:rPr kumimoji="1" lang="zh-CN" altLang="en-US" dirty="0">
                <a:solidFill>
                  <a:srgbClr val="1F1F1F"/>
                </a:solidFill>
                <a:latin typeface="Arial" panose="020B0604020202020204" pitchFamily="34" charset="0"/>
              </a:rPr>
              <a:t>的问题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2165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VFPQ - LanceDB">
            <a:extLst>
              <a:ext uri="{FF2B5EF4-FFF2-40B4-BE49-F238E27FC236}">
                <a16:creationId xmlns:a16="http://schemas.microsoft.com/office/drawing/2014/main" id="{86365915-83E0-7C9F-3879-D9B5322A4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747" y="3389675"/>
            <a:ext cx="6162241" cy="2928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8" name="Picture 2">
            <a:extLst>
              <a:ext uri="{FF2B5EF4-FFF2-40B4-BE49-F238E27FC236}">
                <a16:creationId xmlns:a16="http://schemas.microsoft.com/office/drawing/2014/main" id="{8F9CA67F-5E7E-A821-5111-8D547DC3D1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936"/>
          <a:stretch/>
        </p:blipFill>
        <p:spPr bwMode="auto">
          <a:xfrm>
            <a:off x="884290" y="3215150"/>
            <a:ext cx="4388018" cy="3432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E847134-39F0-2FDE-89AC-A1C45079F07B}"/>
              </a:ext>
            </a:extLst>
          </p:cNvPr>
          <p:cNvSpPr/>
          <p:nvPr/>
        </p:nvSpPr>
        <p:spPr>
          <a:xfrm>
            <a:off x="4739148" y="4434352"/>
            <a:ext cx="639097" cy="4196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E44CB0-1A1D-2312-A31F-E95027FDF829}"/>
              </a:ext>
            </a:extLst>
          </p:cNvPr>
          <p:cNvSpPr/>
          <p:nvPr/>
        </p:nvSpPr>
        <p:spPr>
          <a:xfrm>
            <a:off x="4825430" y="5606698"/>
            <a:ext cx="639097" cy="548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0FE032-0724-7D6F-A2AB-CC5475763DD5}"/>
              </a:ext>
            </a:extLst>
          </p:cNvPr>
          <p:cNvSpPr/>
          <p:nvPr/>
        </p:nvSpPr>
        <p:spPr>
          <a:xfrm>
            <a:off x="3493160" y="3925382"/>
            <a:ext cx="639097" cy="390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F36F9FD-C77A-327A-1CC8-34282F46F713}"/>
              </a:ext>
            </a:extLst>
          </p:cNvPr>
          <p:cNvSpPr txBox="1"/>
          <p:nvPr/>
        </p:nvSpPr>
        <p:spPr>
          <a:xfrm>
            <a:off x="3424334" y="3957152"/>
            <a:ext cx="1595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/>
              <a:t>切分出</a:t>
            </a:r>
            <a:r>
              <a:rPr kumimoji="1" lang="en-US" altLang="zh-CN" sz="1400" dirty="0"/>
              <a:t>4</a:t>
            </a:r>
            <a:r>
              <a:rPr kumimoji="1" lang="zh-CN" altLang="en-US" sz="1400" dirty="0"/>
              <a:t>个子空间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12B94B-F531-5FD5-AF83-E031FA662A61}"/>
              </a:ext>
            </a:extLst>
          </p:cNvPr>
          <p:cNvSpPr/>
          <p:nvPr/>
        </p:nvSpPr>
        <p:spPr>
          <a:xfrm>
            <a:off x="3555475" y="4908032"/>
            <a:ext cx="1716833" cy="548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89A8EA-D5C9-6CA3-5E22-5A677D77CE78}"/>
              </a:ext>
            </a:extLst>
          </p:cNvPr>
          <p:cNvSpPr txBox="1"/>
          <p:nvPr/>
        </p:nvSpPr>
        <p:spPr>
          <a:xfrm>
            <a:off x="3424334" y="4975326"/>
            <a:ext cx="1595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/>
              <a:t>每个子空间做</a:t>
            </a:r>
            <a:r>
              <a:rPr kumimoji="1" lang="en-US" altLang="zh-CN" sz="1400" dirty="0"/>
              <a:t>K=256</a:t>
            </a:r>
            <a:r>
              <a:rPr kumimoji="1" lang="zh-CN" altLang="en-US" sz="1400" dirty="0"/>
              <a:t>的聚类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FF70B69-E735-48A8-49BC-CA2335FDCC46}"/>
              </a:ext>
            </a:extLst>
          </p:cNvPr>
          <p:cNvSpPr/>
          <p:nvPr/>
        </p:nvSpPr>
        <p:spPr>
          <a:xfrm>
            <a:off x="993058" y="5523626"/>
            <a:ext cx="3832372" cy="1024662"/>
          </a:xfrm>
          <a:custGeom>
            <a:avLst/>
            <a:gdLst>
              <a:gd name="connsiteX0" fmla="*/ 0 w 3832372"/>
              <a:gd name="connsiteY0" fmla="*/ 0 h 1024662"/>
              <a:gd name="connsiteX1" fmla="*/ 715376 w 3832372"/>
              <a:gd name="connsiteY1" fmla="*/ 0 h 1024662"/>
              <a:gd name="connsiteX2" fmla="*/ 1354105 w 3832372"/>
              <a:gd name="connsiteY2" fmla="*/ 0 h 1024662"/>
              <a:gd name="connsiteX3" fmla="*/ 1916186 w 3832372"/>
              <a:gd name="connsiteY3" fmla="*/ 0 h 1024662"/>
              <a:gd name="connsiteX4" fmla="*/ 2554915 w 3832372"/>
              <a:gd name="connsiteY4" fmla="*/ 0 h 1024662"/>
              <a:gd name="connsiteX5" fmla="*/ 3270291 w 3832372"/>
              <a:gd name="connsiteY5" fmla="*/ 0 h 1024662"/>
              <a:gd name="connsiteX6" fmla="*/ 3832372 w 3832372"/>
              <a:gd name="connsiteY6" fmla="*/ 0 h 1024662"/>
              <a:gd name="connsiteX7" fmla="*/ 3832372 w 3832372"/>
              <a:gd name="connsiteY7" fmla="*/ 481591 h 1024662"/>
              <a:gd name="connsiteX8" fmla="*/ 3832372 w 3832372"/>
              <a:gd name="connsiteY8" fmla="*/ 1024662 h 1024662"/>
              <a:gd name="connsiteX9" fmla="*/ 3231967 w 3832372"/>
              <a:gd name="connsiteY9" fmla="*/ 1024662 h 1024662"/>
              <a:gd name="connsiteX10" fmla="*/ 2631562 w 3832372"/>
              <a:gd name="connsiteY10" fmla="*/ 1024662 h 1024662"/>
              <a:gd name="connsiteX11" fmla="*/ 2031157 w 3832372"/>
              <a:gd name="connsiteY11" fmla="*/ 1024662 h 1024662"/>
              <a:gd name="connsiteX12" fmla="*/ 1354105 w 3832372"/>
              <a:gd name="connsiteY12" fmla="*/ 1024662 h 1024662"/>
              <a:gd name="connsiteX13" fmla="*/ 792024 w 3832372"/>
              <a:gd name="connsiteY13" fmla="*/ 1024662 h 1024662"/>
              <a:gd name="connsiteX14" fmla="*/ 0 w 3832372"/>
              <a:gd name="connsiteY14" fmla="*/ 1024662 h 1024662"/>
              <a:gd name="connsiteX15" fmla="*/ 0 w 3832372"/>
              <a:gd name="connsiteY15" fmla="*/ 502084 h 1024662"/>
              <a:gd name="connsiteX16" fmla="*/ 0 w 3832372"/>
              <a:gd name="connsiteY16" fmla="*/ 0 h 1024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832372" h="1024662" extrusionOk="0">
                <a:moveTo>
                  <a:pt x="0" y="0"/>
                </a:moveTo>
                <a:cubicBezTo>
                  <a:pt x="309284" y="-29216"/>
                  <a:pt x="470408" y="27200"/>
                  <a:pt x="715376" y="0"/>
                </a:cubicBezTo>
                <a:cubicBezTo>
                  <a:pt x="960344" y="-27200"/>
                  <a:pt x="1168551" y="-3380"/>
                  <a:pt x="1354105" y="0"/>
                </a:cubicBezTo>
                <a:cubicBezTo>
                  <a:pt x="1539659" y="3380"/>
                  <a:pt x="1789588" y="-5627"/>
                  <a:pt x="1916186" y="0"/>
                </a:cubicBezTo>
                <a:cubicBezTo>
                  <a:pt x="2042784" y="5627"/>
                  <a:pt x="2425698" y="-17165"/>
                  <a:pt x="2554915" y="0"/>
                </a:cubicBezTo>
                <a:cubicBezTo>
                  <a:pt x="2684132" y="17165"/>
                  <a:pt x="2941257" y="17179"/>
                  <a:pt x="3270291" y="0"/>
                </a:cubicBezTo>
                <a:cubicBezTo>
                  <a:pt x="3599325" y="-17179"/>
                  <a:pt x="3667702" y="21936"/>
                  <a:pt x="3832372" y="0"/>
                </a:cubicBezTo>
                <a:cubicBezTo>
                  <a:pt x="3841488" y="103862"/>
                  <a:pt x="3832131" y="348339"/>
                  <a:pt x="3832372" y="481591"/>
                </a:cubicBezTo>
                <a:cubicBezTo>
                  <a:pt x="3832613" y="614843"/>
                  <a:pt x="3823974" y="908111"/>
                  <a:pt x="3832372" y="1024662"/>
                </a:cubicBezTo>
                <a:cubicBezTo>
                  <a:pt x="3645086" y="1050992"/>
                  <a:pt x="3354792" y="1030124"/>
                  <a:pt x="3231967" y="1024662"/>
                </a:cubicBezTo>
                <a:cubicBezTo>
                  <a:pt x="3109143" y="1019200"/>
                  <a:pt x="2804514" y="1046126"/>
                  <a:pt x="2631562" y="1024662"/>
                </a:cubicBezTo>
                <a:cubicBezTo>
                  <a:pt x="2458611" y="1003198"/>
                  <a:pt x="2290968" y="1015053"/>
                  <a:pt x="2031157" y="1024662"/>
                </a:cubicBezTo>
                <a:cubicBezTo>
                  <a:pt x="1771346" y="1034271"/>
                  <a:pt x="1651877" y="1006260"/>
                  <a:pt x="1354105" y="1024662"/>
                </a:cubicBezTo>
                <a:cubicBezTo>
                  <a:pt x="1056333" y="1043064"/>
                  <a:pt x="936735" y="1045556"/>
                  <a:pt x="792024" y="1024662"/>
                </a:cubicBezTo>
                <a:cubicBezTo>
                  <a:pt x="647313" y="1003768"/>
                  <a:pt x="357829" y="1023181"/>
                  <a:pt x="0" y="1024662"/>
                </a:cubicBezTo>
                <a:cubicBezTo>
                  <a:pt x="9002" y="766152"/>
                  <a:pt x="-23138" y="744266"/>
                  <a:pt x="0" y="502084"/>
                </a:cubicBezTo>
                <a:cubicBezTo>
                  <a:pt x="23138" y="259902"/>
                  <a:pt x="1384" y="204873"/>
                  <a:pt x="0" y="0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C75B13C-8523-0C07-C137-6DBC2153B5FF}"/>
              </a:ext>
            </a:extLst>
          </p:cNvPr>
          <p:cNvSpPr txBox="1"/>
          <p:nvPr/>
        </p:nvSpPr>
        <p:spPr>
          <a:xfrm>
            <a:off x="1653172" y="2987015"/>
            <a:ext cx="2934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步骤</a:t>
            </a:r>
            <a:r>
              <a:rPr kumimoji="1" lang="en-US" altLang="zh-CN" dirty="0"/>
              <a:t>1.</a:t>
            </a:r>
            <a:r>
              <a:rPr kumimoji="1" lang="zh-CN" altLang="en-US" dirty="0"/>
              <a:t> 生成码本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4BCAEF5-4621-29C9-7226-B373E9CC94AA}"/>
              </a:ext>
            </a:extLst>
          </p:cNvPr>
          <p:cNvSpPr txBox="1"/>
          <p:nvPr/>
        </p:nvSpPr>
        <p:spPr>
          <a:xfrm>
            <a:off x="7715613" y="2989901"/>
            <a:ext cx="3001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步骤</a:t>
            </a:r>
            <a:r>
              <a:rPr kumimoji="1" lang="en-US" altLang="zh-CN" dirty="0"/>
              <a:t>2.</a:t>
            </a:r>
            <a:r>
              <a:rPr kumimoji="1" lang="zh-CN" altLang="en-US" dirty="0"/>
              <a:t> 生成压缩编码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D33553D-354D-BF81-FE46-E2C3896FAC5E}"/>
              </a:ext>
            </a:extLst>
          </p:cNvPr>
          <p:cNvSpPr txBox="1"/>
          <p:nvPr/>
        </p:nvSpPr>
        <p:spPr>
          <a:xfrm>
            <a:off x="1113752" y="5986797"/>
            <a:ext cx="1216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solidFill>
                  <a:srgbClr val="FF0000"/>
                </a:solidFill>
              </a:rPr>
              <a:t>=Codebook</a:t>
            </a:r>
            <a:endParaRPr kumimoji="1"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95FF3C7-0282-F193-9B94-346AC57EFA2D}"/>
              </a:ext>
            </a:extLst>
          </p:cNvPr>
          <p:cNvSpPr txBox="1"/>
          <p:nvPr/>
        </p:nvSpPr>
        <p:spPr>
          <a:xfrm>
            <a:off x="1012597" y="6216129"/>
            <a:ext cx="2195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highlight>
                  <a:srgbClr val="FFFF00"/>
                </a:highlight>
              </a:rPr>
              <a:t>本质是一张中心查找表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9A1CFD8-D419-C2B7-BA0A-23E51D2B8CD1}"/>
              </a:ext>
            </a:extLst>
          </p:cNvPr>
          <p:cNvSpPr txBox="1"/>
          <p:nvPr/>
        </p:nvSpPr>
        <p:spPr>
          <a:xfrm>
            <a:off x="7863929" y="6262180"/>
            <a:ext cx="2355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000000"/>
                </a:solidFill>
                <a:latin typeface="-apple-system"/>
              </a:rPr>
              <a:t>本例中压缩比高达</a:t>
            </a:r>
            <a:r>
              <a:rPr kumimoji="1" lang="en-US" altLang="zh-CN" sz="1400" dirty="0">
                <a:solidFill>
                  <a:srgbClr val="000000"/>
                </a:solidFill>
                <a:latin typeface="-apple-system"/>
              </a:rPr>
              <a:t>128x</a:t>
            </a:r>
            <a:endParaRPr kumimoji="1"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FA6B27-5168-7DDB-A780-40BDA8C67697}"/>
              </a:ext>
            </a:extLst>
          </p:cNvPr>
          <p:cNvSpPr txBox="1"/>
          <p:nvPr/>
        </p:nvSpPr>
        <p:spPr>
          <a:xfrm>
            <a:off x="5260661" y="3963748"/>
            <a:ext cx="1595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highlight>
                  <a:srgbClr val="FFFF00"/>
                </a:highlight>
              </a:rPr>
              <a:t>查找各段子向量离哪个中心最近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7E2514-9FF2-DD45-4A4F-4EB26EE86476}"/>
              </a:ext>
            </a:extLst>
          </p:cNvPr>
          <p:cNvSpPr txBox="1"/>
          <p:nvPr/>
        </p:nvSpPr>
        <p:spPr>
          <a:xfrm>
            <a:off x="1170017" y="507600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/>
              <a:t>3.</a:t>
            </a:r>
            <a:r>
              <a:rPr kumimoji="1" lang="zh-CN" altLang="en-US" sz="3200" dirty="0"/>
              <a:t>向量检索性能优化</a:t>
            </a:r>
            <a:endParaRPr kumimoji="1" lang="en-US" altLang="zh-CN" sz="32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E46831-F3A2-8D92-BB2F-813A5F5FB293}"/>
              </a:ext>
            </a:extLst>
          </p:cNvPr>
          <p:cNvSpPr txBox="1"/>
          <p:nvPr/>
        </p:nvSpPr>
        <p:spPr>
          <a:xfrm>
            <a:off x="1504722" y="1239189"/>
            <a:ext cx="4468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3.2</a:t>
            </a:r>
            <a:r>
              <a:rPr kumimoji="1" lang="zh-CN" altLang="en-US" sz="2400" dirty="0"/>
              <a:t> </a:t>
            </a:r>
            <a:r>
              <a:rPr lang="en" altLang="zh-CN" sz="2400" dirty="0">
                <a:solidFill>
                  <a:srgbClr val="0D1239"/>
                </a:solidFill>
                <a:effectLst/>
              </a:rPr>
              <a:t>I</a:t>
            </a:r>
            <a:r>
              <a:rPr lang="en" altLang="zh-CN" sz="2400" dirty="0">
                <a:effectLst/>
              </a:rPr>
              <a:t>VF-PQ </a:t>
            </a:r>
            <a:r>
              <a:rPr lang="zh-CN" altLang="en-US" sz="2400" dirty="0">
                <a:effectLst/>
              </a:rPr>
              <a:t>检索精度增强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AF37552-1A2A-E869-ABD3-1AAD581973D4}"/>
              </a:ext>
            </a:extLst>
          </p:cNvPr>
          <p:cNvSpPr txBox="1"/>
          <p:nvPr/>
        </p:nvSpPr>
        <p:spPr>
          <a:xfrm>
            <a:off x="1825986" y="1812800"/>
            <a:ext cx="4614144" cy="463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dirty="0">
                <a:solidFill>
                  <a:srgbClr val="1F1F1F"/>
                </a:solidFill>
                <a:latin typeface="Arial" panose="020B0604020202020204" pitchFamily="34" charset="0"/>
              </a:rPr>
              <a:t>如何解决 </a:t>
            </a:r>
            <a:r>
              <a:rPr kumimoji="1" lang="en-US" altLang="zh-CN" dirty="0">
                <a:solidFill>
                  <a:srgbClr val="1F1F1F"/>
                </a:solidFill>
                <a:latin typeface="Arial" panose="020B0604020202020204" pitchFamily="34" charset="0"/>
              </a:rPr>
              <a:t>IVF-FLAT</a:t>
            </a:r>
            <a:r>
              <a:rPr kumimoji="1" lang="zh-CN" altLang="en-US" dirty="0">
                <a:solidFill>
                  <a:srgbClr val="1F1F1F"/>
                </a:solidFill>
                <a:latin typeface="Arial" panose="020B0604020202020204" pitchFamily="34" charset="0"/>
              </a:rPr>
              <a:t> 索引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体积大</a:t>
            </a:r>
            <a:r>
              <a:rPr kumimoji="1" lang="zh-CN" altLang="en-US" dirty="0">
                <a:solidFill>
                  <a:srgbClr val="1F1F1F"/>
                </a:solidFill>
                <a:latin typeface="Arial" panose="020B0604020202020204" pitchFamily="34" charset="0"/>
              </a:rPr>
              <a:t>的问题？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392F605-5F00-C473-181C-BF0BF59696F1}"/>
              </a:ext>
            </a:extLst>
          </p:cNvPr>
          <p:cNvSpPr txBox="1"/>
          <p:nvPr/>
        </p:nvSpPr>
        <p:spPr>
          <a:xfrm>
            <a:off x="6368500" y="2079156"/>
            <a:ext cx="1347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存原始向量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7BBF7F7-B9D6-8DDD-2294-F3754C70C313}"/>
              </a:ext>
            </a:extLst>
          </p:cNvPr>
          <p:cNvSpPr txBox="1"/>
          <p:nvPr/>
        </p:nvSpPr>
        <p:spPr>
          <a:xfrm>
            <a:off x="6503442" y="1755006"/>
            <a:ext cx="121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IVF-FLAT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1A593A1-298D-A9F0-3345-65E12840ADAB}"/>
              </a:ext>
            </a:extLst>
          </p:cNvPr>
          <p:cNvSpPr txBox="1"/>
          <p:nvPr/>
        </p:nvSpPr>
        <p:spPr>
          <a:xfrm>
            <a:off x="8015404" y="2097563"/>
            <a:ext cx="205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存码本与压缩编码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7CBE462-85E5-2196-211F-5379D64E7261}"/>
              </a:ext>
            </a:extLst>
          </p:cNvPr>
          <p:cNvSpPr txBox="1"/>
          <p:nvPr/>
        </p:nvSpPr>
        <p:spPr>
          <a:xfrm>
            <a:off x="8435732" y="1755006"/>
            <a:ext cx="121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IVF-PQ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D36EB4D-B414-4A25-8CF6-7A0AE14A43DD}"/>
              </a:ext>
            </a:extLst>
          </p:cNvPr>
          <p:cNvSpPr/>
          <p:nvPr/>
        </p:nvSpPr>
        <p:spPr>
          <a:xfrm>
            <a:off x="6368500" y="1700854"/>
            <a:ext cx="1347113" cy="845701"/>
          </a:xfrm>
          <a:custGeom>
            <a:avLst/>
            <a:gdLst>
              <a:gd name="connsiteX0" fmla="*/ 0 w 1347113"/>
              <a:gd name="connsiteY0" fmla="*/ 0 h 845701"/>
              <a:gd name="connsiteX1" fmla="*/ 660085 w 1347113"/>
              <a:gd name="connsiteY1" fmla="*/ 0 h 845701"/>
              <a:gd name="connsiteX2" fmla="*/ 1347113 w 1347113"/>
              <a:gd name="connsiteY2" fmla="*/ 0 h 845701"/>
              <a:gd name="connsiteX3" fmla="*/ 1347113 w 1347113"/>
              <a:gd name="connsiteY3" fmla="*/ 397479 h 845701"/>
              <a:gd name="connsiteX4" fmla="*/ 1347113 w 1347113"/>
              <a:gd name="connsiteY4" fmla="*/ 845701 h 845701"/>
              <a:gd name="connsiteX5" fmla="*/ 660085 w 1347113"/>
              <a:gd name="connsiteY5" fmla="*/ 845701 h 845701"/>
              <a:gd name="connsiteX6" fmla="*/ 0 w 1347113"/>
              <a:gd name="connsiteY6" fmla="*/ 845701 h 845701"/>
              <a:gd name="connsiteX7" fmla="*/ 0 w 1347113"/>
              <a:gd name="connsiteY7" fmla="*/ 439765 h 845701"/>
              <a:gd name="connsiteX8" fmla="*/ 0 w 1347113"/>
              <a:gd name="connsiteY8" fmla="*/ 0 h 84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47113" h="845701" extrusionOk="0">
                <a:moveTo>
                  <a:pt x="0" y="0"/>
                </a:moveTo>
                <a:cubicBezTo>
                  <a:pt x="210515" y="-31169"/>
                  <a:pt x="394570" y="-17463"/>
                  <a:pt x="660085" y="0"/>
                </a:cubicBezTo>
                <a:cubicBezTo>
                  <a:pt x="925600" y="17463"/>
                  <a:pt x="1187893" y="-7456"/>
                  <a:pt x="1347113" y="0"/>
                </a:cubicBezTo>
                <a:cubicBezTo>
                  <a:pt x="1352113" y="160117"/>
                  <a:pt x="1360214" y="238632"/>
                  <a:pt x="1347113" y="397479"/>
                </a:cubicBezTo>
                <a:cubicBezTo>
                  <a:pt x="1334012" y="556326"/>
                  <a:pt x="1328245" y="735629"/>
                  <a:pt x="1347113" y="845701"/>
                </a:cubicBezTo>
                <a:cubicBezTo>
                  <a:pt x="1125497" y="846767"/>
                  <a:pt x="981022" y="825946"/>
                  <a:pt x="660085" y="845701"/>
                </a:cubicBezTo>
                <a:cubicBezTo>
                  <a:pt x="339148" y="865456"/>
                  <a:pt x="246682" y="853108"/>
                  <a:pt x="0" y="845701"/>
                </a:cubicBezTo>
                <a:cubicBezTo>
                  <a:pt x="-11076" y="734540"/>
                  <a:pt x="-17144" y="522279"/>
                  <a:pt x="0" y="439765"/>
                </a:cubicBezTo>
                <a:cubicBezTo>
                  <a:pt x="17144" y="357251"/>
                  <a:pt x="4852" y="163801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2344561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41E3DB2-4CF9-2680-27A0-7F9449E4FE70}"/>
              </a:ext>
            </a:extLst>
          </p:cNvPr>
          <p:cNvSpPr/>
          <p:nvPr/>
        </p:nvSpPr>
        <p:spPr>
          <a:xfrm>
            <a:off x="8064310" y="1700854"/>
            <a:ext cx="1925264" cy="845701"/>
          </a:xfrm>
          <a:custGeom>
            <a:avLst/>
            <a:gdLst>
              <a:gd name="connsiteX0" fmla="*/ 0 w 1925264"/>
              <a:gd name="connsiteY0" fmla="*/ 0 h 845701"/>
              <a:gd name="connsiteX1" fmla="*/ 622502 w 1925264"/>
              <a:gd name="connsiteY1" fmla="*/ 0 h 845701"/>
              <a:gd name="connsiteX2" fmla="*/ 1302762 w 1925264"/>
              <a:gd name="connsiteY2" fmla="*/ 0 h 845701"/>
              <a:gd name="connsiteX3" fmla="*/ 1925264 w 1925264"/>
              <a:gd name="connsiteY3" fmla="*/ 0 h 845701"/>
              <a:gd name="connsiteX4" fmla="*/ 1925264 w 1925264"/>
              <a:gd name="connsiteY4" fmla="*/ 405936 h 845701"/>
              <a:gd name="connsiteX5" fmla="*/ 1925264 w 1925264"/>
              <a:gd name="connsiteY5" fmla="*/ 845701 h 845701"/>
              <a:gd name="connsiteX6" fmla="*/ 1341267 w 1925264"/>
              <a:gd name="connsiteY6" fmla="*/ 845701 h 845701"/>
              <a:gd name="connsiteX7" fmla="*/ 738018 w 1925264"/>
              <a:gd name="connsiteY7" fmla="*/ 845701 h 845701"/>
              <a:gd name="connsiteX8" fmla="*/ 0 w 1925264"/>
              <a:gd name="connsiteY8" fmla="*/ 845701 h 845701"/>
              <a:gd name="connsiteX9" fmla="*/ 0 w 1925264"/>
              <a:gd name="connsiteY9" fmla="*/ 448222 h 845701"/>
              <a:gd name="connsiteX10" fmla="*/ 0 w 1925264"/>
              <a:gd name="connsiteY10" fmla="*/ 0 h 84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25264" h="845701" extrusionOk="0">
                <a:moveTo>
                  <a:pt x="0" y="0"/>
                </a:moveTo>
                <a:cubicBezTo>
                  <a:pt x="284740" y="7637"/>
                  <a:pt x="327535" y="29471"/>
                  <a:pt x="622502" y="0"/>
                </a:cubicBezTo>
                <a:cubicBezTo>
                  <a:pt x="917469" y="-29471"/>
                  <a:pt x="1064781" y="24809"/>
                  <a:pt x="1302762" y="0"/>
                </a:cubicBezTo>
                <a:cubicBezTo>
                  <a:pt x="1540743" y="-24809"/>
                  <a:pt x="1684449" y="-20134"/>
                  <a:pt x="1925264" y="0"/>
                </a:cubicBezTo>
                <a:cubicBezTo>
                  <a:pt x="1937588" y="183233"/>
                  <a:pt x="1910710" y="292703"/>
                  <a:pt x="1925264" y="405936"/>
                </a:cubicBezTo>
                <a:cubicBezTo>
                  <a:pt x="1939818" y="519169"/>
                  <a:pt x="1946503" y="625908"/>
                  <a:pt x="1925264" y="845701"/>
                </a:cubicBezTo>
                <a:cubicBezTo>
                  <a:pt x="1762336" y="850960"/>
                  <a:pt x="1479485" y="820549"/>
                  <a:pt x="1341267" y="845701"/>
                </a:cubicBezTo>
                <a:cubicBezTo>
                  <a:pt x="1203049" y="870853"/>
                  <a:pt x="920875" y="826119"/>
                  <a:pt x="738018" y="845701"/>
                </a:cubicBezTo>
                <a:cubicBezTo>
                  <a:pt x="555161" y="865283"/>
                  <a:pt x="274060" y="830507"/>
                  <a:pt x="0" y="845701"/>
                </a:cubicBezTo>
                <a:cubicBezTo>
                  <a:pt x="-12370" y="732555"/>
                  <a:pt x="-14275" y="595380"/>
                  <a:pt x="0" y="448222"/>
                </a:cubicBezTo>
                <a:cubicBezTo>
                  <a:pt x="14275" y="301064"/>
                  <a:pt x="18139" y="20448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2344561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BB7B14F0-B71F-C141-4770-8F653AE4A944}"/>
              </a:ext>
            </a:extLst>
          </p:cNvPr>
          <p:cNvCxnSpPr>
            <a:cxnSpLocks/>
          </p:cNvCxnSpPr>
          <p:nvPr/>
        </p:nvCxnSpPr>
        <p:spPr>
          <a:xfrm>
            <a:off x="5135672" y="3262082"/>
            <a:ext cx="0" cy="318377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右箭头 30">
            <a:extLst>
              <a:ext uri="{FF2B5EF4-FFF2-40B4-BE49-F238E27FC236}">
                <a16:creationId xmlns:a16="http://schemas.microsoft.com/office/drawing/2014/main" id="{50C4872C-8175-B384-0C8B-7A812F0BE64D}"/>
              </a:ext>
            </a:extLst>
          </p:cNvPr>
          <p:cNvSpPr/>
          <p:nvPr/>
        </p:nvSpPr>
        <p:spPr>
          <a:xfrm>
            <a:off x="7740066" y="2044594"/>
            <a:ext cx="299791" cy="19723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32B66C1-0FA5-EEF7-F21F-4E8C3ACDE414}"/>
              </a:ext>
            </a:extLst>
          </p:cNvPr>
          <p:cNvSpPr txBox="1"/>
          <p:nvPr/>
        </p:nvSpPr>
        <p:spPr>
          <a:xfrm>
            <a:off x="5175469" y="5845046"/>
            <a:ext cx="1595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highlight>
                  <a:srgbClr val="FFFF00"/>
                </a:highlight>
              </a:rPr>
              <a:t>用中心索引替代原始向量</a:t>
            </a:r>
          </a:p>
        </p:txBody>
      </p:sp>
    </p:spTree>
    <p:extLst>
      <p:ext uri="{BB962C8B-B14F-4D97-AF65-F5344CB8AC3E}">
        <p14:creationId xmlns:p14="http://schemas.microsoft.com/office/powerpoint/2010/main" val="3934635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F17E2514-9FF2-DD45-4A4F-4EB26EE86476}"/>
              </a:ext>
            </a:extLst>
          </p:cNvPr>
          <p:cNvSpPr txBox="1"/>
          <p:nvPr/>
        </p:nvSpPr>
        <p:spPr>
          <a:xfrm>
            <a:off x="1170017" y="507600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/>
              <a:t>3.</a:t>
            </a:r>
            <a:r>
              <a:rPr kumimoji="1" lang="zh-CN" altLang="en-US" sz="3200" dirty="0"/>
              <a:t>向量检索性能优化</a:t>
            </a:r>
            <a:endParaRPr kumimoji="1" lang="en-US" altLang="zh-CN" sz="32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E46831-F3A2-8D92-BB2F-813A5F5FB293}"/>
              </a:ext>
            </a:extLst>
          </p:cNvPr>
          <p:cNvSpPr txBox="1"/>
          <p:nvPr/>
        </p:nvSpPr>
        <p:spPr>
          <a:xfrm>
            <a:off x="1504722" y="1239189"/>
            <a:ext cx="4468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3.2</a:t>
            </a:r>
            <a:r>
              <a:rPr kumimoji="1" lang="zh-CN" altLang="en-US" sz="2400" dirty="0"/>
              <a:t> </a:t>
            </a:r>
            <a:r>
              <a:rPr lang="en" altLang="zh-CN" sz="2400" dirty="0">
                <a:solidFill>
                  <a:srgbClr val="0D1239"/>
                </a:solidFill>
                <a:effectLst/>
              </a:rPr>
              <a:t>I</a:t>
            </a:r>
            <a:r>
              <a:rPr lang="en" altLang="zh-CN" sz="2400" dirty="0">
                <a:effectLst/>
              </a:rPr>
              <a:t>VF-PQ </a:t>
            </a:r>
            <a:r>
              <a:rPr lang="zh-CN" altLang="en-US" sz="2400" dirty="0">
                <a:effectLst/>
              </a:rPr>
              <a:t>检索精度增强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AF37552-1A2A-E869-ABD3-1AAD581973D4}"/>
              </a:ext>
            </a:extLst>
          </p:cNvPr>
          <p:cNvSpPr txBox="1"/>
          <p:nvPr/>
        </p:nvSpPr>
        <p:spPr>
          <a:xfrm>
            <a:off x="1825986" y="1812800"/>
            <a:ext cx="4614144" cy="463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dirty="0">
                <a:solidFill>
                  <a:srgbClr val="1F1F1F"/>
                </a:solidFill>
                <a:latin typeface="Arial" panose="020B0604020202020204" pitchFamily="34" charset="0"/>
              </a:rPr>
              <a:t>如何解决 </a:t>
            </a:r>
            <a:r>
              <a:rPr kumimoji="1" lang="en-US" altLang="zh-CN" dirty="0">
                <a:solidFill>
                  <a:srgbClr val="1F1F1F"/>
                </a:solidFill>
                <a:latin typeface="Arial" panose="020B0604020202020204" pitchFamily="34" charset="0"/>
              </a:rPr>
              <a:t>IVF-FLAT</a:t>
            </a:r>
            <a:r>
              <a:rPr kumimoji="1" lang="zh-CN" altLang="en-US" dirty="0">
                <a:solidFill>
                  <a:srgbClr val="1F1F1F"/>
                </a:solidFill>
                <a:latin typeface="Arial" panose="020B0604020202020204" pitchFamily="34" charset="0"/>
              </a:rPr>
              <a:t> 索引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算得慢</a:t>
            </a:r>
            <a:r>
              <a:rPr kumimoji="1" lang="zh-CN" altLang="en-US" dirty="0">
                <a:solidFill>
                  <a:srgbClr val="1F1F1F"/>
                </a:solidFill>
                <a:latin typeface="Arial" panose="020B0604020202020204" pitchFamily="34" charset="0"/>
              </a:rPr>
              <a:t>的问题？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392F605-5F00-C473-181C-BF0BF59696F1}"/>
              </a:ext>
            </a:extLst>
          </p:cNvPr>
          <p:cNvSpPr txBox="1"/>
          <p:nvPr/>
        </p:nvSpPr>
        <p:spPr>
          <a:xfrm>
            <a:off x="6493565" y="2079156"/>
            <a:ext cx="1206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i="0" dirty="0">
                <a:effectLst/>
                <a:latin typeface="quote-cjk-patch"/>
              </a:rPr>
              <a:t>暴力计算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7BBF7F7-B9D6-8DDD-2294-F3754C70C313}"/>
              </a:ext>
            </a:extLst>
          </p:cNvPr>
          <p:cNvSpPr txBox="1"/>
          <p:nvPr/>
        </p:nvSpPr>
        <p:spPr>
          <a:xfrm>
            <a:off x="6503442" y="1755006"/>
            <a:ext cx="121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IVF-FLAT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1A593A1-298D-A9F0-3345-65E12840ADAB}"/>
              </a:ext>
            </a:extLst>
          </p:cNvPr>
          <p:cNvSpPr txBox="1"/>
          <p:nvPr/>
        </p:nvSpPr>
        <p:spPr>
          <a:xfrm>
            <a:off x="8475488" y="2101553"/>
            <a:ext cx="880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查表法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7CBE462-85E5-2196-211F-5379D64E7261}"/>
              </a:ext>
            </a:extLst>
          </p:cNvPr>
          <p:cNvSpPr txBox="1"/>
          <p:nvPr/>
        </p:nvSpPr>
        <p:spPr>
          <a:xfrm>
            <a:off x="8435732" y="1755006"/>
            <a:ext cx="121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IVF-PQ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D36EB4D-B414-4A25-8CF6-7A0AE14A43DD}"/>
              </a:ext>
            </a:extLst>
          </p:cNvPr>
          <p:cNvSpPr/>
          <p:nvPr/>
        </p:nvSpPr>
        <p:spPr>
          <a:xfrm>
            <a:off x="6368500" y="1700854"/>
            <a:ext cx="1347113" cy="845701"/>
          </a:xfrm>
          <a:custGeom>
            <a:avLst/>
            <a:gdLst>
              <a:gd name="connsiteX0" fmla="*/ 0 w 1347113"/>
              <a:gd name="connsiteY0" fmla="*/ 0 h 845701"/>
              <a:gd name="connsiteX1" fmla="*/ 660085 w 1347113"/>
              <a:gd name="connsiteY1" fmla="*/ 0 h 845701"/>
              <a:gd name="connsiteX2" fmla="*/ 1347113 w 1347113"/>
              <a:gd name="connsiteY2" fmla="*/ 0 h 845701"/>
              <a:gd name="connsiteX3" fmla="*/ 1347113 w 1347113"/>
              <a:gd name="connsiteY3" fmla="*/ 397479 h 845701"/>
              <a:gd name="connsiteX4" fmla="*/ 1347113 w 1347113"/>
              <a:gd name="connsiteY4" fmla="*/ 845701 h 845701"/>
              <a:gd name="connsiteX5" fmla="*/ 660085 w 1347113"/>
              <a:gd name="connsiteY5" fmla="*/ 845701 h 845701"/>
              <a:gd name="connsiteX6" fmla="*/ 0 w 1347113"/>
              <a:gd name="connsiteY6" fmla="*/ 845701 h 845701"/>
              <a:gd name="connsiteX7" fmla="*/ 0 w 1347113"/>
              <a:gd name="connsiteY7" fmla="*/ 439765 h 845701"/>
              <a:gd name="connsiteX8" fmla="*/ 0 w 1347113"/>
              <a:gd name="connsiteY8" fmla="*/ 0 h 84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47113" h="845701" extrusionOk="0">
                <a:moveTo>
                  <a:pt x="0" y="0"/>
                </a:moveTo>
                <a:cubicBezTo>
                  <a:pt x="210515" y="-31169"/>
                  <a:pt x="394570" y="-17463"/>
                  <a:pt x="660085" y="0"/>
                </a:cubicBezTo>
                <a:cubicBezTo>
                  <a:pt x="925600" y="17463"/>
                  <a:pt x="1187893" y="-7456"/>
                  <a:pt x="1347113" y="0"/>
                </a:cubicBezTo>
                <a:cubicBezTo>
                  <a:pt x="1352113" y="160117"/>
                  <a:pt x="1360214" y="238632"/>
                  <a:pt x="1347113" y="397479"/>
                </a:cubicBezTo>
                <a:cubicBezTo>
                  <a:pt x="1334012" y="556326"/>
                  <a:pt x="1328245" y="735629"/>
                  <a:pt x="1347113" y="845701"/>
                </a:cubicBezTo>
                <a:cubicBezTo>
                  <a:pt x="1125497" y="846767"/>
                  <a:pt x="981022" y="825946"/>
                  <a:pt x="660085" y="845701"/>
                </a:cubicBezTo>
                <a:cubicBezTo>
                  <a:pt x="339148" y="865456"/>
                  <a:pt x="246682" y="853108"/>
                  <a:pt x="0" y="845701"/>
                </a:cubicBezTo>
                <a:cubicBezTo>
                  <a:pt x="-11076" y="734540"/>
                  <a:pt x="-17144" y="522279"/>
                  <a:pt x="0" y="439765"/>
                </a:cubicBezTo>
                <a:cubicBezTo>
                  <a:pt x="17144" y="357251"/>
                  <a:pt x="4852" y="163801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2344561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41E3DB2-4CF9-2680-27A0-7F9449E4FE70}"/>
              </a:ext>
            </a:extLst>
          </p:cNvPr>
          <p:cNvSpPr/>
          <p:nvPr/>
        </p:nvSpPr>
        <p:spPr>
          <a:xfrm>
            <a:off x="8064310" y="1700854"/>
            <a:ext cx="1925264" cy="845701"/>
          </a:xfrm>
          <a:custGeom>
            <a:avLst/>
            <a:gdLst>
              <a:gd name="connsiteX0" fmla="*/ 0 w 1925264"/>
              <a:gd name="connsiteY0" fmla="*/ 0 h 845701"/>
              <a:gd name="connsiteX1" fmla="*/ 622502 w 1925264"/>
              <a:gd name="connsiteY1" fmla="*/ 0 h 845701"/>
              <a:gd name="connsiteX2" fmla="*/ 1302762 w 1925264"/>
              <a:gd name="connsiteY2" fmla="*/ 0 h 845701"/>
              <a:gd name="connsiteX3" fmla="*/ 1925264 w 1925264"/>
              <a:gd name="connsiteY3" fmla="*/ 0 h 845701"/>
              <a:gd name="connsiteX4" fmla="*/ 1925264 w 1925264"/>
              <a:gd name="connsiteY4" fmla="*/ 405936 h 845701"/>
              <a:gd name="connsiteX5" fmla="*/ 1925264 w 1925264"/>
              <a:gd name="connsiteY5" fmla="*/ 845701 h 845701"/>
              <a:gd name="connsiteX6" fmla="*/ 1341267 w 1925264"/>
              <a:gd name="connsiteY6" fmla="*/ 845701 h 845701"/>
              <a:gd name="connsiteX7" fmla="*/ 738018 w 1925264"/>
              <a:gd name="connsiteY7" fmla="*/ 845701 h 845701"/>
              <a:gd name="connsiteX8" fmla="*/ 0 w 1925264"/>
              <a:gd name="connsiteY8" fmla="*/ 845701 h 845701"/>
              <a:gd name="connsiteX9" fmla="*/ 0 w 1925264"/>
              <a:gd name="connsiteY9" fmla="*/ 448222 h 845701"/>
              <a:gd name="connsiteX10" fmla="*/ 0 w 1925264"/>
              <a:gd name="connsiteY10" fmla="*/ 0 h 84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25264" h="845701" extrusionOk="0">
                <a:moveTo>
                  <a:pt x="0" y="0"/>
                </a:moveTo>
                <a:cubicBezTo>
                  <a:pt x="284740" y="7637"/>
                  <a:pt x="327535" y="29471"/>
                  <a:pt x="622502" y="0"/>
                </a:cubicBezTo>
                <a:cubicBezTo>
                  <a:pt x="917469" y="-29471"/>
                  <a:pt x="1064781" y="24809"/>
                  <a:pt x="1302762" y="0"/>
                </a:cubicBezTo>
                <a:cubicBezTo>
                  <a:pt x="1540743" y="-24809"/>
                  <a:pt x="1684449" y="-20134"/>
                  <a:pt x="1925264" y="0"/>
                </a:cubicBezTo>
                <a:cubicBezTo>
                  <a:pt x="1937588" y="183233"/>
                  <a:pt x="1910710" y="292703"/>
                  <a:pt x="1925264" y="405936"/>
                </a:cubicBezTo>
                <a:cubicBezTo>
                  <a:pt x="1939818" y="519169"/>
                  <a:pt x="1946503" y="625908"/>
                  <a:pt x="1925264" y="845701"/>
                </a:cubicBezTo>
                <a:cubicBezTo>
                  <a:pt x="1762336" y="850960"/>
                  <a:pt x="1479485" y="820549"/>
                  <a:pt x="1341267" y="845701"/>
                </a:cubicBezTo>
                <a:cubicBezTo>
                  <a:pt x="1203049" y="870853"/>
                  <a:pt x="920875" y="826119"/>
                  <a:pt x="738018" y="845701"/>
                </a:cubicBezTo>
                <a:cubicBezTo>
                  <a:pt x="555161" y="865283"/>
                  <a:pt x="274060" y="830507"/>
                  <a:pt x="0" y="845701"/>
                </a:cubicBezTo>
                <a:cubicBezTo>
                  <a:pt x="-12370" y="732555"/>
                  <a:pt x="-14275" y="595380"/>
                  <a:pt x="0" y="448222"/>
                </a:cubicBezTo>
                <a:cubicBezTo>
                  <a:pt x="14275" y="301064"/>
                  <a:pt x="18139" y="20448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2344561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右箭头 30">
            <a:extLst>
              <a:ext uri="{FF2B5EF4-FFF2-40B4-BE49-F238E27FC236}">
                <a16:creationId xmlns:a16="http://schemas.microsoft.com/office/drawing/2014/main" id="{50C4872C-8175-B384-0C8B-7A812F0BE64D}"/>
              </a:ext>
            </a:extLst>
          </p:cNvPr>
          <p:cNvSpPr/>
          <p:nvPr/>
        </p:nvSpPr>
        <p:spPr>
          <a:xfrm>
            <a:off x="7740066" y="2044594"/>
            <a:ext cx="299791" cy="19723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53CBE20-CC6F-6B17-7B6D-E1B148CC5263}"/>
              </a:ext>
            </a:extLst>
          </p:cNvPr>
          <p:cNvSpPr txBox="1"/>
          <p:nvPr/>
        </p:nvSpPr>
        <p:spPr>
          <a:xfrm>
            <a:off x="2900564" y="3079590"/>
            <a:ext cx="2491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步骤</a:t>
            </a:r>
            <a:r>
              <a:rPr kumimoji="1" lang="en-US" altLang="zh-CN" dirty="0"/>
              <a:t>1.</a:t>
            </a:r>
            <a:r>
              <a:rPr kumimoji="1" lang="zh-CN" altLang="en-US" dirty="0"/>
              <a:t>构造距离查找表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379CD170-3DC4-580F-1B59-49F1084DBA92}"/>
              </a:ext>
            </a:extLst>
          </p:cNvPr>
          <p:cNvGrpSpPr/>
          <p:nvPr/>
        </p:nvGrpSpPr>
        <p:grpSpPr>
          <a:xfrm>
            <a:off x="2612709" y="3429048"/>
            <a:ext cx="2976981" cy="3137156"/>
            <a:chOff x="2037472" y="3193386"/>
            <a:chExt cx="2587536" cy="2692099"/>
          </a:xfrm>
        </p:grpSpPr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1D3CF59D-D8F2-1C46-2B29-7970BE0C8B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8198" t="21886" r="59913" b="59985"/>
            <a:stretch/>
          </p:blipFill>
          <p:spPr>
            <a:xfrm>
              <a:off x="2037472" y="3193386"/>
              <a:ext cx="2587536" cy="1177893"/>
            </a:xfrm>
            <a:prstGeom prst="rect">
              <a:avLst/>
            </a:prstGeom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598F6691-1020-9C4B-4765-CE733A7E87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8198" t="42847" r="59913" b="40161"/>
            <a:stretch/>
          </p:blipFill>
          <p:spPr>
            <a:xfrm>
              <a:off x="2037472" y="4371278"/>
              <a:ext cx="2587536" cy="1103971"/>
            </a:xfrm>
            <a:prstGeom prst="rect">
              <a:avLst/>
            </a:prstGeom>
          </p:spPr>
        </p:pic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F258BFD6-A6D1-D9CB-D2EB-14554C3371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8198" t="65273" r="59913" b="28242"/>
            <a:stretch/>
          </p:blipFill>
          <p:spPr>
            <a:xfrm>
              <a:off x="2037472" y="5464098"/>
              <a:ext cx="2587536" cy="421387"/>
            </a:xfrm>
            <a:prstGeom prst="rect">
              <a:avLst/>
            </a:prstGeom>
          </p:spPr>
        </p:pic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8B6CBC8E-7909-414C-9159-8FF895549812}"/>
              </a:ext>
            </a:extLst>
          </p:cNvPr>
          <p:cNvSpPr txBox="1"/>
          <p:nvPr/>
        </p:nvSpPr>
        <p:spPr>
          <a:xfrm>
            <a:off x="1141162" y="4413496"/>
            <a:ext cx="1544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在各子空间中，</a:t>
            </a:r>
            <a:r>
              <a:rPr kumimoji="1" lang="zh-CN" altLang="en-US" sz="1400" dirty="0">
                <a:highlight>
                  <a:srgbClr val="FFFF00"/>
                </a:highlight>
              </a:rPr>
              <a:t>计算查询向量到所有中心的距离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23D8220-22EC-1391-E6E2-C9053FA8F318}"/>
              </a:ext>
            </a:extLst>
          </p:cNvPr>
          <p:cNvSpPr txBox="1"/>
          <p:nvPr/>
        </p:nvSpPr>
        <p:spPr>
          <a:xfrm>
            <a:off x="1780478" y="3530185"/>
            <a:ext cx="1120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查询向量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182BA91-A9D7-B33F-00D4-714097C572AA}"/>
              </a:ext>
            </a:extLst>
          </p:cNvPr>
          <p:cNvSpPr txBox="1"/>
          <p:nvPr/>
        </p:nvSpPr>
        <p:spPr>
          <a:xfrm>
            <a:off x="7263575" y="3082314"/>
            <a:ext cx="2491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步骤</a:t>
            </a:r>
            <a:r>
              <a:rPr kumimoji="1" lang="en-US" altLang="zh-CN" dirty="0"/>
              <a:t>2.</a:t>
            </a:r>
            <a:r>
              <a:rPr kumimoji="1" lang="zh-CN" altLang="en-US" dirty="0"/>
              <a:t>查表算距离</a:t>
            </a: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F45D95FA-A707-3522-7D9D-EF321C735B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198" t="21886" r="59913" b="71855"/>
          <a:stretch/>
        </p:blipFill>
        <p:spPr>
          <a:xfrm>
            <a:off x="6916808" y="3434634"/>
            <a:ext cx="2976981" cy="473875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0BA381EF-24BE-1A3D-248E-7951C6BE2FF2}"/>
              </a:ext>
            </a:extLst>
          </p:cNvPr>
          <p:cNvSpPr txBox="1"/>
          <p:nvPr/>
        </p:nvSpPr>
        <p:spPr>
          <a:xfrm>
            <a:off x="6158068" y="3530185"/>
            <a:ext cx="1120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查询向量</a:t>
            </a: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FA2F036F-DE26-9E16-52C8-2851A9FD991D}"/>
              </a:ext>
            </a:extLst>
          </p:cNvPr>
          <p:cNvGrpSpPr/>
          <p:nvPr/>
        </p:nvGrpSpPr>
        <p:grpSpPr>
          <a:xfrm>
            <a:off x="6916808" y="4216188"/>
            <a:ext cx="2976981" cy="473875"/>
            <a:chOff x="6434653" y="4098909"/>
            <a:chExt cx="2976981" cy="473875"/>
          </a:xfrm>
        </p:grpSpPr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6FD3A59F-1FB9-FCB5-CF0F-D5D17AEDC2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8198" t="21886" r="59913" b="71855"/>
            <a:stretch/>
          </p:blipFill>
          <p:spPr>
            <a:xfrm>
              <a:off x="6434653" y="4098909"/>
              <a:ext cx="2976981" cy="473875"/>
            </a:xfrm>
            <a:prstGeom prst="rect">
              <a:avLst/>
            </a:prstGeom>
          </p:spPr>
        </p:pic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DD903DA1-7D51-929B-BEDC-1548D6135545}"/>
                </a:ext>
              </a:extLst>
            </p:cNvPr>
            <p:cNvSpPr/>
            <p:nvPr/>
          </p:nvSpPr>
          <p:spPr>
            <a:xfrm>
              <a:off x="6795999" y="4296217"/>
              <a:ext cx="471402" cy="170852"/>
            </a:xfrm>
            <a:prstGeom prst="rect">
              <a:avLst/>
            </a:prstGeom>
            <a:solidFill>
              <a:srgbClr val="ECF5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28402CE1-A0AF-3AB4-F63D-BA381A7668D7}"/>
                </a:ext>
              </a:extLst>
            </p:cNvPr>
            <p:cNvSpPr/>
            <p:nvPr/>
          </p:nvSpPr>
          <p:spPr>
            <a:xfrm>
              <a:off x="7396713" y="4271972"/>
              <a:ext cx="471402" cy="170852"/>
            </a:xfrm>
            <a:prstGeom prst="rect">
              <a:avLst/>
            </a:prstGeom>
            <a:solidFill>
              <a:srgbClr val="ECF5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18F607F9-F7F6-191F-4DEC-06FC9A384FBE}"/>
                </a:ext>
              </a:extLst>
            </p:cNvPr>
            <p:cNvSpPr/>
            <p:nvPr/>
          </p:nvSpPr>
          <p:spPr>
            <a:xfrm>
              <a:off x="8590221" y="4291545"/>
              <a:ext cx="471402" cy="170852"/>
            </a:xfrm>
            <a:prstGeom prst="rect">
              <a:avLst/>
            </a:prstGeom>
            <a:solidFill>
              <a:srgbClr val="ECF5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07724A2D-86DB-9713-695A-F0884CFDFC6B}"/>
              </a:ext>
            </a:extLst>
          </p:cNvPr>
          <p:cNvSpPr txBox="1"/>
          <p:nvPr/>
        </p:nvSpPr>
        <p:spPr>
          <a:xfrm>
            <a:off x="6158068" y="4213067"/>
            <a:ext cx="1120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簇中向量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（编码）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A29620D-F189-9FC2-7841-49D3821E7414}"/>
              </a:ext>
            </a:extLst>
          </p:cNvPr>
          <p:cNvSpPr txBox="1"/>
          <p:nvPr/>
        </p:nvSpPr>
        <p:spPr>
          <a:xfrm>
            <a:off x="7353104" y="4288017"/>
            <a:ext cx="471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4336" name="文本框 14335">
            <a:extLst>
              <a:ext uri="{FF2B5EF4-FFF2-40B4-BE49-F238E27FC236}">
                <a16:creationId xmlns:a16="http://schemas.microsoft.com/office/drawing/2014/main" id="{714CAAF7-E357-D858-5E16-D396ACE627E6}"/>
              </a:ext>
            </a:extLst>
          </p:cNvPr>
          <p:cNvSpPr txBox="1"/>
          <p:nvPr/>
        </p:nvSpPr>
        <p:spPr>
          <a:xfrm>
            <a:off x="7818908" y="4291121"/>
            <a:ext cx="559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255</a:t>
            </a:r>
            <a:endParaRPr kumimoji="1" lang="zh-CN" altLang="en-US" dirty="0"/>
          </a:p>
        </p:txBody>
      </p:sp>
      <p:sp>
        <p:nvSpPr>
          <p:cNvPr id="14337" name="文本框 14336">
            <a:extLst>
              <a:ext uri="{FF2B5EF4-FFF2-40B4-BE49-F238E27FC236}">
                <a16:creationId xmlns:a16="http://schemas.microsoft.com/office/drawing/2014/main" id="{802939CE-B0CA-A547-D711-2D48D989A81A}"/>
              </a:ext>
            </a:extLst>
          </p:cNvPr>
          <p:cNvSpPr txBox="1"/>
          <p:nvPr/>
        </p:nvSpPr>
        <p:spPr>
          <a:xfrm>
            <a:off x="9173054" y="4294594"/>
            <a:ext cx="559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4339" name="矩形 14338">
            <a:extLst>
              <a:ext uri="{FF2B5EF4-FFF2-40B4-BE49-F238E27FC236}">
                <a16:creationId xmlns:a16="http://schemas.microsoft.com/office/drawing/2014/main" id="{A70B9B59-FD8F-EC06-E7A8-B9E72746EE9F}"/>
              </a:ext>
            </a:extLst>
          </p:cNvPr>
          <p:cNvSpPr/>
          <p:nvPr/>
        </p:nvSpPr>
        <p:spPr>
          <a:xfrm>
            <a:off x="7135316" y="3429000"/>
            <a:ext cx="743552" cy="1372669"/>
          </a:xfrm>
          <a:custGeom>
            <a:avLst/>
            <a:gdLst>
              <a:gd name="connsiteX0" fmla="*/ 0 w 743552"/>
              <a:gd name="connsiteY0" fmla="*/ 0 h 1372669"/>
              <a:gd name="connsiteX1" fmla="*/ 364340 w 743552"/>
              <a:gd name="connsiteY1" fmla="*/ 0 h 1372669"/>
              <a:gd name="connsiteX2" fmla="*/ 743552 w 743552"/>
              <a:gd name="connsiteY2" fmla="*/ 0 h 1372669"/>
              <a:gd name="connsiteX3" fmla="*/ 743552 w 743552"/>
              <a:gd name="connsiteY3" fmla="*/ 713788 h 1372669"/>
              <a:gd name="connsiteX4" fmla="*/ 743552 w 743552"/>
              <a:gd name="connsiteY4" fmla="*/ 1372669 h 1372669"/>
              <a:gd name="connsiteX5" fmla="*/ 386647 w 743552"/>
              <a:gd name="connsiteY5" fmla="*/ 1372669 h 1372669"/>
              <a:gd name="connsiteX6" fmla="*/ 0 w 743552"/>
              <a:gd name="connsiteY6" fmla="*/ 1372669 h 1372669"/>
              <a:gd name="connsiteX7" fmla="*/ 0 w 743552"/>
              <a:gd name="connsiteY7" fmla="*/ 713788 h 1372669"/>
              <a:gd name="connsiteX8" fmla="*/ 0 w 743552"/>
              <a:gd name="connsiteY8" fmla="*/ 0 h 137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3552" h="1372669" extrusionOk="0">
                <a:moveTo>
                  <a:pt x="0" y="0"/>
                </a:moveTo>
                <a:cubicBezTo>
                  <a:pt x="127768" y="-5090"/>
                  <a:pt x="187964" y="-4208"/>
                  <a:pt x="364340" y="0"/>
                </a:cubicBezTo>
                <a:cubicBezTo>
                  <a:pt x="540716" y="4208"/>
                  <a:pt x="650468" y="-7152"/>
                  <a:pt x="743552" y="0"/>
                </a:cubicBezTo>
                <a:cubicBezTo>
                  <a:pt x="737306" y="204022"/>
                  <a:pt x="738045" y="416203"/>
                  <a:pt x="743552" y="713788"/>
                </a:cubicBezTo>
                <a:cubicBezTo>
                  <a:pt x="749059" y="1011373"/>
                  <a:pt x="730414" y="1082938"/>
                  <a:pt x="743552" y="1372669"/>
                </a:cubicBezTo>
                <a:cubicBezTo>
                  <a:pt x="581177" y="1379659"/>
                  <a:pt x="479131" y="1361113"/>
                  <a:pt x="386647" y="1372669"/>
                </a:cubicBezTo>
                <a:cubicBezTo>
                  <a:pt x="294163" y="1384225"/>
                  <a:pt x="84252" y="1359079"/>
                  <a:pt x="0" y="1372669"/>
                </a:cubicBezTo>
                <a:cubicBezTo>
                  <a:pt x="16216" y="1123738"/>
                  <a:pt x="13459" y="960255"/>
                  <a:pt x="0" y="713788"/>
                </a:cubicBezTo>
                <a:cubicBezTo>
                  <a:pt x="-13459" y="467321"/>
                  <a:pt x="2620" y="166861"/>
                  <a:pt x="0" y="0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340" name="矩形 14339">
            <a:extLst>
              <a:ext uri="{FF2B5EF4-FFF2-40B4-BE49-F238E27FC236}">
                <a16:creationId xmlns:a16="http://schemas.microsoft.com/office/drawing/2014/main" id="{78B0F747-8645-F37C-789F-0F94E1A2E1EB}"/>
              </a:ext>
            </a:extLst>
          </p:cNvPr>
          <p:cNvSpPr/>
          <p:nvPr/>
        </p:nvSpPr>
        <p:spPr>
          <a:xfrm>
            <a:off x="2612709" y="5876401"/>
            <a:ext cx="743552" cy="241727"/>
          </a:xfrm>
          <a:custGeom>
            <a:avLst/>
            <a:gdLst>
              <a:gd name="connsiteX0" fmla="*/ 0 w 743552"/>
              <a:gd name="connsiteY0" fmla="*/ 0 h 241727"/>
              <a:gd name="connsiteX1" fmla="*/ 364340 w 743552"/>
              <a:gd name="connsiteY1" fmla="*/ 0 h 241727"/>
              <a:gd name="connsiteX2" fmla="*/ 743552 w 743552"/>
              <a:gd name="connsiteY2" fmla="*/ 0 h 241727"/>
              <a:gd name="connsiteX3" fmla="*/ 743552 w 743552"/>
              <a:gd name="connsiteY3" fmla="*/ 241727 h 241727"/>
              <a:gd name="connsiteX4" fmla="*/ 371776 w 743552"/>
              <a:gd name="connsiteY4" fmla="*/ 241727 h 241727"/>
              <a:gd name="connsiteX5" fmla="*/ 0 w 743552"/>
              <a:gd name="connsiteY5" fmla="*/ 241727 h 241727"/>
              <a:gd name="connsiteX6" fmla="*/ 0 w 743552"/>
              <a:gd name="connsiteY6" fmla="*/ 0 h 241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3552" h="241727" extrusionOk="0">
                <a:moveTo>
                  <a:pt x="0" y="0"/>
                </a:moveTo>
                <a:cubicBezTo>
                  <a:pt x="127768" y="-5090"/>
                  <a:pt x="187964" y="-4208"/>
                  <a:pt x="364340" y="0"/>
                </a:cubicBezTo>
                <a:cubicBezTo>
                  <a:pt x="540716" y="4208"/>
                  <a:pt x="650468" y="-7152"/>
                  <a:pt x="743552" y="0"/>
                </a:cubicBezTo>
                <a:cubicBezTo>
                  <a:pt x="754242" y="103102"/>
                  <a:pt x="737636" y="162039"/>
                  <a:pt x="743552" y="241727"/>
                </a:cubicBezTo>
                <a:cubicBezTo>
                  <a:pt x="579794" y="225823"/>
                  <a:pt x="495293" y="230338"/>
                  <a:pt x="371776" y="241727"/>
                </a:cubicBezTo>
                <a:cubicBezTo>
                  <a:pt x="248259" y="253116"/>
                  <a:pt x="169879" y="244008"/>
                  <a:pt x="0" y="241727"/>
                </a:cubicBezTo>
                <a:cubicBezTo>
                  <a:pt x="3343" y="128833"/>
                  <a:pt x="-8159" y="81799"/>
                  <a:pt x="0" y="0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342" name="曲线连接符 14341">
            <a:extLst>
              <a:ext uri="{FF2B5EF4-FFF2-40B4-BE49-F238E27FC236}">
                <a16:creationId xmlns:a16="http://schemas.microsoft.com/office/drawing/2014/main" id="{18D5C1DF-99BA-A2F3-14B7-305029A0A1C2}"/>
              </a:ext>
            </a:extLst>
          </p:cNvPr>
          <p:cNvCxnSpPr>
            <a:cxnSpLocks/>
            <a:stCxn id="14340" idx="3"/>
            <a:endCxn id="14339" idx="2"/>
          </p:cNvCxnSpPr>
          <p:nvPr/>
        </p:nvCxnSpPr>
        <p:spPr>
          <a:xfrm flipV="1">
            <a:off x="3356261" y="4801669"/>
            <a:ext cx="4150831" cy="1195596"/>
          </a:xfrm>
          <a:prstGeom prst="curved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4" name="文本框 14343">
            <a:extLst>
              <a:ext uri="{FF2B5EF4-FFF2-40B4-BE49-F238E27FC236}">
                <a16:creationId xmlns:a16="http://schemas.microsoft.com/office/drawing/2014/main" id="{1574F660-B4AD-73B5-9BE5-7746A9535136}"/>
              </a:ext>
            </a:extLst>
          </p:cNvPr>
          <p:cNvSpPr txBox="1"/>
          <p:nvPr/>
        </p:nvSpPr>
        <p:spPr>
          <a:xfrm>
            <a:off x="7165295" y="5075576"/>
            <a:ext cx="2173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highlight>
                  <a:srgbClr val="FFFF00"/>
                </a:highlight>
              </a:rPr>
              <a:t>查表得知该子空间距离</a:t>
            </a:r>
          </a:p>
        </p:txBody>
      </p:sp>
    </p:spTree>
    <p:extLst>
      <p:ext uri="{BB962C8B-B14F-4D97-AF65-F5344CB8AC3E}">
        <p14:creationId xmlns:p14="http://schemas.microsoft.com/office/powerpoint/2010/main" val="2441052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F17E2514-9FF2-DD45-4A4F-4EB26EE86476}"/>
              </a:ext>
            </a:extLst>
          </p:cNvPr>
          <p:cNvSpPr txBox="1"/>
          <p:nvPr/>
        </p:nvSpPr>
        <p:spPr>
          <a:xfrm>
            <a:off x="1170017" y="507600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/>
              <a:t>3.</a:t>
            </a:r>
            <a:r>
              <a:rPr kumimoji="1" lang="zh-CN" altLang="en-US" sz="3200" dirty="0"/>
              <a:t>向量检索性能优化</a:t>
            </a:r>
            <a:endParaRPr kumimoji="1" lang="en-US" altLang="zh-CN" sz="32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E46831-F3A2-8D92-BB2F-813A5F5FB293}"/>
              </a:ext>
            </a:extLst>
          </p:cNvPr>
          <p:cNvSpPr txBox="1"/>
          <p:nvPr/>
        </p:nvSpPr>
        <p:spPr>
          <a:xfrm>
            <a:off x="1504722" y="1239189"/>
            <a:ext cx="4468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3.2</a:t>
            </a:r>
            <a:r>
              <a:rPr kumimoji="1" lang="zh-CN" altLang="en-US" sz="2400" dirty="0"/>
              <a:t> </a:t>
            </a:r>
            <a:r>
              <a:rPr lang="en" altLang="zh-CN" sz="2400" dirty="0">
                <a:solidFill>
                  <a:srgbClr val="0D1239"/>
                </a:solidFill>
                <a:effectLst/>
              </a:rPr>
              <a:t>I</a:t>
            </a:r>
            <a:r>
              <a:rPr lang="en" altLang="zh-CN" sz="2400" dirty="0">
                <a:effectLst/>
              </a:rPr>
              <a:t>VF-PQ </a:t>
            </a:r>
            <a:r>
              <a:rPr lang="zh-CN" altLang="en-US" sz="2400" dirty="0">
                <a:effectLst/>
              </a:rPr>
              <a:t>检索精度增强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8032AB2-A71D-B161-1FB4-49971B86A315}"/>
              </a:ext>
            </a:extLst>
          </p:cNvPr>
          <p:cNvSpPr txBox="1"/>
          <p:nvPr/>
        </p:nvSpPr>
        <p:spPr>
          <a:xfrm>
            <a:off x="1627736" y="1847668"/>
            <a:ext cx="2324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/>
              <a:t>3.1.2</a:t>
            </a:r>
            <a:r>
              <a:rPr kumimoji="1" lang="zh-CN" altLang="en-US" sz="2000" dirty="0"/>
              <a:t> 问题描述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52B51BA-37CD-0698-EAD8-61B1B3F0A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694" y="2999318"/>
            <a:ext cx="8848611" cy="335108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A4354D2-EF8E-AFF5-62F3-D9878F7D8918}"/>
              </a:ext>
            </a:extLst>
          </p:cNvPr>
          <p:cNvSpPr txBox="1"/>
          <p:nvPr/>
        </p:nvSpPr>
        <p:spPr>
          <a:xfrm>
            <a:off x="1799304" y="2390839"/>
            <a:ext cx="9075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" altLang="zh-CN" i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IVF-PQ </a:t>
            </a:r>
            <a:r>
              <a:rPr lang="zh-CN" altLang="en-US" i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本质是用</a:t>
            </a:r>
            <a:r>
              <a:rPr lang="zh-CN" altLang="en-US" i="0" dirty="0">
                <a:effectLst/>
                <a:highlight>
                  <a:srgbClr val="FFFF00"/>
                </a:highlight>
                <a:latin typeface="PingFang SC" panose="020B0400000000000000" pitchFamily="34" charset="-122"/>
                <a:ea typeface="PingFang SC" panose="020B0400000000000000" pitchFamily="34" charset="-122"/>
              </a:rPr>
              <a:t>子空间中的聚类中心</a:t>
            </a:r>
            <a:r>
              <a:rPr lang="zh-CN" altLang="en-US" i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去</a:t>
            </a:r>
            <a:r>
              <a:rPr lang="zh-CN" altLang="en-US" i="0" dirty="0">
                <a:effectLst/>
                <a:highlight>
                  <a:srgbClr val="FFFF00"/>
                </a:highlight>
                <a:latin typeface="PingFang SC" panose="020B0400000000000000" pitchFamily="34" charset="-122"/>
                <a:ea typeface="PingFang SC" panose="020B0400000000000000" pitchFamily="34" charset="-122"/>
              </a:rPr>
              <a:t>近似</a:t>
            </a:r>
            <a:r>
              <a:rPr lang="zh-CN" altLang="en-US" i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原始向量，因而距离计算存在近似误差，从而引起召回率损失。</a:t>
            </a:r>
            <a:endParaRPr lang="zh-CN" altLang="en-US" dirty="0">
              <a:effectLst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91CA830-FFD0-EC35-138A-A24CCDA38F2D}"/>
              </a:ext>
            </a:extLst>
          </p:cNvPr>
          <p:cNvSpPr txBox="1"/>
          <p:nvPr/>
        </p:nvSpPr>
        <p:spPr>
          <a:xfrm>
            <a:off x="7755942" y="2999318"/>
            <a:ext cx="33148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zh-CN" altLang="en-US" sz="1400" dirty="0">
                <a:effectLst/>
              </a:rPr>
              <a:t>*每段子向量 </a:t>
            </a:r>
            <a:r>
              <a:rPr lang="en-US" altLang="zh-CN" sz="1400" dirty="0">
                <a:effectLst/>
              </a:rPr>
              <a:t>8 </a:t>
            </a:r>
            <a:r>
              <a:rPr lang="zh-CN" altLang="en-US" sz="1400" dirty="0">
                <a:effectLst/>
              </a:rPr>
              <a:t>维</a:t>
            </a:r>
            <a:endParaRPr lang="en-US" altLang="zh-CN" sz="1400" dirty="0">
              <a:effectLst/>
            </a:endParaRPr>
          </a:p>
          <a:p>
            <a:pPr fontAlgn="t"/>
            <a:r>
              <a:rPr lang="zh-CN" altLang="en-US" sz="1400" dirty="0"/>
              <a:t>*</a:t>
            </a:r>
            <a:r>
              <a:rPr lang="zh-CN" altLang="en-US" sz="1400" dirty="0">
                <a:effectLst/>
              </a:rPr>
              <a:t>每段子向量用 </a:t>
            </a:r>
            <a:r>
              <a:rPr lang="en-US" altLang="zh-CN" sz="1400" dirty="0">
                <a:effectLst/>
              </a:rPr>
              <a:t>8 </a:t>
            </a:r>
            <a:r>
              <a:rPr lang="en" altLang="zh-CN" sz="1400" dirty="0">
                <a:effectLst/>
              </a:rPr>
              <a:t>bit </a:t>
            </a:r>
            <a:r>
              <a:rPr lang="zh-CN" altLang="en-US" sz="1400" dirty="0">
                <a:effectLst/>
              </a:rPr>
              <a:t>编码（</a:t>
            </a:r>
            <a:r>
              <a:rPr lang="en-US" altLang="zh-CN" sz="1400" dirty="0">
                <a:effectLst/>
              </a:rPr>
              <a:t>256 </a:t>
            </a:r>
            <a:r>
              <a:rPr lang="zh-CN" altLang="en-US" sz="1400" dirty="0">
                <a:effectLst/>
              </a:rPr>
              <a:t>个中心）</a:t>
            </a:r>
          </a:p>
        </p:txBody>
      </p:sp>
    </p:spTree>
    <p:extLst>
      <p:ext uri="{BB962C8B-B14F-4D97-AF65-F5344CB8AC3E}">
        <p14:creationId xmlns:p14="http://schemas.microsoft.com/office/powerpoint/2010/main" val="3985675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F17E2514-9FF2-DD45-4A4F-4EB26EE86476}"/>
              </a:ext>
            </a:extLst>
          </p:cNvPr>
          <p:cNvSpPr txBox="1"/>
          <p:nvPr/>
        </p:nvSpPr>
        <p:spPr>
          <a:xfrm>
            <a:off x="1170017" y="507600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/>
              <a:t>3.</a:t>
            </a:r>
            <a:r>
              <a:rPr kumimoji="1" lang="zh-CN" altLang="en-US" sz="3200" dirty="0"/>
              <a:t>向量检索性能优化</a:t>
            </a:r>
            <a:endParaRPr kumimoji="1" lang="en-US" altLang="zh-CN" sz="32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E46831-F3A2-8D92-BB2F-813A5F5FB293}"/>
              </a:ext>
            </a:extLst>
          </p:cNvPr>
          <p:cNvSpPr txBox="1"/>
          <p:nvPr/>
        </p:nvSpPr>
        <p:spPr>
          <a:xfrm>
            <a:off x="1504722" y="1239189"/>
            <a:ext cx="4468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3.2</a:t>
            </a:r>
            <a:r>
              <a:rPr kumimoji="1" lang="zh-CN" altLang="en-US" sz="2400" dirty="0"/>
              <a:t> </a:t>
            </a:r>
            <a:r>
              <a:rPr lang="en" altLang="zh-CN" sz="2400" dirty="0">
                <a:solidFill>
                  <a:srgbClr val="0D1239"/>
                </a:solidFill>
                <a:effectLst/>
              </a:rPr>
              <a:t>I</a:t>
            </a:r>
            <a:r>
              <a:rPr lang="en" altLang="zh-CN" sz="2400" dirty="0">
                <a:effectLst/>
              </a:rPr>
              <a:t>VF-PQ </a:t>
            </a:r>
            <a:r>
              <a:rPr lang="zh-CN" altLang="en-US" sz="2400" dirty="0">
                <a:effectLst/>
              </a:rPr>
              <a:t>检索精度增强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8032AB2-A71D-B161-1FB4-49971B86A315}"/>
              </a:ext>
            </a:extLst>
          </p:cNvPr>
          <p:cNvSpPr txBox="1"/>
          <p:nvPr/>
        </p:nvSpPr>
        <p:spPr>
          <a:xfrm>
            <a:off x="1627735" y="1847668"/>
            <a:ext cx="7636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/>
              <a:t>3.1.3</a:t>
            </a:r>
            <a:r>
              <a:rPr kumimoji="1" lang="zh-CN" altLang="en-US" sz="2000" dirty="0"/>
              <a:t> 解决方案：粗排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精排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E1C375-71C8-4F29-005F-B6CEB7F37E26}"/>
              </a:ext>
            </a:extLst>
          </p:cNvPr>
          <p:cNvSpPr txBox="1"/>
          <p:nvPr/>
        </p:nvSpPr>
        <p:spPr>
          <a:xfrm>
            <a:off x="2016177" y="2501117"/>
            <a:ext cx="8401988" cy="143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effectLst/>
              </a:rPr>
              <a:t>目标输出：</a:t>
            </a:r>
            <a:r>
              <a:rPr lang="en-US" altLang="zh-CN" sz="2000" dirty="0"/>
              <a:t>Top-K</a:t>
            </a:r>
            <a:r>
              <a:rPr lang="zh-CN" altLang="en-US" sz="2000" dirty="0"/>
              <a:t>最近邻</a:t>
            </a:r>
            <a:endParaRPr lang="en-US" altLang="zh-CN" sz="2000" dirty="0"/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/>
              <a:t>粗排：基于 </a:t>
            </a:r>
            <a:r>
              <a:rPr lang="en-US" altLang="zh-CN" sz="2000" dirty="0"/>
              <a:t>PQ</a:t>
            </a:r>
            <a:r>
              <a:rPr lang="zh-CN" altLang="en-US" sz="2000" dirty="0"/>
              <a:t> 距离召回 </a:t>
            </a:r>
            <a:r>
              <a:rPr lang="en-US" altLang="zh-CN" sz="2000" dirty="0"/>
              <a:t>Top-K</a:t>
            </a:r>
            <a:r>
              <a:rPr lang="zh-CN" altLang="en-US" sz="2000" dirty="0"/>
              <a:t> * </a:t>
            </a:r>
            <a:r>
              <a:rPr lang="en-US" altLang="zh-CN" sz="2000" dirty="0"/>
              <a:t>scale</a:t>
            </a:r>
            <a:r>
              <a:rPr lang="zh-CN" altLang="en-US" sz="2000" dirty="0"/>
              <a:t> 个候选</a:t>
            </a:r>
            <a:endParaRPr lang="en-US" altLang="zh-CN" sz="2000" dirty="0"/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/>
              <a:t>精排：在 </a:t>
            </a:r>
            <a:r>
              <a:rPr lang="en-US" altLang="zh-CN" sz="2000" dirty="0"/>
              <a:t>Top-K</a:t>
            </a:r>
            <a:r>
              <a:rPr lang="zh-CN" altLang="en-US" sz="2000" dirty="0"/>
              <a:t> * </a:t>
            </a:r>
            <a:r>
              <a:rPr lang="en-US" altLang="zh-CN" sz="2000" dirty="0"/>
              <a:t>scale</a:t>
            </a:r>
            <a:r>
              <a:rPr lang="zh-CN" altLang="en-US" sz="2000" dirty="0"/>
              <a:t> 个候选中，进行精确距离计算，召回其中 </a:t>
            </a:r>
            <a:r>
              <a:rPr lang="en-US" altLang="zh-CN" sz="2000" dirty="0"/>
              <a:t>Top-K</a:t>
            </a:r>
            <a:r>
              <a:rPr lang="zh-CN" altLang="en-US" sz="2000" dirty="0"/>
              <a:t> </a:t>
            </a:r>
            <a:endParaRPr lang="en-US" altLang="zh-CN" sz="2000" dirty="0">
              <a:effectLst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2061AA-D615-7295-6A1B-C46CEE73EF6D}"/>
              </a:ext>
            </a:extLst>
          </p:cNvPr>
          <p:cNvSpPr/>
          <p:nvPr/>
        </p:nvSpPr>
        <p:spPr>
          <a:xfrm>
            <a:off x="1858780" y="2441157"/>
            <a:ext cx="8439463" cy="1621178"/>
          </a:xfrm>
          <a:custGeom>
            <a:avLst/>
            <a:gdLst>
              <a:gd name="connsiteX0" fmla="*/ 0 w 8439463"/>
              <a:gd name="connsiteY0" fmla="*/ 0 h 1621178"/>
              <a:gd name="connsiteX1" fmla="*/ 480400 w 8439463"/>
              <a:gd name="connsiteY1" fmla="*/ 0 h 1621178"/>
              <a:gd name="connsiteX2" fmla="*/ 1213984 w 8439463"/>
              <a:gd name="connsiteY2" fmla="*/ 0 h 1621178"/>
              <a:gd name="connsiteX3" fmla="*/ 1863174 w 8439463"/>
              <a:gd name="connsiteY3" fmla="*/ 0 h 1621178"/>
              <a:gd name="connsiteX4" fmla="*/ 2427969 w 8439463"/>
              <a:gd name="connsiteY4" fmla="*/ 0 h 1621178"/>
              <a:gd name="connsiteX5" fmla="*/ 2823974 w 8439463"/>
              <a:gd name="connsiteY5" fmla="*/ 0 h 1621178"/>
              <a:gd name="connsiteX6" fmla="*/ 3473164 w 8439463"/>
              <a:gd name="connsiteY6" fmla="*/ 0 h 1621178"/>
              <a:gd name="connsiteX7" fmla="*/ 3869169 w 8439463"/>
              <a:gd name="connsiteY7" fmla="*/ 0 h 1621178"/>
              <a:gd name="connsiteX8" fmla="*/ 4349569 w 8439463"/>
              <a:gd name="connsiteY8" fmla="*/ 0 h 1621178"/>
              <a:gd name="connsiteX9" fmla="*/ 4998759 w 8439463"/>
              <a:gd name="connsiteY9" fmla="*/ 0 h 1621178"/>
              <a:gd name="connsiteX10" fmla="*/ 5816738 w 8439463"/>
              <a:gd name="connsiteY10" fmla="*/ 0 h 1621178"/>
              <a:gd name="connsiteX11" fmla="*/ 6465927 w 8439463"/>
              <a:gd name="connsiteY11" fmla="*/ 0 h 1621178"/>
              <a:gd name="connsiteX12" fmla="*/ 6861933 w 8439463"/>
              <a:gd name="connsiteY12" fmla="*/ 0 h 1621178"/>
              <a:gd name="connsiteX13" fmla="*/ 7342333 w 8439463"/>
              <a:gd name="connsiteY13" fmla="*/ 0 h 1621178"/>
              <a:gd name="connsiteX14" fmla="*/ 8439463 w 8439463"/>
              <a:gd name="connsiteY14" fmla="*/ 0 h 1621178"/>
              <a:gd name="connsiteX15" fmla="*/ 8439463 w 8439463"/>
              <a:gd name="connsiteY15" fmla="*/ 507969 h 1621178"/>
              <a:gd name="connsiteX16" fmla="*/ 8439463 w 8439463"/>
              <a:gd name="connsiteY16" fmla="*/ 1080785 h 1621178"/>
              <a:gd name="connsiteX17" fmla="*/ 8439463 w 8439463"/>
              <a:gd name="connsiteY17" fmla="*/ 1621178 h 1621178"/>
              <a:gd name="connsiteX18" fmla="*/ 7874668 w 8439463"/>
              <a:gd name="connsiteY18" fmla="*/ 1621178 h 1621178"/>
              <a:gd name="connsiteX19" fmla="*/ 7394268 w 8439463"/>
              <a:gd name="connsiteY19" fmla="*/ 1621178 h 1621178"/>
              <a:gd name="connsiteX20" fmla="*/ 6576289 w 8439463"/>
              <a:gd name="connsiteY20" fmla="*/ 1621178 h 1621178"/>
              <a:gd name="connsiteX21" fmla="*/ 6180284 w 8439463"/>
              <a:gd name="connsiteY21" fmla="*/ 1621178 h 1621178"/>
              <a:gd name="connsiteX22" fmla="*/ 5615489 w 8439463"/>
              <a:gd name="connsiteY22" fmla="*/ 1621178 h 1621178"/>
              <a:gd name="connsiteX23" fmla="*/ 4881905 w 8439463"/>
              <a:gd name="connsiteY23" fmla="*/ 1621178 h 1621178"/>
              <a:gd name="connsiteX24" fmla="*/ 4063926 w 8439463"/>
              <a:gd name="connsiteY24" fmla="*/ 1621178 h 1621178"/>
              <a:gd name="connsiteX25" fmla="*/ 3245947 w 8439463"/>
              <a:gd name="connsiteY25" fmla="*/ 1621178 h 1621178"/>
              <a:gd name="connsiteX26" fmla="*/ 2765547 w 8439463"/>
              <a:gd name="connsiteY26" fmla="*/ 1621178 h 1621178"/>
              <a:gd name="connsiteX27" fmla="*/ 2031963 w 8439463"/>
              <a:gd name="connsiteY27" fmla="*/ 1621178 h 1621178"/>
              <a:gd name="connsiteX28" fmla="*/ 1467168 w 8439463"/>
              <a:gd name="connsiteY28" fmla="*/ 1621178 h 1621178"/>
              <a:gd name="connsiteX29" fmla="*/ 817979 w 8439463"/>
              <a:gd name="connsiteY29" fmla="*/ 1621178 h 1621178"/>
              <a:gd name="connsiteX30" fmla="*/ 0 w 8439463"/>
              <a:gd name="connsiteY30" fmla="*/ 1621178 h 1621178"/>
              <a:gd name="connsiteX31" fmla="*/ 0 w 8439463"/>
              <a:gd name="connsiteY31" fmla="*/ 1048362 h 1621178"/>
              <a:gd name="connsiteX32" fmla="*/ 0 w 8439463"/>
              <a:gd name="connsiteY32" fmla="*/ 524181 h 1621178"/>
              <a:gd name="connsiteX33" fmla="*/ 0 w 8439463"/>
              <a:gd name="connsiteY33" fmla="*/ 0 h 1621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439463" h="1621178" extrusionOk="0">
                <a:moveTo>
                  <a:pt x="0" y="0"/>
                </a:moveTo>
                <a:cubicBezTo>
                  <a:pt x="144399" y="-13153"/>
                  <a:pt x="296039" y="12296"/>
                  <a:pt x="480400" y="0"/>
                </a:cubicBezTo>
                <a:cubicBezTo>
                  <a:pt x="664761" y="-12296"/>
                  <a:pt x="1059541" y="-21856"/>
                  <a:pt x="1213984" y="0"/>
                </a:cubicBezTo>
                <a:cubicBezTo>
                  <a:pt x="1368427" y="21856"/>
                  <a:pt x="1718019" y="29614"/>
                  <a:pt x="1863174" y="0"/>
                </a:cubicBezTo>
                <a:cubicBezTo>
                  <a:pt x="2008329" y="-29614"/>
                  <a:pt x="2163192" y="-2681"/>
                  <a:pt x="2427969" y="0"/>
                </a:cubicBezTo>
                <a:cubicBezTo>
                  <a:pt x="2692746" y="2681"/>
                  <a:pt x="2710210" y="-9182"/>
                  <a:pt x="2823974" y="0"/>
                </a:cubicBezTo>
                <a:cubicBezTo>
                  <a:pt x="2937739" y="9182"/>
                  <a:pt x="3161324" y="19272"/>
                  <a:pt x="3473164" y="0"/>
                </a:cubicBezTo>
                <a:cubicBezTo>
                  <a:pt x="3785004" y="-19272"/>
                  <a:pt x="3710368" y="-3202"/>
                  <a:pt x="3869169" y="0"/>
                </a:cubicBezTo>
                <a:cubicBezTo>
                  <a:pt x="4027971" y="3202"/>
                  <a:pt x="4244984" y="22186"/>
                  <a:pt x="4349569" y="0"/>
                </a:cubicBezTo>
                <a:cubicBezTo>
                  <a:pt x="4454154" y="-22186"/>
                  <a:pt x="4676497" y="13214"/>
                  <a:pt x="4998759" y="0"/>
                </a:cubicBezTo>
                <a:cubicBezTo>
                  <a:pt x="5321021" y="-13214"/>
                  <a:pt x="5413333" y="-671"/>
                  <a:pt x="5816738" y="0"/>
                </a:cubicBezTo>
                <a:cubicBezTo>
                  <a:pt x="6220143" y="671"/>
                  <a:pt x="6206960" y="-28116"/>
                  <a:pt x="6465927" y="0"/>
                </a:cubicBezTo>
                <a:cubicBezTo>
                  <a:pt x="6724894" y="28116"/>
                  <a:pt x="6772691" y="16721"/>
                  <a:pt x="6861933" y="0"/>
                </a:cubicBezTo>
                <a:cubicBezTo>
                  <a:pt x="6951175" y="-16721"/>
                  <a:pt x="7151572" y="5580"/>
                  <a:pt x="7342333" y="0"/>
                </a:cubicBezTo>
                <a:cubicBezTo>
                  <a:pt x="7533094" y="-5580"/>
                  <a:pt x="8072398" y="36310"/>
                  <a:pt x="8439463" y="0"/>
                </a:cubicBezTo>
                <a:cubicBezTo>
                  <a:pt x="8456350" y="146426"/>
                  <a:pt x="8433828" y="306926"/>
                  <a:pt x="8439463" y="507969"/>
                </a:cubicBezTo>
                <a:cubicBezTo>
                  <a:pt x="8445098" y="709012"/>
                  <a:pt x="8434464" y="862485"/>
                  <a:pt x="8439463" y="1080785"/>
                </a:cubicBezTo>
                <a:cubicBezTo>
                  <a:pt x="8444462" y="1299085"/>
                  <a:pt x="8443615" y="1508794"/>
                  <a:pt x="8439463" y="1621178"/>
                </a:cubicBezTo>
                <a:cubicBezTo>
                  <a:pt x="8264310" y="1624073"/>
                  <a:pt x="8018808" y="1621654"/>
                  <a:pt x="7874668" y="1621178"/>
                </a:cubicBezTo>
                <a:cubicBezTo>
                  <a:pt x="7730529" y="1620702"/>
                  <a:pt x="7515978" y="1614374"/>
                  <a:pt x="7394268" y="1621178"/>
                </a:cubicBezTo>
                <a:cubicBezTo>
                  <a:pt x="7272558" y="1627982"/>
                  <a:pt x="6790224" y="1651321"/>
                  <a:pt x="6576289" y="1621178"/>
                </a:cubicBezTo>
                <a:cubicBezTo>
                  <a:pt x="6362354" y="1591035"/>
                  <a:pt x="6354156" y="1634325"/>
                  <a:pt x="6180284" y="1621178"/>
                </a:cubicBezTo>
                <a:cubicBezTo>
                  <a:pt x="6006412" y="1608031"/>
                  <a:pt x="5802385" y="1637849"/>
                  <a:pt x="5615489" y="1621178"/>
                </a:cubicBezTo>
                <a:cubicBezTo>
                  <a:pt x="5428594" y="1604507"/>
                  <a:pt x="5122972" y="1604242"/>
                  <a:pt x="4881905" y="1621178"/>
                </a:cubicBezTo>
                <a:cubicBezTo>
                  <a:pt x="4640838" y="1638114"/>
                  <a:pt x="4338720" y="1582756"/>
                  <a:pt x="4063926" y="1621178"/>
                </a:cubicBezTo>
                <a:cubicBezTo>
                  <a:pt x="3789132" y="1659600"/>
                  <a:pt x="3594710" y="1614020"/>
                  <a:pt x="3245947" y="1621178"/>
                </a:cubicBezTo>
                <a:cubicBezTo>
                  <a:pt x="2897184" y="1628336"/>
                  <a:pt x="2912595" y="1604688"/>
                  <a:pt x="2765547" y="1621178"/>
                </a:cubicBezTo>
                <a:cubicBezTo>
                  <a:pt x="2618499" y="1637668"/>
                  <a:pt x="2216223" y="1651014"/>
                  <a:pt x="2031963" y="1621178"/>
                </a:cubicBezTo>
                <a:cubicBezTo>
                  <a:pt x="1847703" y="1591342"/>
                  <a:pt x="1655186" y="1607385"/>
                  <a:pt x="1467168" y="1621178"/>
                </a:cubicBezTo>
                <a:cubicBezTo>
                  <a:pt x="1279151" y="1634971"/>
                  <a:pt x="1065432" y="1613048"/>
                  <a:pt x="817979" y="1621178"/>
                </a:cubicBezTo>
                <a:cubicBezTo>
                  <a:pt x="570526" y="1629308"/>
                  <a:pt x="284095" y="1628325"/>
                  <a:pt x="0" y="1621178"/>
                </a:cubicBezTo>
                <a:cubicBezTo>
                  <a:pt x="20595" y="1487565"/>
                  <a:pt x="17366" y="1294600"/>
                  <a:pt x="0" y="1048362"/>
                </a:cubicBezTo>
                <a:cubicBezTo>
                  <a:pt x="-17366" y="802124"/>
                  <a:pt x="-8521" y="694181"/>
                  <a:pt x="0" y="524181"/>
                </a:cubicBezTo>
                <a:cubicBezTo>
                  <a:pt x="8521" y="354181"/>
                  <a:pt x="-23117" y="213130"/>
                  <a:pt x="0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01143149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393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F17E2514-9FF2-DD45-4A4F-4EB26EE86476}"/>
              </a:ext>
            </a:extLst>
          </p:cNvPr>
          <p:cNvSpPr txBox="1"/>
          <p:nvPr/>
        </p:nvSpPr>
        <p:spPr>
          <a:xfrm>
            <a:off x="1170017" y="507600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/>
              <a:t>3.</a:t>
            </a:r>
            <a:r>
              <a:rPr kumimoji="1" lang="zh-CN" altLang="en-US" sz="3200" dirty="0"/>
              <a:t>向量检索性能优化</a:t>
            </a:r>
            <a:endParaRPr kumimoji="1" lang="en-US" altLang="zh-CN" sz="32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E46831-F3A2-8D92-BB2F-813A5F5FB293}"/>
              </a:ext>
            </a:extLst>
          </p:cNvPr>
          <p:cNvSpPr txBox="1"/>
          <p:nvPr/>
        </p:nvSpPr>
        <p:spPr>
          <a:xfrm>
            <a:off x="1504722" y="1239189"/>
            <a:ext cx="4468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3.2</a:t>
            </a:r>
            <a:r>
              <a:rPr kumimoji="1" lang="zh-CN" altLang="en-US" sz="2400" dirty="0"/>
              <a:t> </a:t>
            </a:r>
            <a:r>
              <a:rPr lang="en" altLang="zh-CN" sz="2400" dirty="0">
                <a:solidFill>
                  <a:srgbClr val="0D1239"/>
                </a:solidFill>
                <a:effectLst/>
              </a:rPr>
              <a:t>I</a:t>
            </a:r>
            <a:r>
              <a:rPr lang="en" altLang="zh-CN" sz="2400" dirty="0">
                <a:effectLst/>
              </a:rPr>
              <a:t>VF-PQ </a:t>
            </a:r>
            <a:r>
              <a:rPr lang="zh-CN" altLang="en-US" sz="2400" dirty="0">
                <a:effectLst/>
              </a:rPr>
              <a:t>检索精度增强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8032AB2-A71D-B161-1FB4-49971B86A315}"/>
              </a:ext>
            </a:extLst>
          </p:cNvPr>
          <p:cNvSpPr txBox="1"/>
          <p:nvPr/>
        </p:nvSpPr>
        <p:spPr>
          <a:xfrm>
            <a:off x="1627735" y="1847668"/>
            <a:ext cx="7636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/>
              <a:t>3.1.4</a:t>
            </a:r>
            <a:r>
              <a:rPr kumimoji="1" lang="zh-CN" altLang="en-US" sz="2000" dirty="0"/>
              <a:t> 实验结果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4E74636-5F03-C1D9-2D8A-31B297F64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834" y="3548522"/>
            <a:ext cx="9771170" cy="274278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F133981-456F-B4C3-BFAE-07004DECE5B5}"/>
              </a:ext>
            </a:extLst>
          </p:cNvPr>
          <p:cNvSpPr txBox="1"/>
          <p:nvPr/>
        </p:nvSpPr>
        <p:spPr>
          <a:xfrm>
            <a:off x="1663910" y="2456147"/>
            <a:ext cx="9579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精排能提升</a:t>
            </a:r>
            <a:r>
              <a:rPr lang="en-US" altLang="zh-CN" dirty="0">
                <a:effectLst/>
              </a:rPr>
              <a:t>20</a:t>
            </a:r>
            <a:r>
              <a:rPr lang="zh-CN" altLang="en-US" dirty="0">
                <a:effectLst/>
              </a:rPr>
              <a:t>到</a:t>
            </a:r>
            <a:r>
              <a:rPr lang="en-US" altLang="zh-CN" dirty="0">
                <a:effectLst/>
              </a:rPr>
              <a:t>40</a:t>
            </a:r>
            <a:r>
              <a:rPr lang="zh-CN" altLang="en-US" dirty="0">
                <a:effectLst/>
              </a:rPr>
              <a:t>个百分点的召回率，但代价是</a:t>
            </a:r>
            <a:r>
              <a:rPr lang="en" altLang="zh-CN" dirty="0">
                <a:effectLst/>
              </a:rPr>
              <a:t>QPS</a:t>
            </a:r>
            <a:r>
              <a:rPr lang="zh-CN" altLang="en-US" dirty="0">
                <a:effectLst/>
              </a:rPr>
              <a:t>显著下降（最高下降约</a:t>
            </a:r>
            <a:r>
              <a:rPr lang="en-US" altLang="zh-CN" dirty="0">
                <a:effectLst/>
              </a:rPr>
              <a:t>70%</a:t>
            </a:r>
            <a:r>
              <a:rPr lang="zh-CN" altLang="en-US" dirty="0">
                <a:effectLst/>
              </a:rPr>
              <a:t>，</a:t>
            </a:r>
            <a:r>
              <a:rPr lang="en-US" altLang="zh-CN" dirty="0">
                <a:effectLst/>
              </a:rPr>
              <a:t>scale=4</a:t>
            </a:r>
            <a:r>
              <a:rPr lang="zh-CN" altLang="en-US" dirty="0">
                <a:effectLst/>
              </a:rPr>
              <a:t>），因为粗排阶段需要维护更大的候选堆、精排阶段需要额外访问主表以及进行暴力距离计算。</a:t>
            </a:r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97799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F17E2514-9FF2-DD45-4A4F-4EB26EE86476}"/>
              </a:ext>
            </a:extLst>
          </p:cNvPr>
          <p:cNvSpPr txBox="1"/>
          <p:nvPr/>
        </p:nvSpPr>
        <p:spPr>
          <a:xfrm>
            <a:off x="1170017" y="507600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/>
              <a:t>3.</a:t>
            </a:r>
            <a:r>
              <a:rPr kumimoji="1" lang="zh-CN" altLang="en-US" sz="3200" dirty="0"/>
              <a:t>向量检索性能优化</a:t>
            </a:r>
            <a:endParaRPr kumimoji="1" lang="en-US" altLang="zh-CN" sz="32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E46831-F3A2-8D92-BB2F-813A5F5FB293}"/>
              </a:ext>
            </a:extLst>
          </p:cNvPr>
          <p:cNvSpPr txBox="1"/>
          <p:nvPr/>
        </p:nvSpPr>
        <p:spPr>
          <a:xfrm>
            <a:off x="1504722" y="1239189"/>
            <a:ext cx="4468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3.2</a:t>
            </a:r>
            <a:r>
              <a:rPr kumimoji="1" lang="zh-CN" altLang="en-US" sz="2400" dirty="0"/>
              <a:t> </a:t>
            </a:r>
            <a:r>
              <a:rPr lang="en" altLang="zh-CN" sz="2400" dirty="0">
                <a:solidFill>
                  <a:srgbClr val="0D1239"/>
                </a:solidFill>
                <a:effectLst/>
              </a:rPr>
              <a:t>I</a:t>
            </a:r>
            <a:r>
              <a:rPr lang="en" altLang="zh-CN" sz="2400" dirty="0">
                <a:effectLst/>
              </a:rPr>
              <a:t>VF-PQ </a:t>
            </a:r>
            <a:r>
              <a:rPr lang="zh-CN" altLang="en-US" sz="2400" dirty="0">
                <a:effectLst/>
              </a:rPr>
              <a:t>检索精度增强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8032AB2-A71D-B161-1FB4-49971B86A315}"/>
              </a:ext>
            </a:extLst>
          </p:cNvPr>
          <p:cNvSpPr txBox="1"/>
          <p:nvPr/>
        </p:nvSpPr>
        <p:spPr>
          <a:xfrm>
            <a:off x="1627735" y="1847668"/>
            <a:ext cx="7636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/>
              <a:t>3.1.4</a:t>
            </a:r>
            <a:r>
              <a:rPr kumimoji="1" lang="zh-CN" altLang="en-US" sz="2000" dirty="0"/>
              <a:t> 实验结果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133981-456F-B4C3-BFAE-07004DECE5B5}"/>
              </a:ext>
            </a:extLst>
          </p:cNvPr>
          <p:cNvSpPr txBox="1"/>
          <p:nvPr/>
        </p:nvSpPr>
        <p:spPr>
          <a:xfrm>
            <a:off x="1663910" y="2456147"/>
            <a:ext cx="9579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开启精排虽然会拉低</a:t>
            </a:r>
            <a:r>
              <a:rPr lang="en" altLang="zh-CN" dirty="0">
                <a:effectLst/>
              </a:rPr>
              <a:t>QPS</a:t>
            </a:r>
            <a:r>
              <a:rPr lang="zh-CN" altLang="en" dirty="0">
                <a:effectLst/>
              </a:rPr>
              <a:t>，</a:t>
            </a:r>
            <a:r>
              <a:rPr lang="zh-CN" altLang="en-US" dirty="0">
                <a:effectLst/>
              </a:rPr>
              <a:t>但仍能使</a:t>
            </a:r>
            <a:r>
              <a:rPr lang="en" altLang="zh-CN" dirty="0">
                <a:effectLst/>
              </a:rPr>
              <a:t>IVF-PQ</a:t>
            </a:r>
            <a:r>
              <a:rPr lang="zh-CN" altLang="en-US" dirty="0">
                <a:effectLst/>
              </a:rPr>
              <a:t>大体上以明显优于</a:t>
            </a:r>
            <a:r>
              <a:rPr lang="en" altLang="zh-CN" dirty="0">
                <a:effectLst/>
              </a:rPr>
              <a:t>IVF-Flat</a:t>
            </a:r>
            <a:r>
              <a:rPr lang="zh-CN" altLang="en-US" dirty="0">
                <a:effectLst/>
              </a:rPr>
              <a:t>的</a:t>
            </a:r>
            <a:r>
              <a:rPr lang="en" altLang="zh-CN" dirty="0">
                <a:effectLst/>
              </a:rPr>
              <a:t>QPS</a:t>
            </a:r>
            <a:r>
              <a:rPr lang="zh-CN" altLang="en" dirty="0">
                <a:effectLst/>
              </a:rPr>
              <a:t>，</a:t>
            </a:r>
            <a:r>
              <a:rPr lang="zh-CN" altLang="en-US" dirty="0">
                <a:effectLst/>
              </a:rPr>
              <a:t>取得与之相近的召回率（</a:t>
            </a:r>
            <a:r>
              <a:rPr lang="en" altLang="zh-CN" dirty="0">
                <a:effectLst/>
              </a:rPr>
              <a:t>e.g.</a:t>
            </a:r>
            <a:r>
              <a:rPr lang="zh-CN" altLang="en" dirty="0">
                <a:effectLst/>
              </a:rPr>
              <a:t>，</a:t>
            </a:r>
            <a:r>
              <a:rPr lang="zh-CN" altLang="en-US" dirty="0">
                <a:effectLst/>
              </a:rPr>
              <a:t>在</a:t>
            </a:r>
            <a:r>
              <a:rPr lang="en" altLang="zh-CN" dirty="0">
                <a:effectLst/>
              </a:rPr>
              <a:t>refine k=4</a:t>
            </a:r>
            <a:r>
              <a:rPr lang="zh-CN" altLang="en-US" dirty="0">
                <a:effectLst/>
              </a:rPr>
              <a:t>的设置下）。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4513BF-587E-6614-C9F8-16E525081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722" y="3755523"/>
            <a:ext cx="9738362" cy="259759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882C156-BABF-BD0A-0964-EB081E5424E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2453"/>
          <a:stretch/>
        </p:blipFill>
        <p:spPr>
          <a:xfrm>
            <a:off x="1591834" y="3548522"/>
            <a:ext cx="9771170" cy="20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31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5737</TotalTime>
  <Words>2394</Words>
  <Application>Microsoft Macintosh PowerPoint</Application>
  <PresentationFormat>宽屏</PresentationFormat>
  <Paragraphs>389</Paragraphs>
  <Slides>24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-apple-system</vt:lpstr>
      <vt:lpstr>等线</vt:lpstr>
      <vt:lpstr>等线 Light</vt:lpstr>
      <vt:lpstr>PingFang SC</vt:lpstr>
      <vt:lpstr>quote-cjk-patch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Alicia</dc:creator>
  <cp:lastModifiedBy>Alicia</cp:lastModifiedBy>
  <cp:revision>220</cp:revision>
  <dcterms:created xsi:type="dcterms:W3CDTF">2026-07-05T12:41:22Z</dcterms:created>
  <dcterms:modified xsi:type="dcterms:W3CDTF">2026-07-10T02:53:55Z</dcterms:modified>
</cp:coreProperties>
</file>